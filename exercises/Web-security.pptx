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256" r:id="rId2"/>
    <p:sldId id="257" r:id="rId3"/>
    <p:sldId id="258" r:id="rId4"/>
    <p:sldId id="259" r:id="rId5"/>
    <p:sldId id="260" r:id="rId6"/>
    <p:sldId id="261" r:id="rId7"/>
    <p:sldId id="263" r:id="rId8"/>
    <p:sldId id="262" r:id="rId9"/>
    <p:sldId id="265" r:id="rId10"/>
    <p:sldId id="271" r:id="rId11"/>
    <p:sldId id="267" r:id="rId12"/>
    <p:sldId id="266" r:id="rId13"/>
    <p:sldId id="268" r:id="rId14"/>
    <p:sldId id="269" r:id="rId15"/>
    <p:sldId id="272" r:id="rId16"/>
    <p:sldId id="273" r:id="rId17"/>
    <p:sldId id="270" r:id="rId18"/>
    <p:sldId id="275" r:id="rId19"/>
    <p:sldId id="276" r:id="rId20"/>
    <p:sldId id="277" r:id="rId21"/>
    <p:sldId id="310" r:id="rId22"/>
    <p:sldId id="312" r:id="rId23"/>
    <p:sldId id="278" r:id="rId24"/>
    <p:sldId id="279" r:id="rId25"/>
    <p:sldId id="280" r:id="rId26"/>
    <p:sldId id="284" r:id="rId27"/>
    <p:sldId id="285" r:id="rId28"/>
    <p:sldId id="281" r:id="rId29"/>
    <p:sldId id="311" r:id="rId30"/>
    <p:sldId id="307" r:id="rId31"/>
    <p:sldId id="282" r:id="rId32"/>
    <p:sldId id="313" r:id="rId33"/>
    <p:sldId id="314" r:id="rId34"/>
    <p:sldId id="286" r:id="rId35"/>
    <p:sldId id="315" r:id="rId36"/>
    <p:sldId id="287" r:id="rId37"/>
    <p:sldId id="288" r:id="rId38"/>
    <p:sldId id="289" r:id="rId39"/>
    <p:sldId id="290" r:id="rId40"/>
    <p:sldId id="293" r:id="rId41"/>
    <p:sldId id="291" r:id="rId42"/>
    <p:sldId id="292" r:id="rId43"/>
    <p:sldId id="294" r:id="rId44"/>
    <p:sldId id="295" r:id="rId45"/>
    <p:sldId id="296" r:id="rId46"/>
    <p:sldId id="297" r:id="rId47"/>
    <p:sldId id="300" r:id="rId48"/>
    <p:sldId id="299" r:id="rId49"/>
    <p:sldId id="298" r:id="rId50"/>
    <p:sldId id="301" r:id="rId51"/>
    <p:sldId id="302" r:id="rId52"/>
    <p:sldId id="303" r:id="rId53"/>
    <p:sldId id="304" r:id="rId54"/>
    <p:sldId id="305" r:id="rId55"/>
    <p:sldId id="306" r:id="rId56"/>
    <p:sldId id="308" r:id="rId57"/>
    <p:sldId id="309"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0" autoAdjust="0"/>
    <p:restoredTop sz="84037" autoAdjust="0"/>
  </p:normalViewPr>
  <p:slideViewPr>
    <p:cSldViewPr snapToGrid="0">
      <p:cViewPr varScale="1">
        <p:scale>
          <a:sx n="134" d="100"/>
          <a:sy n="134" d="100"/>
        </p:scale>
        <p:origin x="3474" y="11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ata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3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A58156-7600-42A2-98DE-664AF58CF825}" type="doc">
      <dgm:prSet loTypeId="urn:microsoft.com/office/officeart/2018/2/layout/IconVerticalSolidList" loCatId="icon" qsTypeId="urn:microsoft.com/office/officeart/2005/8/quickstyle/simple1#1" qsCatId="simple" csTypeId="urn:microsoft.com/office/officeart/2005/8/colors/accent1_2#1" csCatId="accent1" phldr="1"/>
      <dgm:spPr/>
      <dgm:t>
        <a:bodyPr/>
        <a:lstStyle/>
        <a:p>
          <a:endParaRPr lang="en-US"/>
        </a:p>
      </dgm:t>
    </dgm:pt>
    <dgm:pt modelId="{8522DA34-C183-41B4-9A5C-93D5DBCFFA22}">
      <dgm:prSet/>
      <dgm:spPr/>
      <dgm:t>
        <a:bodyPr/>
        <a:lstStyle/>
        <a:p>
          <a:pPr>
            <a:lnSpc>
              <a:spcPct val="100000"/>
            </a:lnSpc>
          </a:pPr>
          <a:r>
            <a:rPr lang="fr-FR" b="1"/>
            <a:t>Détournement de site </a:t>
          </a:r>
          <a:r>
            <a:rPr lang="fr-FR"/>
            <a:t>: redirection fauduleuse, defacement</a:t>
          </a:r>
          <a:endParaRPr lang="en-US"/>
        </a:p>
      </dgm:t>
    </dgm:pt>
    <dgm:pt modelId="{5F320333-868B-44AB-8645-2A986BCCCD95}" type="parTrans" cxnId="{54FCA369-19CF-4C28-9B7E-B2C8F32B3BAB}">
      <dgm:prSet/>
      <dgm:spPr/>
      <dgm:t>
        <a:bodyPr/>
        <a:lstStyle/>
        <a:p>
          <a:endParaRPr lang="en-US"/>
        </a:p>
      </dgm:t>
    </dgm:pt>
    <dgm:pt modelId="{CA1D7DB2-9580-4BC7-B6E8-EFE673C63D3B}" type="sibTrans" cxnId="{54FCA369-19CF-4C28-9B7E-B2C8F32B3BAB}">
      <dgm:prSet/>
      <dgm:spPr/>
      <dgm:t>
        <a:bodyPr/>
        <a:lstStyle/>
        <a:p>
          <a:endParaRPr lang="en-US"/>
        </a:p>
      </dgm:t>
    </dgm:pt>
    <dgm:pt modelId="{A6D54BF2-BE1E-48AF-BA02-750DA431E933}">
      <dgm:prSet/>
      <dgm:spPr/>
      <dgm:t>
        <a:bodyPr/>
        <a:lstStyle/>
        <a:p>
          <a:pPr>
            <a:lnSpc>
              <a:spcPct val="100000"/>
            </a:lnSpc>
          </a:pPr>
          <a:r>
            <a:rPr lang="fr-FR" b="1"/>
            <a:t>Publication de données confidentielles </a:t>
          </a:r>
          <a:r>
            <a:rPr lang="fr-FR"/>
            <a:t>: fuite de base (identifiants, emails, IBAN)</a:t>
          </a:r>
          <a:endParaRPr lang="en-US"/>
        </a:p>
      </dgm:t>
    </dgm:pt>
    <dgm:pt modelId="{32B0B0BC-8E81-483B-80FC-A79AAB4EA9AF}" type="parTrans" cxnId="{7C1B0EF7-DEA7-41E7-97D7-2DFD88D7A5F1}">
      <dgm:prSet/>
      <dgm:spPr/>
      <dgm:t>
        <a:bodyPr/>
        <a:lstStyle/>
        <a:p>
          <a:endParaRPr lang="en-US"/>
        </a:p>
      </dgm:t>
    </dgm:pt>
    <dgm:pt modelId="{F73249D4-998E-4474-9A4B-46311409F9EE}" type="sibTrans" cxnId="{7C1B0EF7-DEA7-41E7-97D7-2DFD88D7A5F1}">
      <dgm:prSet/>
      <dgm:spPr/>
      <dgm:t>
        <a:bodyPr/>
        <a:lstStyle/>
        <a:p>
          <a:endParaRPr lang="en-US"/>
        </a:p>
      </dgm:t>
    </dgm:pt>
    <dgm:pt modelId="{7251F69D-2195-47CA-A7C7-E10854EDCDFD}">
      <dgm:prSet/>
      <dgm:spPr/>
      <dgm:t>
        <a:bodyPr/>
        <a:lstStyle/>
        <a:p>
          <a:pPr>
            <a:lnSpc>
              <a:spcPct val="100000"/>
            </a:lnSpc>
          </a:pPr>
          <a:r>
            <a:rPr lang="fr-FR" b="1"/>
            <a:t>Abus de ressources </a:t>
          </a:r>
          <a:r>
            <a:rPr lang="fr-FR"/>
            <a:t>: cryptomining ou spam via serveur compromis</a:t>
          </a:r>
          <a:endParaRPr lang="en-US"/>
        </a:p>
      </dgm:t>
    </dgm:pt>
    <dgm:pt modelId="{CECD0358-BE16-41FC-8F1C-003E01F4DCB0}" type="parTrans" cxnId="{B04EFE66-6C61-48A1-A6EB-46FF5E20F3C1}">
      <dgm:prSet/>
      <dgm:spPr/>
      <dgm:t>
        <a:bodyPr/>
        <a:lstStyle/>
        <a:p>
          <a:endParaRPr lang="en-US"/>
        </a:p>
      </dgm:t>
    </dgm:pt>
    <dgm:pt modelId="{8DB17CEB-2AB6-4BF3-8CAB-54CCDE36A7D1}" type="sibTrans" cxnId="{B04EFE66-6C61-48A1-A6EB-46FF5E20F3C1}">
      <dgm:prSet/>
      <dgm:spPr/>
      <dgm:t>
        <a:bodyPr/>
        <a:lstStyle/>
        <a:p>
          <a:endParaRPr lang="en-US"/>
        </a:p>
      </dgm:t>
    </dgm:pt>
    <dgm:pt modelId="{BBFD625C-F542-4B4B-A688-0B3670F15F36}">
      <dgm:prSet/>
      <dgm:spPr/>
      <dgm:t>
        <a:bodyPr/>
        <a:lstStyle/>
        <a:p>
          <a:pPr>
            <a:lnSpc>
              <a:spcPct val="100000"/>
            </a:lnSpc>
          </a:pPr>
          <a:r>
            <a:rPr lang="fr-FR" b="1"/>
            <a:t>Vol d'identité : </a:t>
          </a:r>
          <a:r>
            <a:rPr lang="fr-FR"/>
            <a:t>usurpation de compte, session volée</a:t>
          </a:r>
          <a:endParaRPr lang="en-US"/>
        </a:p>
      </dgm:t>
    </dgm:pt>
    <dgm:pt modelId="{1883253F-2434-4A67-BBB7-29C6437FC5C8}" type="parTrans" cxnId="{44EA5552-9D80-4E9C-B6A2-0035F8C9F077}">
      <dgm:prSet/>
      <dgm:spPr/>
      <dgm:t>
        <a:bodyPr/>
        <a:lstStyle/>
        <a:p>
          <a:endParaRPr lang="en-US"/>
        </a:p>
      </dgm:t>
    </dgm:pt>
    <dgm:pt modelId="{54BA4158-B60B-4FED-B41D-D86F4FC3BECA}" type="sibTrans" cxnId="{44EA5552-9D80-4E9C-B6A2-0035F8C9F077}">
      <dgm:prSet/>
      <dgm:spPr/>
      <dgm:t>
        <a:bodyPr/>
        <a:lstStyle/>
        <a:p>
          <a:endParaRPr lang="en-US"/>
        </a:p>
      </dgm:t>
    </dgm:pt>
    <dgm:pt modelId="{B3671E00-0917-48F7-B452-E2A9FD416630}" type="pres">
      <dgm:prSet presAssocID="{EAA58156-7600-42A2-98DE-664AF58CF825}" presName="root" presStyleCnt="0">
        <dgm:presLayoutVars>
          <dgm:dir/>
          <dgm:resizeHandles val="exact"/>
        </dgm:presLayoutVars>
      </dgm:prSet>
      <dgm:spPr/>
    </dgm:pt>
    <dgm:pt modelId="{E923FFBA-9673-4224-B65D-170AFAB9C4B4}" type="pres">
      <dgm:prSet presAssocID="{8522DA34-C183-41B4-9A5C-93D5DBCFFA22}" presName="compNode" presStyleCnt="0"/>
      <dgm:spPr/>
    </dgm:pt>
    <dgm:pt modelId="{D8E41042-AA7B-410D-A045-E4E9B078DB65}" type="pres">
      <dgm:prSet presAssocID="{8522DA34-C183-41B4-9A5C-93D5DBCFFA22}" presName="bgRect" presStyleLbl="bgShp" presStyleIdx="0" presStyleCnt="4"/>
      <dgm:spPr/>
    </dgm:pt>
    <dgm:pt modelId="{D6DC6E7B-C426-4FD8-8695-FCB6AD6F5765}" type="pres">
      <dgm:prSet presAssocID="{8522DA34-C183-41B4-9A5C-93D5DBCFFA2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Exclamation Mark"/>
        </a:ext>
      </dgm:extLst>
    </dgm:pt>
    <dgm:pt modelId="{DAECD7C0-1AF5-4709-ACC6-ACE5F5BF9ADE}" type="pres">
      <dgm:prSet presAssocID="{8522DA34-C183-41B4-9A5C-93D5DBCFFA22}" presName="spaceRect" presStyleCnt="0"/>
      <dgm:spPr/>
    </dgm:pt>
    <dgm:pt modelId="{4FB1C6DA-D17D-4D3F-A011-79130AFA0D71}" type="pres">
      <dgm:prSet presAssocID="{8522DA34-C183-41B4-9A5C-93D5DBCFFA22}" presName="parTx" presStyleLbl="revTx" presStyleIdx="0" presStyleCnt="4">
        <dgm:presLayoutVars>
          <dgm:chMax val="0"/>
          <dgm:chPref val="0"/>
        </dgm:presLayoutVars>
      </dgm:prSet>
      <dgm:spPr/>
    </dgm:pt>
    <dgm:pt modelId="{01199BA8-CCAB-450B-8257-E9E7338CFA83}" type="pres">
      <dgm:prSet presAssocID="{CA1D7DB2-9580-4BC7-B6E8-EFE673C63D3B}" presName="sibTrans" presStyleCnt="0"/>
      <dgm:spPr/>
    </dgm:pt>
    <dgm:pt modelId="{ACDC9044-FA07-4BEE-83B3-32E1E01AEB34}" type="pres">
      <dgm:prSet presAssocID="{A6D54BF2-BE1E-48AF-BA02-750DA431E933}" presName="compNode" presStyleCnt="0"/>
      <dgm:spPr/>
    </dgm:pt>
    <dgm:pt modelId="{FAA7EC47-835D-421E-944D-863824A2DAB5}" type="pres">
      <dgm:prSet presAssocID="{A6D54BF2-BE1E-48AF-BA02-750DA431E933}" presName="bgRect" presStyleLbl="bgShp" presStyleIdx="1" presStyleCnt="4"/>
      <dgm:spPr/>
    </dgm:pt>
    <dgm:pt modelId="{EE324571-FF74-47C4-8696-0D990EB1CE1E}" type="pres">
      <dgm:prSet presAssocID="{A6D54BF2-BE1E-48AF-BA02-750DA431E93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nveloppe"/>
        </a:ext>
      </dgm:extLst>
    </dgm:pt>
    <dgm:pt modelId="{6BD88E29-6848-4200-8AF9-F49FA6023553}" type="pres">
      <dgm:prSet presAssocID="{A6D54BF2-BE1E-48AF-BA02-750DA431E933}" presName="spaceRect" presStyleCnt="0"/>
      <dgm:spPr/>
    </dgm:pt>
    <dgm:pt modelId="{289FFE60-0B67-4853-8A54-2CDB7469F1DD}" type="pres">
      <dgm:prSet presAssocID="{A6D54BF2-BE1E-48AF-BA02-750DA431E933}" presName="parTx" presStyleLbl="revTx" presStyleIdx="1" presStyleCnt="4">
        <dgm:presLayoutVars>
          <dgm:chMax val="0"/>
          <dgm:chPref val="0"/>
        </dgm:presLayoutVars>
      </dgm:prSet>
      <dgm:spPr/>
    </dgm:pt>
    <dgm:pt modelId="{FE600B14-8374-4E30-B98E-4FF3FB2E54C3}" type="pres">
      <dgm:prSet presAssocID="{F73249D4-998E-4474-9A4B-46311409F9EE}" presName="sibTrans" presStyleCnt="0"/>
      <dgm:spPr/>
    </dgm:pt>
    <dgm:pt modelId="{E84D1256-4825-4303-99B9-7B1AF8A5EEAD}" type="pres">
      <dgm:prSet presAssocID="{7251F69D-2195-47CA-A7C7-E10854EDCDFD}" presName="compNode" presStyleCnt="0"/>
      <dgm:spPr/>
    </dgm:pt>
    <dgm:pt modelId="{0009EC05-4B9B-4DFB-87C4-A86E24975C99}" type="pres">
      <dgm:prSet presAssocID="{7251F69D-2195-47CA-A7C7-E10854EDCDFD}" presName="bgRect" presStyleLbl="bgShp" presStyleIdx="2" presStyleCnt="4"/>
      <dgm:spPr/>
    </dgm:pt>
    <dgm:pt modelId="{0B716E62-7D99-4A48-9016-D312679C3B7F}" type="pres">
      <dgm:prSet presAssocID="{7251F69D-2195-47CA-A7C7-E10854EDCDF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No sign"/>
        </a:ext>
      </dgm:extLst>
    </dgm:pt>
    <dgm:pt modelId="{75A8E26A-0CB7-4225-8BED-FC7F578FF584}" type="pres">
      <dgm:prSet presAssocID="{7251F69D-2195-47CA-A7C7-E10854EDCDFD}" presName="spaceRect" presStyleCnt="0"/>
      <dgm:spPr/>
    </dgm:pt>
    <dgm:pt modelId="{08BDC9C4-22E0-4125-BCF9-702A061F970A}" type="pres">
      <dgm:prSet presAssocID="{7251F69D-2195-47CA-A7C7-E10854EDCDFD}" presName="parTx" presStyleLbl="revTx" presStyleIdx="2" presStyleCnt="4">
        <dgm:presLayoutVars>
          <dgm:chMax val="0"/>
          <dgm:chPref val="0"/>
        </dgm:presLayoutVars>
      </dgm:prSet>
      <dgm:spPr/>
    </dgm:pt>
    <dgm:pt modelId="{FB25C993-611E-4A3F-A79A-6E7F0D84DE9D}" type="pres">
      <dgm:prSet presAssocID="{8DB17CEB-2AB6-4BF3-8CAB-54CCDE36A7D1}" presName="sibTrans" presStyleCnt="0"/>
      <dgm:spPr/>
    </dgm:pt>
    <dgm:pt modelId="{D2FE27F0-ADC5-4013-AA2D-AFE77397924F}" type="pres">
      <dgm:prSet presAssocID="{BBFD625C-F542-4B4B-A688-0B3670F15F36}" presName="compNode" presStyleCnt="0"/>
      <dgm:spPr/>
    </dgm:pt>
    <dgm:pt modelId="{64535F6B-CA59-412C-B8C7-325428D4622B}" type="pres">
      <dgm:prSet presAssocID="{BBFD625C-F542-4B4B-A688-0B3670F15F36}" presName="bgRect" presStyleLbl="bgShp" presStyleIdx="3" presStyleCnt="4"/>
      <dgm:spPr/>
    </dgm:pt>
    <dgm:pt modelId="{52FCC473-1BDF-4315-8E00-D2314E38636B}" type="pres">
      <dgm:prSet presAssocID="{BBFD625C-F542-4B4B-A688-0B3670F15F3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ilote"/>
        </a:ext>
      </dgm:extLst>
    </dgm:pt>
    <dgm:pt modelId="{319CDA87-0177-4078-AE39-D5B4E8E5EB5B}" type="pres">
      <dgm:prSet presAssocID="{BBFD625C-F542-4B4B-A688-0B3670F15F36}" presName="spaceRect" presStyleCnt="0"/>
      <dgm:spPr/>
    </dgm:pt>
    <dgm:pt modelId="{01CE9BEC-94B1-434B-807B-0DF9AF17E3DB}" type="pres">
      <dgm:prSet presAssocID="{BBFD625C-F542-4B4B-A688-0B3670F15F36}" presName="parTx" presStyleLbl="revTx" presStyleIdx="3" presStyleCnt="4">
        <dgm:presLayoutVars>
          <dgm:chMax val="0"/>
          <dgm:chPref val="0"/>
        </dgm:presLayoutVars>
      </dgm:prSet>
      <dgm:spPr/>
    </dgm:pt>
  </dgm:ptLst>
  <dgm:cxnLst>
    <dgm:cxn modelId="{393E280A-22DD-4ED1-8084-C351EA0638C6}" type="presOf" srcId="{BBFD625C-F542-4B4B-A688-0B3670F15F36}" destId="{01CE9BEC-94B1-434B-807B-0DF9AF17E3DB}" srcOrd="0" destOrd="0" presId="urn:microsoft.com/office/officeart/2018/2/layout/IconVerticalSolidList"/>
    <dgm:cxn modelId="{B04EFE66-6C61-48A1-A6EB-46FF5E20F3C1}" srcId="{EAA58156-7600-42A2-98DE-664AF58CF825}" destId="{7251F69D-2195-47CA-A7C7-E10854EDCDFD}" srcOrd="2" destOrd="0" parTransId="{CECD0358-BE16-41FC-8F1C-003E01F4DCB0}" sibTransId="{8DB17CEB-2AB6-4BF3-8CAB-54CCDE36A7D1}"/>
    <dgm:cxn modelId="{54FCA369-19CF-4C28-9B7E-B2C8F32B3BAB}" srcId="{EAA58156-7600-42A2-98DE-664AF58CF825}" destId="{8522DA34-C183-41B4-9A5C-93D5DBCFFA22}" srcOrd="0" destOrd="0" parTransId="{5F320333-868B-44AB-8645-2A986BCCCD95}" sibTransId="{CA1D7DB2-9580-4BC7-B6E8-EFE673C63D3B}"/>
    <dgm:cxn modelId="{44EA5552-9D80-4E9C-B6A2-0035F8C9F077}" srcId="{EAA58156-7600-42A2-98DE-664AF58CF825}" destId="{BBFD625C-F542-4B4B-A688-0B3670F15F36}" srcOrd="3" destOrd="0" parTransId="{1883253F-2434-4A67-BBB7-29C6437FC5C8}" sibTransId="{54BA4158-B60B-4FED-B41D-D86F4FC3BECA}"/>
    <dgm:cxn modelId="{CF916A82-75CA-4BEF-A4E5-110C6A967ABF}" type="presOf" srcId="{A6D54BF2-BE1E-48AF-BA02-750DA431E933}" destId="{289FFE60-0B67-4853-8A54-2CDB7469F1DD}" srcOrd="0" destOrd="0" presId="urn:microsoft.com/office/officeart/2018/2/layout/IconVerticalSolidList"/>
    <dgm:cxn modelId="{3A4AC38A-F10A-4F15-9CEF-FD04B6293A5E}" type="presOf" srcId="{7251F69D-2195-47CA-A7C7-E10854EDCDFD}" destId="{08BDC9C4-22E0-4125-BCF9-702A061F970A}" srcOrd="0" destOrd="0" presId="urn:microsoft.com/office/officeart/2018/2/layout/IconVerticalSolidList"/>
    <dgm:cxn modelId="{93FDAA96-33B8-4E20-ACFE-70979D9F8B40}" type="presOf" srcId="{EAA58156-7600-42A2-98DE-664AF58CF825}" destId="{B3671E00-0917-48F7-B452-E2A9FD416630}" srcOrd="0" destOrd="0" presId="urn:microsoft.com/office/officeart/2018/2/layout/IconVerticalSolidList"/>
    <dgm:cxn modelId="{ACE6ADC8-0DBE-4A3A-972C-1580165917B2}" type="presOf" srcId="{8522DA34-C183-41B4-9A5C-93D5DBCFFA22}" destId="{4FB1C6DA-D17D-4D3F-A011-79130AFA0D71}" srcOrd="0" destOrd="0" presId="urn:microsoft.com/office/officeart/2018/2/layout/IconVerticalSolidList"/>
    <dgm:cxn modelId="{7C1B0EF7-DEA7-41E7-97D7-2DFD88D7A5F1}" srcId="{EAA58156-7600-42A2-98DE-664AF58CF825}" destId="{A6D54BF2-BE1E-48AF-BA02-750DA431E933}" srcOrd="1" destOrd="0" parTransId="{32B0B0BC-8E81-483B-80FC-A79AAB4EA9AF}" sibTransId="{F73249D4-998E-4474-9A4B-46311409F9EE}"/>
    <dgm:cxn modelId="{711FF878-F8B0-47C7-8053-AC5148F12704}" type="presParOf" srcId="{B3671E00-0917-48F7-B452-E2A9FD416630}" destId="{E923FFBA-9673-4224-B65D-170AFAB9C4B4}" srcOrd="0" destOrd="0" presId="urn:microsoft.com/office/officeart/2018/2/layout/IconVerticalSolidList"/>
    <dgm:cxn modelId="{8AA9C52A-4043-4A86-BC57-8C4066F4B5D4}" type="presParOf" srcId="{E923FFBA-9673-4224-B65D-170AFAB9C4B4}" destId="{D8E41042-AA7B-410D-A045-E4E9B078DB65}" srcOrd="0" destOrd="0" presId="urn:microsoft.com/office/officeart/2018/2/layout/IconVerticalSolidList"/>
    <dgm:cxn modelId="{E833427D-787D-4032-AC51-A0412872790C}" type="presParOf" srcId="{E923FFBA-9673-4224-B65D-170AFAB9C4B4}" destId="{D6DC6E7B-C426-4FD8-8695-FCB6AD6F5765}" srcOrd="1" destOrd="0" presId="urn:microsoft.com/office/officeart/2018/2/layout/IconVerticalSolidList"/>
    <dgm:cxn modelId="{7B0A8146-B7EB-4A22-9E6D-DB1F1755B3A6}" type="presParOf" srcId="{E923FFBA-9673-4224-B65D-170AFAB9C4B4}" destId="{DAECD7C0-1AF5-4709-ACC6-ACE5F5BF9ADE}" srcOrd="2" destOrd="0" presId="urn:microsoft.com/office/officeart/2018/2/layout/IconVerticalSolidList"/>
    <dgm:cxn modelId="{749A460C-8109-4598-93DE-8A0F6E9FB575}" type="presParOf" srcId="{E923FFBA-9673-4224-B65D-170AFAB9C4B4}" destId="{4FB1C6DA-D17D-4D3F-A011-79130AFA0D71}" srcOrd="3" destOrd="0" presId="urn:microsoft.com/office/officeart/2018/2/layout/IconVerticalSolidList"/>
    <dgm:cxn modelId="{C84FAE4E-E6C8-4313-B971-BADE030914D7}" type="presParOf" srcId="{B3671E00-0917-48F7-B452-E2A9FD416630}" destId="{01199BA8-CCAB-450B-8257-E9E7338CFA83}" srcOrd="1" destOrd="0" presId="urn:microsoft.com/office/officeart/2018/2/layout/IconVerticalSolidList"/>
    <dgm:cxn modelId="{9358C7D8-B7A5-48EF-8782-BBF28B10D3F1}" type="presParOf" srcId="{B3671E00-0917-48F7-B452-E2A9FD416630}" destId="{ACDC9044-FA07-4BEE-83B3-32E1E01AEB34}" srcOrd="2" destOrd="0" presId="urn:microsoft.com/office/officeart/2018/2/layout/IconVerticalSolidList"/>
    <dgm:cxn modelId="{D0A9A74E-E389-479C-B43A-07BB1973DC17}" type="presParOf" srcId="{ACDC9044-FA07-4BEE-83B3-32E1E01AEB34}" destId="{FAA7EC47-835D-421E-944D-863824A2DAB5}" srcOrd="0" destOrd="0" presId="urn:microsoft.com/office/officeart/2018/2/layout/IconVerticalSolidList"/>
    <dgm:cxn modelId="{B4D80BE7-FC5A-440D-A76B-364BC6AA04BD}" type="presParOf" srcId="{ACDC9044-FA07-4BEE-83B3-32E1E01AEB34}" destId="{EE324571-FF74-47C4-8696-0D990EB1CE1E}" srcOrd="1" destOrd="0" presId="urn:microsoft.com/office/officeart/2018/2/layout/IconVerticalSolidList"/>
    <dgm:cxn modelId="{FDE60471-1004-4758-9153-D79ACF9D4AC6}" type="presParOf" srcId="{ACDC9044-FA07-4BEE-83B3-32E1E01AEB34}" destId="{6BD88E29-6848-4200-8AF9-F49FA6023553}" srcOrd="2" destOrd="0" presId="urn:microsoft.com/office/officeart/2018/2/layout/IconVerticalSolidList"/>
    <dgm:cxn modelId="{52AE4B91-E93B-4B7D-ABE7-63178D45B54F}" type="presParOf" srcId="{ACDC9044-FA07-4BEE-83B3-32E1E01AEB34}" destId="{289FFE60-0B67-4853-8A54-2CDB7469F1DD}" srcOrd="3" destOrd="0" presId="urn:microsoft.com/office/officeart/2018/2/layout/IconVerticalSolidList"/>
    <dgm:cxn modelId="{D1D1CAA3-4A30-4661-B211-07AD1E25EC32}" type="presParOf" srcId="{B3671E00-0917-48F7-B452-E2A9FD416630}" destId="{FE600B14-8374-4E30-B98E-4FF3FB2E54C3}" srcOrd="3" destOrd="0" presId="urn:microsoft.com/office/officeart/2018/2/layout/IconVerticalSolidList"/>
    <dgm:cxn modelId="{797D1083-04A0-430A-985A-FB06DF29149B}" type="presParOf" srcId="{B3671E00-0917-48F7-B452-E2A9FD416630}" destId="{E84D1256-4825-4303-99B9-7B1AF8A5EEAD}" srcOrd="4" destOrd="0" presId="urn:microsoft.com/office/officeart/2018/2/layout/IconVerticalSolidList"/>
    <dgm:cxn modelId="{C922A8C3-BF49-422F-8238-B4E03B011D55}" type="presParOf" srcId="{E84D1256-4825-4303-99B9-7B1AF8A5EEAD}" destId="{0009EC05-4B9B-4DFB-87C4-A86E24975C99}" srcOrd="0" destOrd="0" presId="urn:microsoft.com/office/officeart/2018/2/layout/IconVerticalSolidList"/>
    <dgm:cxn modelId="{1AEDBE81-BBF5-42F9-84B4-0CD6F72DA31E}" type="presParOf" srcId="{E84D1256-4825-4303-99B9-7B1AF8A5EEAD}" destId="{0B716E62-7D99-4A48-9016-D312679C3B7F}" srcOrd="1" destOrd="0" presId="urn:microsoft.com/office/officeart/2018/2/layout/IconVerticalSolidList"/>
    <dgm:cxn modelId="{E962288F-37FC-45F2-B738-8EB3D285DA14}" type="presParOf" srcId="{E84D1256-4825-4303-99B9-7B1AF8A5EEAD}" destId="{75A8E26A-0CB7-4225-8BED-FC7F578FF584}" srcOrd="2" destOrd="0" presId="urn:microsoft.com/office/officeart/2018/2/layout/IconVerticalSolidList"/>
    <dgm:cxn modelId="{CAAC61F4-B9C5-49B9-8353-F1A0ADE35621}" type="presParOf" srcId="{E84D1256-4825-4303-99B9-7B1AF8A5EEAD}" destId="{08BDC9C4-22E0-4125-BCF9-702A061F970A}" srcOrd="3" destOrd="0" presId="urn:microsoft.com/office/officeart/2018/2/layout/IconVerticalSolidList"/>
    <dgm:cxn modelId="{B8BB9596-0DF2-4F4A-B25F-C3664DB53022}" type="presParOf" srcId="{B3671E00-0917-48F7-B452-E2A9FD416630}" destId="{FB25C993-611E-4A3F-A79A-6E7F0D84DE9D}" srcOrd="5" destOrd="0" presId="urn:microsoft.com/office/officeart/2018/2/layout/IconVerticalSolidList"/>
    <dgm:cxn modelId="{5757ED97-0526-4FAC-B708-BFE85A34DB6F}" type="presParOf" srcId="{B3671E00-0917-48F7-B452-E2A9FD416630}" destId="{D2FE27F0-ADC5-4013-AA2D-AFE77397924F}" srcOrd="6" destOrd="0" presId="urn:microsoft.com/office/officeart/2018/2/layout/IconVerticalSolidList"/>
    <dgm:cxn modelId="{F52F4355-53E2-4AF0-B9CA-AB766E48771E}" type="presParOf" srcId="{D2FE27F0-ADC5-4013-AA2D-AFE77397924F}" destId="{64535F6B-CA59-412C-B8C7-325428D4622B}" srcOrd="0" destOrd="0" presId="urn:microsoft.com/office/officeart/2018/2/layout/IconVerticalSolidList"/>
    <dgm:cxn modelId="{8EC6CD7D-F930-41C0-87C8-30DA22490C6D}" type="presParOf" srcId="{D2FE27F0-ADC5-4013-AA2D-AFE77397924F}" destId="{52FCC473-1BDF-4315-8E00-D2314E38636B}" srcOrd="1" destOrd="0" presId="urn:microsoft.com/office/officeart/2018/2/layout/IconVerticalSolidList"/>
    <dgm:cxn modelId="{049D45F6-5C4D-49C0-9C27-6969F10B8B60}" type="presParOf" srcId="{D2FE27F0-ADC5-4013-AA2D-AFE77397924F}" destId="{319CDA87-0177-4078-AE39-D5B4E8E5EB5B}" srcOrd="2" destOrd="0" presId="urn:microsoft.com/office/officeart/2018/2/layout/IconVerticalSolidList"/>
    <dgm:cxn modelId="{6E794918-6202-439C-9EA4-AAD88753E298}" type="presParOf" srcId="{D2FE27F0-ADC5-4013-AA2D-AFE77397924F}" destId="{01CE9BEC-94B1-434B-807B-0DF9AF17E3D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09B0F0-CAAC-447F-98A0-6B6152E2A88C}" type="doc">
      <dgm:prSet loTypeId="urn:microsoft.com/office/officeart/2005/8/layout/hierarchy1" loCatId="hierarchy" qsTypeId="urn:microsoft.com/office/officeart/2005/8/quickstyle/simple1#15" qsCatId="simple" csTypeId="urn:microsoft.com/office/officeart/2005/8/colors/accent1_2#3" csCatId="accent1"/>
      <dgm:spPr/>
      <dgm:t>
        <a:bodyPr/>
        <a:lstStyle/>
        <a:p>
          <a:endParaRPr lang="en-US"/>
        </a:p>
      </dgm:t>
    </dgm:pt>
    <dgm:pt modelId="{0F1218B3-A9FE-4BBE-9D18-0255E5D7B58E}">
      <dgm:prSet/>
      <dgm:spPr/>
      <dgm:t>
        <a:bodyPr/>
        <a:lstStyle/>
        <a:p>
          <a:r>
            <a:rPr lang="fr-FR" b="1" dirty="0"/>
            <a:t>Twig</a:t>
          </a:r>
          <a:r>
            <a:rPr lang="fr-FR" dirty="0"/>
            <a:t> échappe automatiquement tout output (</a:t>
          </a:r>
          <a:r>
            <a:rPr lang="fr-FR" b="1" dirty="0" err="1"/>
            <a:t>autoescape</a:t>
          </a:r>
          <a:r>
            <a:rPr lang="fr-FR" b="1" dirty="0"/>
            <a:t> activé par défaut)</a:t>
          </a:r>
          <a:endParaRPr lang="en-US" dirty="0"/>
        </a:p>
      </dgm:t>
    </dgm:pt>
    <dgm:pt modelId="{0AE7782D-1EEA-4C5C-803E-4D770128C424}" type="parTrans" cxnId="{C3999FCD-C78D-45A6-A3B5-2306B3B2DC82}">
      <dgm:prSet/>
      <dgm:spPr/>
      <dgm:t>
        <a:bodyPr/>
        <a:lstStyle/>
        <a:p>
          <a:endParaRPr lang="en-US"/>
        </a:p>
      </dgm:t>
    </dgm:pt>
    <dgm:pt modelId="{5DAADEF5-E695-41B4-936C-D6948625AA7F}" type="sibTrans" cxnId="{C3999FCD-C78D-45A6-A3B5-2306B3B2DC82}">
      <dgm:prSet/>
      <dgm:spPr/>
      <dgm:t>
        <a:bodyPr/>
        <a:lstStyle/>
        <a:p>
          <a:endParaRPr lang="en-US"/>
        </a:p>
      </dgm:t>
    </dgm:pt>
    <dgm:pt modelId="{7C0B51E7-0E41-43CA-B2DD-C93589EC13A8}">
      <dgm:prSet/>
      <dgm:spPr/>
      <dgm:t>
        <a:bodyPr/>
        <a:lstStyle/>
        <a:p>
          <a:r>
            <a:rPr lang="fr-FR"/>
            <a:t>Le filtre </a:t>
          </a:r>
          <a:r>
            <a:rPr lang="fr-FR" b="1"/>
            <a:t>raw</a:t>
          </a:r>
          <a:r>
            <a:rPr lang="fr-FR"/>
            <a:t> désactive cette protection : à utiliser avec prudence</a:t>
          </a:r>
          <a:endParaRPr lang="en-US"/>
        </a:p>
      </dgm:t>
    </dgm:pt>
    <dgm:pt modelId="{29FCA938-9A02-4098-8A29-B3D227D70050}" type="parTrans" cxnId="{7E9A15B3-2B95-4BE0-9E19-617349CA1071}">
      <dgm:prSet/>
      <dgm:spPr/>
      <dgm:t>
        <a:bodyPr/>
        <a:lstStyle/>
        <a:p>
          <a:endParaRPr lang="en-US"/>
        </a:p>
      </dgm:t>
    </dgm:pt>
    <dgm:pt modelId="{D107F759-1CF7-4D0F-BF65-98BB26C6C6A7}" type="sibTrans" cxnId="{7E9A15B3-2B95-4BE0-9E19-617349CA1071}">
      <dgm:prSet/>
      <dgm:spPr/>
      <dgm:t>
        <a:bodyPr/>
        <a:lstStyle/>
        <a:p>
          <a:endParaRPr lang="en-US"/>
        </a:p>
      </dgm:t>
    </dgm:pt>
    <dgm:pt modelId="{94DAC0F2-BE70-45BA-ACA7-FD31F0AA243A}">
      <dgm:prSet/>
      <dgm:spPr/>
      <dgm:t>
        <a:bodyPr/>
        <a:lstStyle/>
        <a:p>
          <a:r>
            <a:rPr lang="fr-FR" b="1"/>
            <a:t>Symfony ≠ immunité totale</a:t>
          </a:r>
          <a:endParaRPr lang="en-US"/>
        </a:p>
      </dgm:t>
    </dgm:pt>
    <dgm:pt modelId="{75D4546E-9D2B-4453-89D6-EBC6EAD7841E}" type="parTrans" cxnId="{870C4595-5846-4018-9989-BF8EF6DA90D0}">
      <dgm:prSet/>
      <dgm:spPr/>
      <dgm:t>
        <a:bodyPr/>
        <a:lstStyle/>
        <a:p>
          <a:endParaRPr lang="en-US"/>
        </a:p>
      </dgm:t>
    </dgm:pt>
    <dgm:pt modelId="{E6979E3E-905E-452A-98E2-3934DEC51540}" type="sibTrans" cxnId="{870C4595-5846-4018-9989-BF8EF6DA90D0}">
      <dgm:prSet/>
      <dgm:spPr/>
      <dgm:t>
        <a:bodyPr/>
        <a:lstStyle/>
        <a:p>
          <a:endParaRPr lang="en-US"/>
        </a:p>
      </dgm:t>
    </dgm:pt>
    <dgm:pt modelId="{8E81952B-D57F-4FEA-B914-001933406730}" type="pres">
      <dgm:prSet presAssocID="{2609B0F0-CAAC-447F-98A0-6B6152E2A88C}" presName="hierChild1" presStyleCnt="0">
        <dgm:presLayoutVars>
          <dgm:chPref val="1"/>
          <dgm:dir/>
          <dgm:animOne val="branch"/>
          <dgm:animLvl val="lvl"/>
          <dgm:resizeHandles/>
        </dgm:presLayoutVars>
      </dgm:prSet>
      <dgm:spPr/>
    </dgm:pt>
    <dgm:pt modelId="{8FCBFE8F-D4A7-4341-A3EC-BEFC980C59A9}" type="pres">
      <dgm:prSet presAssocID="{0F1218B3-A9FE-4BBE-9D18-0255E5D7B58E}" presName="hierRoot1" presStyleCnt="0"/>
      <dgm:spPr/>
    </dgm:pt>
    <dgm:pt modelId="{9E613672-F83C-446E-86FB-80EBBB1FABEE}" type="pres">
      <dgm:prSet presAssocID="{0F1218B3-A9FE-4BBE-9D18-0255E5D7B58E}" presName="composite" presStyleCnt="0"/>
      <dgm:spPr/>
    </dgm:pt>
    <dgm:pt modelId="{0329A75E-4C70-46FC-B0CE-9B609B085E30}" type="pres">
      <dgm:prSet presAssocID="{0F1218B3-A9FE-4BBE-9D18-0255E5D7B58E}" presName="background" presStyleLbl="node0" presStyleIdx="0" presStyleCnt="3"/>
      <dgm:spPr/>
    </dgm:pt>
    <dgm:pt modelId="{EC0C0382-2CD3-4748-9E86-548DFB46BDE5}" type="pres">
      <dgm:prSet presAssocID="{0F1218B3-A9FE-4BBE-9D18-0255E5D7B58E}" presName="text" presStyleLbl="fgAcc0" presStyleIdx="0" presStyleCnt="3">
        <dgm:presLayoutVars>
          <dgm:chPref val="3"/>
        </dgm:presLayoutVars>
      </dgm:prSet>
      <dgm:spPr/>
    </dgm:pt>
    <dgm:pt modelId="{8FC5982F-3D76-4214-BE6A-81C1449EA30A}" type="pres">
      <dgm:prSet presAssocID="{0F1218B3-A9FE-4BBE-9D18-0255E5D7B58E}" presName="hierChild2" presStyleCnt="0"/>
      <dgm:spPr/>
    </dgm:pt>
    <dgm:pt modelId="{A6CCEFFA-6959-4A6C-8B79-0888D1A5D0A6}" type="pres">
      <dgm:prSet presAssocID="{7C0B51E7-0E41-43CA-B2DD-C93589EC13A8}" presName="hierRoot1" presStyleCnt="0"/>
      <dgm:spPr/>
    </dgm:pt>
    <dgm:pt modelId="{3A522B17-BCB1-47DA-B003-99916FD43F6D}" type="pres">
      <dgm:prSet presAssocID="{7C0B51E7-0E41-43CA-B2DD-C93589EC13A8}" presName="composite" presStyleCnt="0"/>
      <dgm:spPr/>
    </dgm:pt>
    <dgm:pt modelId="{15964359-7220-4E46-96FD-7E35A61C7307}" type="pres">
      <dgm:prSet presAssocID="{7C0B51E7-0E41-43CA-B2DD-C93589EC13A8}" presName="background" presStyleLbl="node0" presStyleIdx="1" presStyleCnt="3"/>
      <dgm:spPr/>
    </dgm:pt>
    <dgm:pt modelId="{16AED8AE-B220-4CD5-8D42-C7CD24096B5D}" type="pres">
      <dgm:prSet presAssocID="{7C0B51E7-0E41-43CA-B2DD-C93589EC13A8}" presName="text" presStyleLbl="fgAcc0" presStyleIdx="1" presStyleCnt="3">
        <dgm:presLayoutVars>
          <dgm:chPref val="3"/>
        </dgm:presLayoutVars>
      </dgm:prSet>
      <dgm:spPr/>
    </dgm:pt>
    <dgm:pt modelId="{C2B63ED6-1D23-4781-B0CB-E9F2B02CC9B4}" type="pres">
      <dgm:prSet presAssocID="{7C0B51E7-0E41-43CA-B2DD-C93589EC13A8}" presName="hierChild2" presStyleCnt="0"/>
      <dgm:spPr/>
    </dgm:pt>
    <dgm:pt modelId="{249DDBCC-0EA2-46CA-AE5C-1668E2E87610}" type="pres">
      <dgm:prSet presAssocID="{94DAC0F2-BE70-45BA-ACA7-FD31F0AA243A}" presName="hierRoot1" presStyleCnt="0"/>
      <dgm:spPr/>
    </dgm:pt>
    <dgm:pt modelId="{AAA68F97-A319-4764-9836-C03C780911AD}" type="pres">
      <dgm:prSet presAssocID="{94DAC0F2-BE70-45BA-ACA7-FD31F0AA243A}" presName="composite" presStyleCnt="0"/>
      <dgm:spPr/>
    </dgm:pt>
    <dgm:pt modelId="{B4933B7F-DDF3-40C4-B2A5-E3864BD9FAB8}" type="pres">
      <dgm:prSet presAssocID="{94DAC0F2-BE70-45BA-ACA7-FD31F0AA243A}" presName="background" presStyleLbl="node0" presStyleIdx="2" presStyleCnt="3"/>
      <dgm:spPr/>
    </dgm:pt>
    <dgm:pt modelId="{8CBDFB8A-4BCD-4921-9141-81AE6D46F8B2}" type="pres">
      <dgm:prSet presAssocID="{94DAC0F2-BE70-45BA-ACA7-FD31F0AA243A}" presName="text" presStyleLbl="fgAcc0" presStyleIdx="2" presStyleCnt="3">
        <dgm:presLayoutVars>
          <dgm:chPref val="3"/>
        </dgm:presLayoutVars>
      </dgm:prSet>
      <dgm:spPr/>
    </dgm:pt>
    <dgm:pt modelId="{787AEEDB-FB61-4E07-942A-1C0B29A51D74}" type="pres">
      <dgm:prSet presAssocID="{94DAC0F2-BE70-45BA-ACA7-FD31F0AA243A}" presName="hierChild2" presStyleCnt="0"/>
      <dgm:spPr/>
    </dgm:pt>
  </dgm:ptLst>
  <dgm:cxnLst>
    <dgm:cxn modelId="{941D208F-3C6E-46BD-957E-3EDF8BD136CC}" type="presOf" srcId="{2609B0F0-CAAC-447F-98A0-6B6152E2A88C}" destId="{8E81952B-D57F-4FEA-B914-001933406730}" srcOrd="0" destOrd="0" presId="urn:microsoft.com/office/officeart/2005/8/layout/hierarchy1"/>
    <dgm:cxn modelId="{870C4595-5846-4018-9989-BF8EF6DA90D0}" srcId="{2609B0F0-CAAC-447F-98A0-6B6152E2A88C}" destId="{94DAC0F2-BE70-45BA-ACA7-FD31F0AA243A}" srcOrd="2" destOrd="0" parTransId="{75D4546E-9D2B-4453-89D6-EBC6EAD7841E}" sibTransId="{E6979E3E-905E-452A-98E2-3934DEC51540}"/>
    <dgm:cxn modelId="{4EE4C0AA-3476-4808-A979-CF1984163C2D}" type="presOf" srcId="{0F1218B3-A9FE-4BBE-9D18-0255E5D7B58E}" destId="{EC0C0382-2CD3-4748-9E86-548DFB46BDE5}" srcOrd="0" destOrd="0" presId="urn:microsoft.com/office/officeart/2005/8/layout/hierarchy1"/>
    <dgm:cxn modelId="{FF1989AF-DA46-4564-B8EB-E08F834DE47C}" type="presOf" srcId="{7C0B51E7-0E41-43CA-B2DD-C93589EC13A8}" destId="{16AED8AE-B220-4CD5-8D42-C7CD24096B5D}" srcOrd="0" destOrd="0" presId="urn:microsoft.com/office/officeart/2005/8/layout/hierarchy1"/>
    <dgm:cxn modelId="{7E9A15B3-2B95-4BE0-9E19-617349CA1071}" srcId="{2609B0F0-CAAC-447F-98A0-6B6152E2A88C}" destId="{7C0B51E7-0E41-43CA-B2DD-C93589EC13A8}" srcOrd="1" destOrd="0" parTransId="{29FCA938-9A02-4098-8A29-B3D227D70050}" sibTransId="{D107F759-1CF7-4D0F-BF65-98BB26C6C6A7}"/>
    <dgm:cxn modelId="{C3999FCD-C78D-45A6-A3B5-2306B3B2DC82}" srcId="{2609B0F0-CAAC-447F-98A0-6B6152E2A88C}" destId="{0F1218B3-A9FE-4BBE-9D18-0255E5D7B58E}" srcOrd="0" destOrd="0" parTransId="{0AE7782D-1EEA-4C5C-803E-4D770128C424}" sibTransId="{5DAADEF5-E695-41B4-936C-D6948625AA7F}"/>
    <dgm:cxn modelId="{CD4C0BDD-5192-4270-9E9C-3054EF1DD3CA}" type="presOf" srcId="{94DAC0F2-BE70-45BA-ACA7-FD31F0AA243A}" destId="{8CBDFB8A-4BCD-4921-9141-81AE6D46F8B2}" srcOrd="0" destOrd="0" presId="urn:microsoft.com/office/officeart/2005/8/layout/hierarchy1"/>
    <dgm:cxn modelId="{AA44E17B-CB27-4CA9-A29C-0FA4643D829C}" type="presParOf" srcId="{8E81952B-D57F-4FEA-B914-001933406730}" destId="{8FCBFE8F-D4A7-4341-A3EC-BEFC980C59A9}" srcOrd="0" destOrd="0" presId="urn:microsoft.com/office/officeart/2005/8/layout/hierarchy1"/>
    <dgm:cxn modelId="{FE5A6409-7D8A-4BBE-AE05-1D2A90BCF357}" type="presParOf" srcId="{8FCBFE8F-D4A7-4341-A3EC-BEFC980C59A9}" destId="{9E613672-F83C-446E-86FB-80EBBB1FABEE}" srcOrd="0" destOrd="0" presId="urn:microsoft.com/office/officeart/2005/8/layout/hierarchy1"/>
    <dgm:cxn modelId="{A40B346A-2A90-4673-9AB9-DADB73B2B89A}" type="presParOf" srcId="{9E613672-F83C-446E-86FB-80EBBB1FABEE}" destId="{0329A75E-4C70-46FC-B0CE-9B609B085E30}" srcOrd="0" destOrd="0" presId="urn:microsoft.com/office/officeart/2005/8/layout/hierarchy1"/>
    <dgm:cxn modelId="{7DC6738D-00F8-48E5-8CE0-554F81E614C4}" type="presParOf" srcId="{9E613672-F83C-446E-86FB-80EBBB1FABEE}" destId="{EC0C0382-2CD3-4748-9E86-548DFB46BDE5}" srcOrd="1" destOrd="0" presId="urn:microsoft.com/office/officeart/2005/8/layout/hierarchy1"/>
    <dgm:cxn modelId="{110FB626-6E68-4D28-A2BE-09AE16F4C968}" type="presParOf" srcId="{8FCBFE8F-D4A7-4341-A3EC-BEFC980C59A9}" destId="{8FC5982F-3D76-4214-BE6A-81C1449EA30A}" srcOrd="1" destOrd="0" presId="urn:microsoft.com/office/officeart/2005/8/layout/hierarchy1"/>
    <dgm:cxn modelId="{DC11AB86-4A15-45E2-B511-638E1513B7AF}" type="presParOf" srcId="{8E81952B-D57F-4FEA-B914-001933406730}" destId="{A6CCEFFA-6959-4A6C-8B79-0888D1A5D0A6}" srcOrd="1" destOrd="0" presId="urn:microsoft.com/office/officeart/2005/8/layout/hierarchy1"/>
    <dgm:cxn modelId="{7DF81932-7EB8-4498-ACB7-1E81DD632A25}" type="presParOf" srcId="{A6CCEFFA-6959-4A6C-8B79-0888D1A5D0A6}" destId="{3A522B17-BCB1-47DA-B003-99916FD43F6D}" srcOrd="0" destOrd="0" presId="urn:microsoft.com/office/officeart/2005/8/layout/hierarchy1"/>
    <dgm:cxn modelId="{C5EAACE1-D782-4F55-9A42-8D0FC5933D7F}" type="presParOf" srcId="{3A522B17-BCB1-47DA-B003-99916FD43F6D}" destId="{15964359-7220-4E46-96FD-7E35A61C7307}" srcOrd="0" destOrd="0" presId="urn:microsoft.com/office/officeart/2005/8/layout/hierarchy1"/>
    <dgm:cxn modelId="{3F1DDB0A-FBC5-4335-85D5-7919288E97C3}" type="presParOf" srcId="{3A522B17-BCB1-47DA-B003-99916FD43F6D}" destId="{16AED8AE-B220-4CD5-8D42-C7CD24096B5D}" srcOrd="1" destOrd="0" presId="urn:microsoft.com/office/officeart/2005/8/layout/hierarchy1"/>
    <dgm:cxn modelId="{8B188CF4-E243-4232-8377-3DF82788F8EB}" type="presParOf" srcId="{A6CCEFFA-6959-4A6C-8B79-0888D1A5D0A6}" destId="{C2B63ED6-1D23-4781-B0CB-E9F2B02CC9B4}" srcOrd="1" destOrd="0" presId="urn:microsoft.com/office/officeart/2005/8/layout/hierarchy1"/>
    <dgm:cxn modelId="{12B062E2-8C4B-4A41-A4A2-24AD9F1A2CFC}" type="presParOf" srcId="{8E81952B-D57F-4FEA-B914-001933406730}" destId="{249DDBCC-0EA2-46CA-AE5C-1668E2E87610}" srcOrd="2" destOrd="0" presId="urn:microsoft.com/office/officeart/2005/8/layout/hierarchy1"/>
    <dgm:cxn modelId="{8CB9EECF-F0FC-404C-A233-EBF4A0585A82}" type="presParOf" srcId="{249DDBCC-0EA2-46CA-AE5C-1668E2E87610}" destId="{AAA68F97-A319-4764-9836-C03C780911AD}" srcOrd="0" destOrd="0" presId="urn:microsoft.com/office/officeart/2005/8/layout/hierarchy1"/>
    <dgm:cxn modelId="{DF818130-9163-4CA7-A42B-E212C88F03A8}" type="presParOf" srcId="{AAA68F97-A319-4764-9836-C03C780911AD}" destId="{B4933B7F-DDF3-40C4-B2A5-E3864BD9FAB8}" srcOrd="0" destOrd="0" presId="urn:microsoft.com/office/officeart/2005/8/layout/hierarchy1"/>
    <dgm:cxn modelId="{8A8C8D12-217B-4779-AAD7-2705C0CB30B6}" type="presParOf" srcId="{AAA68F97-A319-4764-9836-C03C780911AD}" destId="{8CBDFB8A-4BCD-4921-9141-81AE6D46F8B2}" srcOrd="1" destOrd="0" presId="urn:microsoft.com/office/officeart/2005/8/layout/hierarchy1"/>
    <dgm:cxn modelId="{B641409E-943A-413C-BACD-EBC8374573FA}" type="presParOf" srcId="{249DDBCC-0EA2-46CA-AE5C-1668E2E87610}" destId="{787AEEDB-FB61-4E07-942A-1C0B29A51D7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E7B59D-4F9A-43AA-AFEC-60A38D5B856A}" type="doc">
      <dgm:prSet loTypeId="urn:microsoft.com/office/officeart/2005/8/layout/vList5" loCatId="list" qsTypeId="urn:microsoft.com/office/officeart/2005/8/quickstyle/simple3#1" qsCatId="simple" csTypeId="urn:microsoft.com/office/officeart/2005/8/colors/accent1_2#2" csCatId="accent1" phldr="1"/>
      <dgm:spPr/>
      <dgm:t>
        <a:bodyPr/>
        <a:lstStyle/>
        <a:p>
          <a:endParaRPr lang="en-US"/>
        </a:p>
      </dgm:t>
    </dgm:pt>
    <dgm:pt modelId="{B7068FFA-6C45-43B2-BD26-7293C0A903C8}">
      <dgm:prSet custT="1"/>
      <dgm:spPr/>
      <dgm:t>
        <a:bodyPr/>
        <a:lstStyle/>
        <a:p>
          <a:r>
            <a:rPr lang="fr-FR" sz="2800" dirty="0"/>
            <a:t>Un jeton unique généré par le serveur, injecté dans chaque formulaire</a:t>
          </a:r>
          <a:endParaRPr lang="en-US" sz="2800" dirty="0"/>
        </a:p>
      </dgm:t>
    </dgm:pt>
    <dgm:pt modelId="{08ED8D7F-2E2A-49B8-9D8A-AE543F5DD3A7}" type="parTrans" cxnId="{B5C72903-6DCD-4054-9D45-A2DE7C0EAB03}">
      <dgm:prSet/>
      <dgm:spPr/>
      <dgm:t>
        <a:bodyPr/>
        <a:lstStyle/>
        <a:p>
          <a:endParaRPr lang="en-US"/>
        </a:p>
      </dgm:t>
    </dgm:pt>
    <dgm:pt modelId="{D0D01A6A-B6E3-4AFB-BE34-CFF6800D2361}" type="sibTrans" cxnId="{B5C72903-6DCD-4054-9D45-A2DE7C0EAB03}">
      <dgm:prSet/>
      <dgm:spPr/>
      <dgm:t>
        <a:bodyPr/>
        <a:lstStyle/>
        <a:p>
          <a:endParaRPr lang="en-US"/>
        </a:p>
      </dgm:t>
    </dgm:pt>
    <dgm:pt modelId="{31A5CDE3-4A35-47E7-B53B-10AD5A449FF9}">
      <dgm:prSet custT="1"/>
      <dgm:spPr/>
      <dgm:t>
        <a:bodyPr/>
        <a:lstStyle/>
        <a:p>
          <a:r>
            <a:rPr lang="fr-FR" sz="2800" dirty="0"/>
            <a:t>Vérifié à la soumission : </a:t>
          </a:r>
          <a:r>
            <a:rPr lang="fr-FR" sz="2800" b="1" dirty="0"/>
            <a:t>si absent ou invalide, la requête est rejetée</a:t>
          </a:r>
          <a:endParaRPr lang="en-US" sz="2800" dirty="0"/>
        </a:p>
      </dgm:t>
    </dgm:pt>
    <dgm:pt modelId="{CFD3ADC6-BC3B-4E06-89AF-EE8F741656A6}" type="parTrans" cxnId="{4D15B386-7DFF-4AEE-9242-96E9666FBFE9}">
      <dgm:prSet/>
      <dgm:spPr/>
      <dgm:t>
        <a:bodyPr/>
        <a:lstStyle/>
        <a:p>
          <a:endParaRPr lang="en-US"/>
        </a:p>
      </dgm:t>
    </dgm:pt>
    <dgm:pt modelId="{C40DCDA4-62FF-4652-AEDF-7D100510E05B}" type="sibTrans" cxnId="{4D15B386-7DFF-4AEE-9242-96E9666FBFE9}">
      <dgm:prSet/>
      <dgm:spPr/>
      <dgm:t>
        <a:bodyPr/>
        <a:lstStyle/>
        <a:p>
          <a:endParaRPr lang="en-US"/>
        </a:p>
      </dgm:t>
    </dgm:pt>
    <dgm:pt modelId="{6E78C463-B219-4BE2-BCC5-6E1D21BF7730}">
      <dgm:prSet custT="1"/>
      <dgm:spPr/>
      <dgm:t>
        <a:bodyPr/>
        <a:lstStyle/>
        <a:p>
          <a:r>
            <a:rPr lang="fr-FR" sz="2800" dirty="0"/>
            <a:t>Symfony l'active automatiquement pour tous les formulaires du composant Form</a:t>
          </a:r>
          <a:endParaRPr lang="en-US" sz="2800" dirty="0"/>
        </a:p>
      </dgm:t>
    </dgm:pt>
    <dgm:pt modelId="{53DEA107-7EBF-4AE8-9959-1113D435B917}" type="parTrans" cxnId="{E43B57F9-41FF-4D34-8CEC-99917BE8EEC6}">
      <dgm:prSet/>
      <dgm:spPr/>
      <dgm:t>
        <a:bodyPr/>
        <a:lstStyle/>
        <a:p>
          <a:endParaRPr lang="en-US"/>
        </a:p>
      </dgm:t>
    </dgm:pt>
    <dgm:pt modelId="{CD97E511-6D43-41D0-996B-2B268C0CD9C1}" type="sibTrans" cxnId="{E43B57F9-41FF-4D34-8CEC-99917BE8EEC6}">
      <dgm:prSet/>
      <dgm:spPr/>
      <dgm:t>
        <a:bodyPr/>
        <a:lstStyle/>
        <a:p>
          <a:endParaRPr lang="en-US"/>
        </a:p>
      </dgm:t>
    </dgm:pt>
    <dgm:pt modelId="{0E8AAC65-FE60-4A71-89E6-6464E13149E1}" type="pres">
      <dgm:prSet presAssocID="{B7E7B59D-4F9A-43AA-AFEC-60A38D5B856A}" presName="Name0" presStyleCnt="0">
        <dgm:presLayoutVars>
          <dgm:dir/>
          <dgm:animLvl val="lvl"/>
          <dgm:resizeHandles val="exact"/>
        </dgm:presLayoutVars>
      </dgm:prSet>
      <dgm:spPr/>
    </dgm:pt>
    <dgm:pt modelId="{41337DFB-B722-4054-8988-D826C5F48F01}" type="pres">
      <dgm:prSet presAssocID="{B7068FFA-6C45-43B2-BD26-7293C0A903C8}" presName="linNode" presStyleCnt="0"/>
      <dgm:spPr/>
    </dgm:pt>
    <dgm:pt modelId="{D7A14E67-1541-43DB-9C27-BE8F3076B3CC}" type="pres">
      <dgm:prSet presAssocID="{B7068FFA-6C45-43B2-BD26-7293C0A903C8}" presName="parentText" presStyleLbl="node1" presStyleIdx="0" presStyleCnt="3" custScaleX="214982" custLinFactNeighborX="0" custLinFactNeighborY="1270">
        <dgm:presLayoutVars>
          <dgm:chMax val="1"/>
          <dgm:bulletEnabled val="1"/>
        </dgm:presLayoutVars>
      </dgm:prSet>
      <dgm:spPr/>
    </dgm:pt>
    <dgm:pt modelId="{DF719213-8E21-4785-B164-C1F8B58A5D1B}" type="pres">
      <dgm:prSet presAssocID="{D0D01A6A-B6E3-4AFB-BE34-CFF6800D2361}" presName="sp" presStyleCnt="0"/>
      <dgm:spPr/>
    </dgm:pt>
    <dgm:pt modelId="{AE72C3ED-DBA8-49FC-90FE-7E5C60A77B33}" type="pres">
      <dgm:prSet presAssocID="{31A5CDE3-4A35-47E7-B53B-10AD5A449FF9}" presName="linNode" presStyleCnt="0"/>
      <dgm:spPr/>
    </dgm:pt>
    <dgm:pt modelId="{0B8339C0-E2B2-4C03-A2D1-B23B9D84422A}" type="pres">
      <dgm:prSet presAssocID="{31A5CDE3-4A35-47E7-B53B-10AD5A449FF9}" presName="parentText" presStyleLbl="node1" presStyleIdx="1" presStyleCnt="3" custScaleX="214486">
        <dgm:presLayoutVars>
          <dgm:chMax val="1"/>
          <dgm:bulletEnabled val="1"/>
        </dgm:presLayoutVars>
      </dgm:prSet>
      <dgm:spPr/>
    </dgm:pt>
    <dgm:pt modelId="{5BB1F1A4-9A70-4524-8E98-A0F4B4C28B3F}" type="pres">
      <dgm:prSet presAssocID="{C40DCDA4-62FF-4652-AEDF-7D100510E05B}" presName="sp" presStyleCnt="0"/>
      <dgm:spPr/>
    </dgm:pt>
    <dgm:pt modelId="{A6FA479A-9FCF-4A73-A858-5518A65BBEBC}" type="pres">
      <dgm:prSet presAssocID="{6E78C463-B219-4BE2-BCC5-6E1D21BF7730}" presName="linNode" presStyleCnt="0"/>
      <dgm:spPr/>
    </dgm:pt>
    <dgm:pt modelId="{41185B84-0D30-4363-A9F1-BD696BBCD08E}" type="pres">
      <dgm:prSet presAssocID="{6E78C463-B219-4BE2-BCC5-6E1D21BF7730}" presName="parentText" presStyleLbl="node1" presStyleIdx="2" presStyleCnt="3" custScaleX="215551">
        <dgm:presLayoutVars>
          <dgm:chMax val="1"/>
          <dgm:bulletEnabled val="1"/>
        </dgm:presLayoutVars>
      </dgm:prSet>
      <dgm:spPr/>
    </dgm:pt>
  </dgm:ptLst>
  <dgm:cxnLst>
    <dgm:cxn modelId="{B5C72903-6DCD-4054-9D45-A2DE7C0EAB03}" srcId="{B7E7B59D-4F9A-43AA-AFEC-60A38D5B856A}" destId="{B7068FFA-6C45-43B2-BD26-7293C0A903C8}" srcOrd="0" destOrd="0" parTransId="{08ED8D7F-2E2A-49B8-9D8A-AE543F5DD3A7}" sibTransId="{D0D01A6A-B6E3-4AFB-BE34-CFF6800D2361}"/>
    <dgm:cxn modelId="{7C497877-7CD9-4A5C-8320-973F1F1E3DD5}" type="presOf" srcId="{31A5CDE3-4A35-47E7-B53B-10AD5A449FF9}" destId="{0B8339C0-E2B2-4C03-A2D1-B23B9D84422A}" srcOrd="0" destOrd="0" presId="urn:microsoft.com/office/officeart/2005/8/layout/vList5"/>
    <dgm:cxn modelId="{4D15B386-7DFF-4AEE-9242-96E9666FBFE9}" srcId="{B7E7B59D-4F9A-43AA-AFEC-60A38D5B856A}" destId="{31A5CDE3-4A35-47E7-B53B-10AD5A449FF9}" srcOrd="1" destOrd="0" parTransId="{CFD3ADC6-BC3B-4E06-89AF-EE8F741656A6}" sibTransId="{C40DCDA4-62FF-4652-AEDF-7D100510E05B}"/>
    <dgm:cxn modelId="{CB195388-6B4E-4C4D-9F46-E0231A6C6D6D}" type="presOf" srcId="{B7E7B59D-4F9A-43AA-AFEC-60A38D5B856A}" destId="{0E8AAC65-FE60-4A71-89E6-6464E13149E1}" srcOrd="0" destOrd="0" presId="urn:microsoft.com/office/officeart/2005/8/layout/vList5"/>
    <dgm:cxn modelId="{98F11B95-1B88-43DB-99A7-B0F169B663F3}" type="presOf" srcId="{6E78C463-B219-4BE2-BCC5-6E1D21BF7730}" destId="{41185B84-0D30-4363-A9F1-BD696BBCD08E}" srcOrd="0" destOrd="0" presId="urn:microsoft.com/office/officeart/2005/8/layout/vList5"/>
    <dgm:cxn modelId="{94D582A8-5B94-498F-A226-2AFD4B31A163}" type="presOf" srcId="{B7068FFA-6C45-43B2-BD26-7293C0A903C8}" destId="{D7A14E67-1541-43DB-9C27-BE8F3076B3CC}" srcOrd="0" destOrd="0" presId="urn:microsoft.com/office/officeart/2005/8/layout/vList5"/>
    <dgm:cxn modelId="{E43B57F9-41FF-4D34-8CEC-99917BE8EEC6}" srcId="{B7E7B59D-4F9A-43AA-AFEC-60A38D5B856A}" destId="{6E78C463-B219-4BE2-BCC5-6E1D21BF7730}" srcOrd="2" destOrd="0" parTransId="{53DEA107-7EBF-4AE8-9959-1113D435B917}" sibTransId="{CD97E511-6D43-41D0-996B-2B268C0CD9C1}"/>
    <dgm:cxn modelId="{A6BF0DFE-3A04-4A6C-8118-A95BB026799A}" type="presParOf" srcId="{0E8AAC65-FE60-4A71-89E6-6464E13149E1}" destId="{41337DFB-B722-4054-8988-D826C5F48F01}" srcOrd="0" destOrd="0" presId="urn:microsoft.com/office/officeart/2005/8/layout/vList5"/>
    <dgm:cxn modelId="{3FE8B20B-3B6B-4C87-A057-9B737E75D044}" type="presParOf" srcId="{41337DFB-B722-4054-8988-D826C5F48F01}" destId="{D7A14E67-1541-43DB-9C27-BE8F3076B3CC}" srcOrd="0" destOrd="0" presId="urn:microsoft.com/office/officeart/2005/8/layout/vList5"/>
    <dgm:cxn modelId="{6ED79202-73B6-40BE-AB98-0F946484413E}" type="presParOf" srcId="{0E8AAC65-FE60-4A71-89E6-6464E13149E1}" destId="{DF719213-8E21-4785-B164-C1F8B58A5D1B}" srcOrd="1" destOrd="0" presId="urn:microsoft.com/office/officeart/2005/8/layout/vList5"/>
    <dgm:cxn modelId="{2D2867FA-5EE3-47CF-B7E8-F4C7E4A9F650}" type="presParOf" srcId="{0E8AAC65-FE60-4A71-89E6-6464E13149E1}" destId="{AE72C3ED-DBA8-49FC-90FE-7E5C60A77B33}" srcOrd="2" destOrd="0" presId="urn:microsoft.com/office/officeart/2005/8/layout/vList5"/>
    <dgm:cxn modelId="{A3ABB276-CBEC-47C7-BC1B-9C10BBEFEA34}" type="presParOf" srcId="{AE72C3ED-DBA8-49FC-90FE-7E5C60A77B33}" destId="{0B8339C0-E2B2-4C03-A2D1-B23B9D84422A}" srcOrd="0" destOrd="0" presId="urn:microsoft.com/office/officeart/2005/8/layout/vList5"/>
    <dgm:cxn modelId="{CA0EC8C4-08A4-4229-A077-C644DF8B40EA}" type="presParOf" srcId="{0E8AAC65-FE60-4A71-89E6-6464E13149E1}" destId="{5BB1F1A4-9A70-4524-8E98-A0F4B4C28B3F}" srcOrd="3" destOrd="0" presId="urn:microsoft.com/office/officeart/2005/8/layout/vList5"/>
    <dgm:cxn modelId="{574F3883-557A-4701-9F52-FCD78E74A2F4}" type="presParOf" srcId="{0E8AAC65-FE60-4A71-89E6-6464E13149E1}" destId="{A6FA479A-9FCF-4A73-A858-5518A65BBEBC}" srcOrd="4" destOrd="0" presId="urn:microsoft.com/office/officeart/2005/8/layout/vList5"/>
    <dgm:cxn modelId="{C477E27C-07BE-45AE-8F5A-03193381538C}" type="presParOf" srcId="{A6FA479A-9FCF-4A73-A858-5518A65BBEBC}" destId="{41185B84-0D30-4363-A9F1-BD696BBCD08E}"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D8F850-98CD-47B6-8A30-DB5D62679067}" type="doc">
      <dgm:prSet loTypeId="urn:microsoft.com/office/officeart/2018/5/layout/IconCircleLabelList" loCatId="icon" qsTypeId="urn:microsoft.com/office/officeart/2005/8/quickstyle/simple1#19" qsCatId="simple" csTypeId="urn:microsoft.com/office/officeart/2018/5/colors/Iconchunking_neutralbg_colorful1" csCatId="colorful" phldr="1"/>
      <dgm:spPr/>
      <dgm:t>
        <a:bodyPr/>
        <a:lstStyle/>
        <a:p>
          <a:endParaRPr lang="en-US"/>
        </a:p>
      </dgm:t>
    </dgm:pt>
    <dgm:pt modelId="{45115BD7-530E-4A7E-84D7-34A2F66BEA8C}">
      <dgm:prSet/>
      <dgm:spPr/>
      <dgm:t>
        <a:bodyPr/>
        <a:lstStyle/>
        <a:p>
          <a:pPr>
            <a:lnSpc>
              <a:spcPct val="100000"/>
            </a:lnSpc>
            <a:defRPr cap="all"/>
          </a:pPr>
          <a:r>
            <a:rPr lang="fr-FR"/>
            <a:t>Cookies : principes et risques, manipulation JavaScript</a:t>
          </a:r>
          <a:endParaRPr lang="en-US"/>
        </a:p>
      </dgm:t>
    </dgm:pt>
    <dgm:pt modelId="{3DAF8F90-22B5-415E-96D0-42C150805530}" type="parTrans" cxnId="{AA6FBA93-0B6C-4B44-B428-D5EBFEB28624}">
      <dgm:prSet/>
      <dgm:spPr/>
      <dgm:t>
        <a:bodyPr/>
        <a:lstStyle/>
        <a:p>
          <a:endParaRPr lang="en-US"/>
        </a:p>
      </dgm:t>
    </dgm:pt>
    <dgm:pt modelId="{D5B497C6-653F-4B4E-B96C-7FBBD1E1F391}" type="sibTrans" cxnId="{AA6FBA93-0B6C-4B44-B428-D5EBFEB28624}">
      <dgm:prSet/>
      <dgm:spPr/>
      <dgm:t>
        <a:bodyPr/>
        <a:lstStyle/>
        <a:p>
          <a:endParaRPr lang="en-US"/>
        </a:p>
      </dgm:t>
    </dgm:pt>
    <dgm:pt modelId="{3BDB433A-192D-4BC2-8712-1DE2A598CA48}">
      <dgm:prSet/>
      <dgm:spPr/>
      <dgm:t>
        <a:bodyPr/>
        <a:lstStyle/>
        <a:p>
          <a:pPr>
            <a:lnSpc>
              <a:spcPct val="100000"/>
            </a:lnSpc>
            <a:defRPr cap="all"/>
          </a:pPr>
          <a:r>
            <a:rPr lang="fr-FR"/>
            <a:t>Sessions : cookie vs header, vol de session</a:t>
          </a:r>
          <a:endParaRPr lang="en-US"/>
        </a:p>
      </dgm:t>
    </dgm:pt>
    <dgm:pt modelId="{7450EF20-92D9-4345-BD5D-7C732A36BB93}" type="parTrans" cxnId="{B122F9CA-7D90-46EE-859A-DC0A7A2EAB27}">
      <dgm:prSet/>
      <dgm:spPr/>
      <dgm:t>
        <a:bodyPr/>
        <a:lstStyle/>
        <a:p>
          <a:endParaRPr lang="en-US"/>
        </a:p>
      </dgm:t>
    </dgm:pt>
    <dgm:pt modelId="{1BB7E561-DC61-4105-8524-AB51FFEFDD74}" type="sibTrans" cxnId="{B122F9CA-7D90-46EE-859A-DC0A7A2EAB27}">
      <dgm:prSet/>
      <dgm:spPr/>
      <dgm:t>
        <a:bodyPr/>
        <a:lstStyle/>
        <a:p>
          <a:endParaRPr lang="en-US"/>
        </a:p>
      </dgm:t>
    </dgm:pt>
    <dgm:pt modelId="{2E1C5265-AADB-4B6D-B766-D83C0B0376FE}">
      <dgm:prSet/>
      <dgm:spPr/>
      <dgm:t>
        <a:bodyPr/>
        <a:lstStyle/>
        <a:p>
          <a:pPr>
            <a:lnSpc>
              <a:spcPct val="100000"/>
            </a:lnSpc>
            <a:defRPr cap="all"/>
          </a:pPr>
          <a:r>
            <a:rPr lang="fr-FR"/>
            <a:t>Le Security bundle Symfony couvre déjà l’essentiel !</a:t>
          </a:r>
          <a:endParaRPr lang="en-US"/>
        </a:p>
      </dgm:t>
    </dgm:pt>
    <dgm:pt modelId="{93A520D1-3904-4C8E-897B-FC464955B4A3}" type="parTrans" cxnId="{AE761F50-7874-4A68-91D6-27B7919FA4EB}">
      <dgm:prSet/>
      <dgm:spPr/>
      <dgm:t>
        <a:bodyPr/>
        <a:lstStyle/>
        <a:p>
          <a:endParaRPr lang="en-US"/>
        </a:p>
      </dgm:t>
    </dgm:pt>
    <dgm:pt modelId="{3D106585-55EF-4D5C-911E-5C53358B8958}" type="sibTrans" cxnId="{AE761F50-7874-4A68-91D6-27B7919FA4EB}">
      <dgm:prSet/>
      <dgm:spPr/>
      <dgm:t>
        <a:bodyPr/>
        <a:lstStyle/>
        <a:p>
          <a:endParaRPr lang="en-US"/>
        </a:p>
      </dgm:t>
    </dgm:pt>
    <dgm:pt modelId="{01C080B8-3A67-4CA0-9124-0D9B1F817A90}" type="pres">
      <dgm:prSet presAssocID="{B0D8F850-98CD-47B6-8A30-DB5D62679067}" presName="root" presStyleCnt="0">
        <dgm:presLayoutVars>
          <dgm:dir/>
          <dgm:resizeHandles val="exact"/>
        </dgm:presLayoutVars>
      </dgm:prSet>
      <dgm:spPr/>
    </dgm:pt>
    <dgm:pt modelId="{5A580C6A-B864-43FD-9F64-CCC4FA56F5BF}" type="pres">
      <dgm:prSet presAssocID="{45115BD7-530E-4A7E-84D7-34A2F66BEA8C}" presName="compNode" presStyleCnt="0"/>
      <dgm:spPr/>
    </dgm:pt>
    <dgm:pt modelId="{742A08F4-7C3A-4A54-A9E5-62F3FA3963CC}" type="pres">
      <dgm:prSet presAssocID="{45115BD7-530E-4A7E-84D7-34A2F66BEA8C}" presName="iconBgRect" presStyleLbl="bgShp" presStyleIdx="0" presStyleCnt="3"/>
      <dgm:spPr/>
    </dgm:pt>
    <dgm:pt modelId="{050849D6-A400-4327-B23B-8BAFF259F8B4}" type="pres">
      <dgm:prSet presAssocID="{45115BD7-530E-4A7E-84D7-34A2F66BEA8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ortune Cookie"/>
        </a:ext>
      </dgm:extLst>
    </dgm:pt>
    <dgm:pt modelId="{3797BDE8-77BF-419B-B66A-33D7B13BC58B}" type="pres">
      <dgm:prSet presAssocID="{45115BD7-530E-4A7E-84D7-34A2F66BEA8C}" presName="spaceRect" presStyleCnt="0"/>
      <dgm:spPr/>
    </dgm:pt>
    <dgm:pt modelId="{DFB2AB93-BE08-4E18-B5FF-7E4F18FAD7F8}" type="pres">
      <dgm:prSet presAssocID="{45115BD7-530E-4A7E-84D7-34A2F66BEA8C}" presName="textRect" presStyleLbl="revTx" presStyleIdx="0" presStyleCnt="3">
        <dgm:presLayoutVars>
          <dgm:chMax val="1"/>
          <dgm:chPref val="1"/>
        </dgm:presLayoutVars>
      </dgm:prSet>
      <dgm:spPr/>
    </dgm:pt>
    <dgm:pt modelId="{3437DC7B-84AA-46FB-9D74-0EE4397EFD4A}" type="pres">
      <dgm:prSet presAssocID="{D5B497C6-653F-4B4E-B96C-7FBBD1E1F391}" presName="sibTrans" presStyleCnt="0"/>
      <dgm:spPr/>
    </dgm:pt>
    <dgm:pt modelId="{17444D06-515E-4038-B5CB-5544E4353099}" type="pres">
      <dgm:prSet presAssocID="{3BDB433A-192D-4BC2-8712-1DE2A598CA48}" presName="compNode" presStyleCnt="0"/>
      <dgm:spPr/>
    </dgm:pt>
    <dgm:pt modelId="{13E497A3-D151-4A81-A6B5-62035FB1FF22}" type="pres">
      <dgm:prSet presAssocID="{3BDB433A-192D-4BC2-8712-1DE2A598CA48}" presName="iconBgRect" presStyleLbl="bgShp" presStyleIdx="1" presStyleCnt="3"/>
      <dgm:spPr/>
    </dgm:pt>
    <dgm:pt modelId="{C18CA58B-A4D4-4F19-BE5C-2A5CC025BB4E}" type="pres">
      <dgm:prSet presAssocID="{3BDB433A-192D-4BC2-8712-1DE2A598CA4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ur"/>
        </a:ext>
      </dgm:extLst>
    </dgm:pt>
    <dgm:pt modelId="{E188E3F4-85F0-4820-BF62-BA61ED00AC11}" type="pres">
      <dgm:prSet presAssocID="{3BDB433A-192D-4BC2-8712-1DE2A598CA48}" presName="spaceRect" presStyleCnt="0"/>
      <dgm:spPr/>
    </dgm:pt>
    <dgm:pt modelId="{1B1F42A7-23ED-480C-B027-B506F02AA51D}" type="pres">
      <dgm:prSet presAssocID="{3BDB433A-192D-4BC2-8712-1DE2A598CA48}" presName="textRect" presStyleLbl="revTx" presStyleIdx="1" presStyleCnt="3">
        <dgm:presLayoutVars>
          <dgm:chMax val="1"/>
          <dgm:chPref val="1"/>
        </dgm:presLayoutVars>
      </dgm:prSet>
      <dgm:spPr/>
    </dgm:pt>
    <dgm:pt modelId="{BA82A7A5-209F-4BE2-8231-C6D65EDC24CD}" type="pres">
      <dgm:prSet presAssocID="{1BB7E561-DC61-4105-8524-AB51FFEFDD74}" presName="sibTrans" presStyleCnt="0"/>
      <dgm:spPr/>
    </dgm:pt>
    <dgm:pt modelId="{23C5F31A-799E-45FC-9DFC-1B9F215CDDA2}" type="pres">
      <dgm:prSet presAssocID="{2E1C5265-AADB-4B6D-B766-D83C0B0376FE}" presName="compNode" presStyleCnt="0"/>
      <dgm:spPr/>
    </dgm:pt>
    <dgm:pt modelId="{CFA17329-47EC-48D2-855B-DC9BA7FB70F2}" type="pres">
      <dgm:prSet presAssocID="{2E1C5265-AADB-4B6D-B766-D83C0B0376FE}" presName="iconBgRect" presStyleLbl="bgShp" presStyleIdx="2" presStyleCnt="3"/>
      <dgm:spPr/>
    </dgm:pt>
    <dgm:pt modelId="{B9783516-7013-4CB8-BF1C-EBCE82626FED}" type="pres">
      <dgm:prSet presAssocID="{2E1C5265-AADB-4B6D-B766-D83C0B0376F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ous-titres"/>
        </a:ext>
      </dgm:extLst>
    </dgm:pt>
    <dgm:pt modelId="{D31F94FC-558D-41B5-A574-1A7A410A5AF0}" type="pres">
      <dgm:prSet presAssocID="{2E1C5265-AADB-4B6D-B766-D83C0B0376FE}" presName="spaceRect" presStyleCnt="0"/>
      <dgm:spPr/>
    </dgm:pt>
    <dgm:pt modelId="{D230F57A-BF56-406C-89C9-2502016913EB}" type="pres">
      <dgm:prSet presAssocID="{2E1C5265-AADB-4B6D-B766-D83C0B0376FE}" presName="textRect" presStyleLbl="revTx" presStyleIdx="2" presStyleCnt="3">
        <dgm:presLayoutVars>
          <dgm:chMax val="1"/>
          <dgm:chPref val="1"/>
        </dgm:presLayoutVars>
      </dgm:prSet>
      <dgm:spPr/>
    </dgm:pt>
  </dgm:ptLst>
  <dgm:cxnLst>
    <dgm:cxn modelId="{E335F611-3CF2-47DB-8792-212D84E53578}" type="presOf" srcId="{2E1C5265-AADB-4B6D-B766-D83C0B0376FE}" destId="{D230F57A-BF56-406C-89C9-2502016913EB}" srcOrd="0" destOrd="0" presId="urn:microsoft.com/office/officeart/2018/5/layout/IconCircleLabelList"/>
    <dgm:cxn modelId="{CC83F94E-F3DC-4776-B2AF-87D7B6D92734}" type="presOf" srcId="{45115BD7-530E-4A7E-84D7-34A2F66BEA8C}" destId="{DFB2AB93-BE08-4E18-B5FF-7E4F18FAD7F8}" srcOrd="0" destOrd="0" presId="urn:microsoft.com/office/officeart/2018/5/layout/IconCircleLabelList"/>
    <dgm:cxn modelId="{AE761F50-7874-4A68-91D6-27B7919FA4EB}" srcId="{B0D8F850-98CD-47B6-8A30-DB5D62679067}" destId="{2E1C5265-AADB-4B6D-B766-D83C0B0376FE}" srcOrd="2" destOrd="0" parTransId="{93A520D1-3904-4C8E-897B-FC464955B4A3}" sibTransId="{3D106585-55EF-4D5C-911E-5C53358B8958}"/>
    <dgm:cxn modelId="{AA6FBA93-0B6C-4B44-B428-D5EBFEB28624}" srcId="{B0D8F850-98CD-47B6-8A30-DB5D62679067}" destId="{45115BD7-530E-4A7E-84D7-34A2F66BEA8C}" srcOrd="0" destOrd="0" parTransId="{3DAF8F90-22B5-415E-96D0-42C150805530}" sibTransId="{D5B497C6-653F-4B4E-B96C-7FBBD1E1F391}"/>
    <dgm:cxn modelId="{B122F9CA-7D90-46EE-859A-DC0A7A2EAB27}" srcId="{B0D8F850-98CD-47B6-8A30-DB5D62679067}" destId="{3BDB433A-192D-4BC2-8712-1DE2A598CA48}" srcOrd="1" destOrd="0" parTransId="{7450EF20-92D9-4345-BD5D-7C732A36BB93}" sibTransId="{1BB7E561-DC61-4105-8524-AB51FFEFDD74}"/>
    <dgm:cxn modelId="{9AF1BDDB-D74B-4166-A09A-4E3F2427FC2E}" type="presOf" srcId="{3BDB433A-192D-4BC2-8712-1DE2A598CA48}" destId="{1B1F42A7-23ED-480C-B027-B506F02AA51D}" srcOrd="0" destOrd="0" presId="urn:microsoft.com/office/officeart/2018/5/layout/IconCircleLabelList"/>
    <dgm:cxn modelId="{400DDDED-0B96-46CB-8156-AC68C36E7202}" type="presOf" srcId="{B0D8F850-98CD-47B6-8A30-DB5D62679067}" destId="{01C080B8-3A67-4CA0-9124-0D9B1F817A90}" srcOrd="0" destOrd="0" presId="urn:microsoft.com/office/officeart/2018/5/layout/IconCircleLabelList"/>
    <dgm:cxn modelId="{4C51CDB3-1F5F-4645-9095-A19B89FBB69B}" type="presParOf" srcId="{01C080B8-3A67-4CA0-9124-0D9B1F817A90}" destId="{5A580C6A-B864-43FD-9F64-CCC4FA56F5BF}" srcOrd="0" destOrd="0" presId="urn:microsoft.com/office/officeart/2018/5/layout/IconCircleLabelList"/>
    <dgm:cxn modelId="{600113C4-7580-4C66-8754-487595B00FB9}" type="presParOf" srcId="{5A580C6A-B864-43FD-9F64-CCC4FA56F5BF}" destId="{742A08F4-7C3A-4A54-A9E5-62F3FA3963CC}" srcOrd="0" destOrd="0" presId="urn:microsoft.com/office/officeart/2018/5/layout/IconCircleLabelList"/>
    <dgm:cxn modelId="{601424E2-CAD0-4756-B76F-8CB2A5FEEE32}" type="presParOf" srcId="{5A580C6A-B864-43FD-9F64-CCC4FA56F5BF}" destId="{050849D6-A400-4327-B23B-8BAFF259F8B4}" srcOrd="1" destOrd="0" presId="urn:microsoft.com/office/officeart/2018/5/layout/IconCircleLabelList"/>
    <dgm:cxn modelId="{A4ED8924-780A-4E15-968A-3B42784FED5E}" type="presParOf" srcId="{5A580C6A-B864-43FD-9F64-CCC4FA56F5BF}" destId="{3797BDE8-77BF-419B-B66A-33D7B13BC58B}" srcOrd="2" destOrd="0" presId="urn:microsoft.com/office/officeart/2018/5/layout/IconCircleLabelList"/>
    <dgm:cxn modelId="{089C7F69-0F6D-45C4-A322-75A237E9EE63}" type="presParOf" srcId="{5A580C6A-B864-43FD-9F64-CCC4FA56F5BF}" destId="{DFB2AB93-BE08-4E18-B5FF-7E4F18FAD7F8}" srcOrd="3" destOrd="0" presId="urn:microsoft.com/office/officeart/2018/5/layout/IconCircleLabelList"/>
    <dgm:cxn modelId="{9B4BDE78-003F-486F-8F02-DF0FAB6E705B}" type="presParOf" srcId="{01C080B8-3A67-4CA0-9124-0D9B1F817A90}" destId="{3437DC7B-84AA-46FB-9D74-0EE4397EFD4A}" srcOrd="1" destOrd="0" presId="urn:microsoft.com/office/officeart/2018/5/layout/IconCircleLabelList"/>
    <dgm:cxn modelId="{DF52F08B-905E-49B2-B96C-651ED8AF7E80}" type="presParOf" srcId="{01C080B8-3A67-4CA0-9124-0D9B1F817A90}" destId="{17444D06-515E-4038-B5CB-5544E4353099}" srcOrd="2" destOrd="0" presId="urn:microsoft.com/office/officeart/2018/5/layout/IconCircleLabelList"/>
    <dgm:cxn modelId="{90B67980-2EFA-41EF-9795-180D8D2035BE}" type="presParOf" srcId="{17444D06-515E-4038-B5CB-5544E4353099}" destId="{13E497A3-D151-4A81-A6B5-62035FB1FF22}" srcOrd="0" destOrd="0" presId="urn:microsoft.com/office/officeart/2018/5/layout/IconCircleLabelList"/>
    <dgm:cxn modelId="{2BBD364E-E12E-44FA-B6F3-94E62DDBA21B}" type="presParOf" srcId="{17444D06-515E-4038-B5CB-5544E4353099}" destId="{C18CA58B-A4D4-4F19-BE5C-2A5CC025BB4E}" srcOrd="1" destOrd="0" presId="urn:microsoft.com/office/officeart/2018/5/layout/IconCircleLabelList"/>
    <dgm:cxn modelId="{6A1C345F-CFA6-4E8B-99EC-F8572062D3BE}" type="presParOf" srcId="{17444D06-515E-4038-B5CB-5544E4353099}" destId="{E188E3F4-85F0-4820-BF62-BA61ED00AC11}" srcOrd="2" destOrd="0" presId="urn:microsoft.com/office/officeart/2018/5/layout/IconCircleLabelList"/>
    <dgm:cxn modelId="{D7EA5FDA-1412-42F8-8656-C6CE7023F3F7}" type="presParOf" srcId="{17444D06-515E-4038-B5CB-5544E4353099}" destId="{1B1F42A7-23ED-480C-B027-B506F02AA51D}" srcOrd="3" destOrd="0" presId="urn:microsoft.com/office/officeart/2018/5/layout/IconCircleLabelList"/>
    <dgm:cxn modelId="{5CD842BC-A445-43A8-AAC7-8A13A63512B8}" type="presParOf" srcId="{01C080B8-3A67-4CA0-9124-0D9B1F817A90}" destId="{BA82A7A5-209F-4BE2-8231-C6D65EDC24CD}" srcOrd="3" destOrd="0" presId="urn:microsoft.com/office/officeart/2018/5/layout/IconCircleLabelList"/>
    <dgm:cxn modelId="{ABA41C8E-7673-47AA-AD63-0737E62826B4}" type="presParOf" srcId="{01C080B8-3A67-4CA0-9124-0D9B1F817A90}" destId="{23C5F31A-799E-45FC-9DFC-1B9F215CDDA2}" srcOrd="4" destOrd="0" presId="urn:microsoft.com/office/officeart/2018/5/layout/IconCircleLabelList"/>
    <dgm:cxn modelId="{631F1EEF-965A-415E-929A-44D671AF8B42}" type="presParOf" srcId="{23C5F31A-799E-45FC-9DFC-1B9F215CDDA2}" destId="{CFA17329-47EC-48D2-855B-DC9BA7FB70F2}" srcOrd="0" destOrd="0" presId="urn:microsoft.com/office/officeart/2018/5/layout/IconCircleLabelList"/>
    <dgm:cxn modelId="{D298AB6F-9DA7-46DE-A08E-3B28770613B9}" type="presParOf" srcId="{23C5F31A-799E-45FC-9DFC-1B9F215CDDA2}" destId="{B9783516-7013-4CB8-BF1C-EBCE82626FED}" srcOrd="1" destOrd="0" presId="urn:microsoft.com/office/officeart/2018/5/layout/IconCircleLabelList"/>
    <dgm:cxn modelId="{1EB9BBF2-4AD6-46B6-BB9C-5662714BAB25}" type="presParOf" srcId="{23C5F31A-799E-45FC-9DFC-1B9F215CDDA2}" destId="{D31F94FC-558D-41B5-A574-1A7A410A5AF0}" srcOrd="2" destOrd="0" presId="urn:microsoft.com/office/officeart/2018/5/layout/IconCircleLabelList"/>
    <dgm:cxn modelId="{39BA57F1-D0EA-410E-BBAC-A89CCB9E3F57}" type="presParOf" srcId="{23C5F31A-799E-45FC-9DFC-1B9F215CDDA2}" destId="{D230F57A-BF56-406C-89C9-2502016913E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D378C4F-AF18-4728-98AD-D54D552BFB6C}" type="doc">
      <dgm:prSet loTypeId="urn:microsoft.com/office/officeart/2005/8/layout/vProcess5" loCatId="process" qsTypeId="urn:microsoft.com/office/officeart/2005/8/quickstyle/simple1#14" qsCatId="simple" csTypeId="urn:microsoft.com/office/officeart/2005/8/colors/colorful2#4" csCatId="colorful" phldr="1"/>
      <dgm:spPr/>
      <dgm:t>
        <a:bodyPr/>
        <a:lstStyle/>
        <a:p>
          <a:endParaRPr lang="en-US"/>
        </a:p>
      </dgm:t>
    </dgm:pt>
    <dgm:pt modelId="{276682C4-74E7-41F3-95AC-4F32FEA05DCD}">
      <dgm:prSet/>
      <dgm:spPr/>
      <dgm:t>
        <a:bodyPr/>
        <a:lstStyle/>
        <a:p>
          <a:r>
            <a:rPr lang="fr-FR"/>
            <a:t>La fonctionnalité « rester connecté » : un cookie longue durée, séparé de la session</a:t>
          </a:r>
          <a:endParaRPr lang="en-US"/>
        </a:p>
      </dgm:t>
    </dgm:pt>
    <dgm:pt modelId="{E1BEB8C5-F972-418A-9279-0ECF124F1E14}" type="parTrans" cxnId="{14B0AE23-8608-4933-80CC-7E931BFAA274}">
      <dgm:prSet/>
      <dgm:spPr/>
      <dgm:t>
        <a:bodyPr/>
        <a:lstStyle/>
        <a:p>
          <a:endParaRPr lang="en-US"/>
        </a:p>
      </dgm:t>
    </dgm:pt>
    <dgm:pt modelId="{E7C47A09-8924-430F-A133-D11EDC1507E3}" type="sibTrans" cxnId="{14B0AE23-8608-4933-80CC-7E931BFAA274}">
      <dgm:prSet/>
      <dgm:spPr/>
      <dgm:t>
        <a:bodyPr/>
        <a:lstStyle/>
        <a:p>
          <a:endParaRPr lang="en-US"/>
        </a:p>
      </dgm:t>
    </dgm:pt>
    <dgm:pt modelId="{696B43A2-3AE4-4A59-A3CC-F17ECDB8AD69}">
      <dgm:prSet/>
      <dgm:spPr/>
      <dgm:t>
        <a:bodyPr/>
        <a:lstStyle/>
        <a:p>
          <a:r>
            <a:rPr lang="fr-FR" dirty="0"/>
            <a:t>Si fait maison : </a:t>
          </a:r>
          <a:r>
            <a:rPr lang="fr-FR" dirty="0" err="1"/>
            <a:t>token</a:t>
          </a:r>
          <a:r>
            <a:rPr lang="fr-FR" dirty="0"/>
            <a:t> statique facilement réutilisable en cas de vol</a:t>
          </a:r>
          <a:endParaRPr lang="en-US" dirty="0"/>
        </a:p>
      </dgm:t>
    </dgm:pt>
    <dgm:pt modelId="{81A7465E-6D86-422F-994D-38AEC420750F}" type="parTrans" cxnId="{883A3156-7DE2-41F7-BC9E-0ADD237CC6D5}">
      <dgm:prSet/>
      <dgm:spPr/>
      <dgm:t>
        <a:bodyPr/>
        <a:lstStyle/>
        <a:p>
          <a:endParaRPr lang="en-US"/>
        </a:p>
      </dgm:t>
    </dgm:pt>
    <dgm:pt modelId="{3FA38F83-FC50-4E2A-9BCD-CA144C66CDE3}" type="sibTrans" cxnId="{883A3156-7DE2-41F7-BC9E-0ADD237CC6D5}">
      <dgm:prSet/>
      <dgm:spPr/>
      <dgm:t>
        <a:bodyPr/>
        <a:lstStyle/>
        <a:p>
          <a:endParaRPr lang="en-US"/>
        </a:p>
      </dgm:t>
    </dgm:pt>
    <dgm:pt modelId="{C2078A84-3726-4A4B-851C-7ACCC0298C7D}">
      <dgm:prSet/>
      <dgm:spPr/>
      <dgm:t>
        <a:bodyPr/>
        <a:lstStyle/>
        <a:p>
          <a:pPr>
            <a:buNone/>
          </a:pPr>
          <a:r>
            <a:rPr lang="fr-FR" dirty="0"/>
            <a:t>Symfony : rotation de </a:t>
          </a:r>
          <a:r>
            <a:rPr lang="fr-FR" dirty="0" err="1"/>
            <a:t>token</a:t>
          </a:r>
          <a:r>
            <a:rPr lang="fr-FR" dirty="0"/>
            <a:t> à chaque utilisation</a:t>
          </a:r>
          <a:endParaRPr lang="en-US" dirty="0"/>
        </a:p>
      </dgm:t>
    </dgm:pt>
    <dgm:pt modelId="{121F04F9-FC47-4EDA-867D-2DE278B381EA}" type="parTrans" cxnId="{D287CCD9-15B7-4615-A3B5-7C56B6DAFC23}">
      <dgm:prSet/>
      <dgm:spPr/>
      <dgm:t>
        <a:bodyPr/>
        <a:lstStyle/>
        <a:p>
          <a:endParaRPr lang="en-US"/>
        </a:p>
      </dgm:t>
    </dgm:pt>
    <dgm:pt modelId="{A91451B3-8C80-4723-AEC9-C3BC352C4132}" type="sibTrans" cxnId="{D287CCD9-15B7-4615-A3B5-7C56B6DAFC23}">
      <dgm:prSet/>
      <dgm:spPr/>
      <dgm:t>
        <a:bodyPr/>
        <a:lstStyle/>
        <a:p>
          <a:endParaRPr lang="en-US"/>
        </a:p>
      </dgm:t>
    </dgm:pt>
    <dgm:pt modelId="{64A87F87-A079-4A6C-8A1E-2764B269E962}">
      <dgm:prSet/>
      <dgm:spPr/>
      <dgm:t>
        <a:bodyPr/>
        <a:lstStyle/>
        <a:p>
          <a:pPr>
            <a:buNone/>
          </a:pPr>
          <a:r>
            <a:rPr lang="fr-FR" dirty="0"/>
            <a:t>Configuration dans </a:t>
          </a:r>
          <a:r>
            <a:rPr lang="fr-FR" b="1" dirty="0" err="1"/>
            <a:t>security.yaml</a:t>
          </a:r>
          <a:r>
            <a:rPr lang="fr-FR" b="1" dirty="0"/>
            <a:t>, </a:t>
          </a:r>
          <a:r>
            <a:rPr lang="fr-FR" dirty="0"/>
            <a:t>tout est</a:t>
          </a:r>
          <a:endParaRPr lang="en-US" dirty="0"/>
        </a:p>
      </dgm:t>
    </dgm:pt>
    <dgm:pt modelId="{01945FAE-7452-4CFA-8786-68AAA834F2B4}" type="parTrans" cxnId="{C6D9013E-D625-4747-84FD-E7CAD60245E7}">
      <dgm:prSet/>
      <dgm:spPr/>
      <dgm:t>
        <a:bodyPr/>
        <a:lstStyle/>
        <a:p>
          <a:endParaRPr lang="en-US"/>
        </a:p>
      </dgm:t>
    </dgm:pt>
    <dgm:pt modelId="{59ECB7BA-4E41-43E1-BAE1-5A6F0A084CD2}" type="sibTrans" cxnId="{C6D9013E-D625-4747-84FD-E7CAD60245E7}">
      <dgm:prSet/>
      <dgm:spPr/>
      <dgm:t>
        <a:bodyPr/>
        <a:lstStyle/>
        <a:p>
          <a:endParaRPr lang="en-US"/>
        </a:p>
      </dgm:t>
    </dgm:pt>
    <dgm:pt modelId="{32F38A52-F7A7-4275-AF92-B4554C3DFAEA}" type="pres">
      <dgm:prSet presAssocID="{BD378C4F-AF18-4728-98AD-D54D552BFB6C}" presName="outerComposite" presStyleCnt="0">
        <dgm:presLayoutVars>
          <dgm:chMax val="5"/>
          <dgm:dir/>
          <dgm:resizeHandles val="exact"/>
        </dgm:presLayoutVars>
      </dgm:prSet>
      <dgm:spPr/>
    </dgm:pt>
    <dgm:pt modelId="{C2FAE2CF-8456-4C5C-BB6E-02419659E76A}" type="pres">
      <dgm:prSet presAssocID="{BD378C4F-AF18-4728-98AD-D54D552BFB6C}" presName="dummyMaxCanvas" presStyleCnt="0">
        <dgm:presLayoutVars/>
      </dgm:prSet>
      <dgm:spPr/>
    </dgm:pt>
    <dgm:pt modelId="{2C0FF8F6-80B2-4A35-8B83-AF187DF3BC3B}" type="pres">
      <dgm:prSet presAssocID="{BD378C4F-AF18-4728-98AD-D54D552BFB6C}" presName="ThreeNodes_1" presStyleLbl="node1" presStyleIdx="0" presStyleCnt="3">
        <dgm:presLayoutVars>
          <dgm:bulletEnabled val="1"/>
        </dgm:presLayoutVars>
      </dgm:prSet>
      <dgm:spPr/>
    </dgm:pt>
    <dgm:pt modelId="{D276E4FF-5EEA-456E-BB84-87032EE00433}" type="pres">
      <dgm:prSet presAssocID="{BD378C4F-AF18-4728-98AD-D54D552BFB6C}" presName="ThreeNodes_2" presStyleLbl="node1" presStyleIdx="1" presStyleCnt="3">
        <dgm:presLayoutVars>
          <dgm:bulletEnabled val="1"/>
        </dgm:presLayoutVars>
      </dgm:prSet>
      <dgm:spPr/>
    </dgm:pt>
    <dgm:pt modelId="{0FF79CF0-6E99-42D7-BD08-56866652E9F9}" type="pres">
      <dgm:prSet presAssocID="{BD378C4F-AF18-4728-98AD-D54D552BFB6C}" presName="ThreeNodes_3" presStyleLbl="node1" presStyleIdx="2" presStyleCnt="3">
        <dgm:presLayoutVars>
          <dgm:bulletEnabled val="1"/>
        </dgm:presLayoutVars>
      </dgm:prSet>
      <dgm:spPr/>
    </dgm:pt>
    <dgm:pt modelId="{3E67A96E-3468-4311-B507-FF80A6068D19}" type="pres">
      <dgm:prSet presAssocID="{BD378C4F-AF18-4728-98AD-D54D552BFB6C}" presName="ThreeConn_1-2" presStyleLbl="fgAccFollowNode1" presStyleIdx="0" presStyleCnt="2">
        <dgm:presLayoutVars>
          <dgm:bulletEnabled val="1"/>
        </dgm:presLayoutVars>
      </dgm:prSet>
      <dgm:spPr/>
    </dgm:pt>
    <dgm:pt modelId="{C75BF1F1-8729-45FF-B83A-9EFEEBA202B6}" type="pres">
      <dgm:prSet presAssocID="{BD378C4F-AF18-4728-98AD-D54D552BFB6C}" presName="ThreeConn_2-3" presStyleLbl="fgAccFollowNode1" presStyleIdx="1" presStyleCnt="2">
        <dgm:presLayoutVars>
          <dgm:bulletEnabled val="1"/>
        </dgm:presLayoutVars>
      </dgm:prSet>
      <dgm:spPr/>
    </dgm:pt>
    <dgm:pt modelId="{61D0C4F2-8DBD-45AD-9971-5466537A3517}" type="pres">
      <dgm:prSet presAssocID="{BD378C4F-AF18-4728-98AD-D54D552BFB6C}" presName="ThreeNodes_1_text" presStyleLbl="node1" presStyleIdx="2" presStyleCnt="3">
        <dgm:presLayoutVars>
          <dgm:bulletEnabled val="1"/>
        </dgm:presLayoutVars>
      </dgm:prSet>
      <dgm:spPr/>
    </dgm:pt>
    <dgm:pt modelId="{1913DECF-E6B1-4562-A85B-2B686C65ED86}" type="pres">
      <dgm:prSet presAssocID="{BD378C4F-AF18-4728-98AD-D54D552BFB6C}" presName="ThreeNodes_2_text" presStyleLbl="node1" presStyleIdx="2" presStyleCnt="3">
        <dgm:presLayoutVars>
          <dgm:bulletEnabled val="1"/>
        </dgm:presLayoutVars>
      </dgm:prSet>
      <dgm:spPr/>
    </dgm:pt>
    <dgm:pt modelId="{695BF816-FDC8-4EDE-B797-B0D3C6A61257}" type="pres">
      <dgm:prSet presAssocID="{BD378C4F-AF18-4728-98AD-D54D552BFB6C}" presName="ThreeNodes_3_text" presStyleLbl="node1" presStyleIdx="2" presStyleCnt="3">
        <dgm:presLayoutVars>
          <dgm:bulletEnabled val="1"/>
        </dgm:presLayoutVars>
      </dgm:prSet>
      <dgm:spPr/>
    </dgm:pt>
  </dgm:ptLst>
  <dgm:cxnLst>
    <dgm:cxn modelId="{8F7BA508-E1CD-4F8A-9717-FA7B211F8557}" type="presOf" srcId="{3FA38F83-FC50-4E2A-9BCD-CA144C66CDE3}" destId="{C75BF1F1-8729-45FF-B83A-9EFEEBA202B6}" srcOrd="0" destOrd="0" presId="urn:microsoft.com/office/officeart/2005/8/layout/vProcess5"/>
    <dgm:cxn modelId="{4F464A0A-E40D-425F-B9E8-0366DE70AF2B}" type="presOf" srcId="{696B43A2-3AE4-4A59-A3CC-F17ECDB8AD69}" destId="{D276E4FF-5EEA-456E-BB84-87032EE00433}" srcOrd="0" destOrd="0" presId="urn:microsoft.com/office/officeart/2005/8/layout/vProcess5"/>
    <dgm:cxn modelId="{87FFFB0B-9579-4693-B03B-1E002CE0934C}" type="presOf" srcId="{C2078A84-3726-4A4B-851C-7ACCC0298C7D}" destId="{695BF816-FDC8-4EDE-B797-B0D3C6A61257}" srcOrd="1" destOrd="0" presId="urn:microsoft.com/office/officeart/2005/8/layout/vProcess5"/>
    <dgm:cxn modelId="{14B0AE23-8608-4933-80CC-7E931BFAA274}" srcId="{BD378C4F-AF18-4728-98AD-D54D552BFB6C}" destId="{276682C4-74E7-41F3-95AC-4F32FEA05DCD}" srcOrd="0" destOrd="0" parTransId="{E1BEB8C5-F972-418A-9279-0ECF124F1E14}" sibTransId="{E7C47A09-8924-430F-A133-D11EDC1507E3}"/>
    <dgm:cxn modelId="{CF2A6835-DDE6-493D-BC7B-00707D56317E}" type="presOf" srcId="{E7C47A09-8924-430F-A133-D11EDC1507E3}" destId="{3E67A96E-3468-4311-B507-FF80A6068D19}" srcOrd="0" destOrd="0" presId="urn:microsoft.com/office/officeart/2005/8/layout/vProcess5"/>
    <dgm:cxn modelId="{C6D9013E-D625-4747-84FD-E7CAD60245E7}" srcId="{C2078A84-3726-4A4B-851C-7ACCC0298C7D}" destId="{64A87F87-A079-4A6C-8A1E-2764B269E962}" srcOrd="0" destOrd="0" parTransId="{01945FAE-7452-4CFA-8786-68AAA834F2B4}" sibTransId="{59ECB7BA-4E41-43E1-BAE1-5A6F0A084CD2}"/>
    <dgm:cxn modelId="{DB320070-6EE6-4158-B2A3-4C718B7C572F}" type="presOf" srcId="{64A87F87-A079-4A6C-8A1E-2764B269E962}" destId="{0FF79CF0-6E99-42D7-BD08-56866652E9F9}" srcOrd="0" destOrd="1" presId="urn:microsoft.com/office/officeart/2005/8/layout/vProcess5"/>
    <dgm:cxn modelId="{883A3156-7DE2-41F7-BC9E-0ADD237CC6D5}" srcId="{BD378C4F-AF18-4728-98AD-D54D552BFB6C}" destId="{696B43A2-3AE4-4A59-A3CC-F17ECDB8AD69}" srcOrd="1" destOrd="0" parTransId="{81A7465E-6D86-422F-994D-38AEC420750F}" sibTransId="{3FA38F83-FC50-4E2A-9BCD-CA144C66CDE3}"/>
    <dgm:cxn modelId="{A3B4A558-2376-453E-8FE6-E1073ADB0286}" type="presOf" srcId="{C2078A84-3726-4A4B-851C-7ACCC0298C7D}" destId="{0FF79CF0-6E99-42D7-BD08-56866652E9F9}" srcOrd="0" destOrd="0" presId="urn:microsoft.com/office/officeart/2005/8/layout/vProcess5"/>
    <dgm:cxn modelId="{C0ECAD79-1D76-470F-BB6E-0B5669AAD6FC}" type="presOf" srcId="{696B43A2-3AE4-4A59-A3CC-F17ECDB8AD69}" destId="{1913DECF-E6B1-4562-A85B-2B686C65ED86}" srcOrd="1" destOrd="0" presId="urn:microsoft.com/office/officeart/2005/8/layout/vProcess5"/>
    <dgm:cxn modelId="{340D767D-4E75-4E3C-9D2B-B742A4658744}" type="presOf" srcId="{276682C4-74E7-41F3-95AC-4F32FEA05DCD}" destId="{61D0C4F2-8DBD-45AD-9971-5466537A3517}" srcOrd="1" destOrd="0" presId="urn:microsoft.com/office/officeart/2005/8/layout/vProcess5"/>
    <dgm:cxn modelId="{9236A7BA-0CF9-48FC-BD56-C859058C6C66}" type="presOf" srcId="{BD378C4F-AF18-4728-98AD-D54D552BFB6C}" destId="{32F38A52-F7A7-4275-AF92-B4554C3DFAEA}" srcOrd="0" destOrd="0" presId="urn:microsoft.com/office/officeart/2005/8/layout/vProcess5"/>
    <dgm:cxn modelId="{D287CCD9-15B7-4615-A3B5-7C56B6DAFC23}" srcId="{BD378C4F-AF18-4728-98AD-D54D552BFB6C}" destId="{C2078A84-3726-4A4B-851C-7ACCC0298C7D}" srcOrd="2" destOrd="0" parTransId="{121F04F9-FC47-4EDA-867D-2DE278B381EA}" sibTransId="{A91451B3-8C80-4723-AEC9-C3BC352C4132}"/>
    <dgm:cxn modelId="{0669F7ED-73CA-478B-972A-4887386F0C8E}" type="presOf" srcId="{64A87F87-A079-4A6C-8A1E-2764B269E962}" destId="{695BF816-FDC8-4EDE-B797-B0D3C6A61257}" srcOrd="1" destOrd="1" presId="urn:microsoft.com/office/officeart/2005/8/layout/vProcess5"/>
    <dgm:cxn modelId="{EAE8CDF3-A483-4EE2-B2F6-C2D610D1FFA8}" type="presOf" srcId="{276682C4-74E7-41F3-95AC-4F32FEA05DCD}" destId="{2C0FF8F6-80B2-4A35-8B83-AF187DF3BC3B}" srcOrd="0" destOrd="0" presId="urn:microsoft.com/office/officeart/2005/8/layout/vProcess5"/>
    <dgm:cxn modelId="{7EEF313E-66FE-4089-9B06-6396F0FBFFEC}" type="presParOf" srcId="{32F38A52-F7A7-4275-AF92-B4554C3DFAEA}" destId="{C2FAE2CF-8456-4C5C-BB6E-02419659E76A}" srcOrd="0" destOrd="0" presId="urn:microsoft.com/office/officeart/2005/8/layout/vProcess5"/>
    <dgm:cxn modelId="{A6CF22D3-FDA0-4CC4-A5BD-1A1360BA48CF}" type="presParOf" srcId="{32F38A52-F7A7-4275-AF92-B4554C3DFAEA}" destId="{2C0FF8F6-80B2-4A35-8B83-AF187DF3BC3B}" srcOrd="1" destOrd="0" presId="urn:microsoft.com/office/officeart/2005/8/layout/vProcess5"/>
    <dgm:cxn modelId="{B36AFC8C-6B73-41E0-AC11-E1EF3AA45277}" type="presParOf" srcId="{32F38A52-F7A7-4275-AF92-B4554C3DFAEA}" destId="{D276E4FF-5EEA-456E-BB84-87032EE00433}" srcOrd="2" destOrd="0" presId="urn:microsoft.com/office/officeart/2005/8/layout/vProcess5"/>
    <dgm:cxn modelId="{33CFA245-7D52-4B83-AA0C-953E42A409BC}" type="presParOf" srcId="{32F38A52-F7A7-4275-AF92-B4554C3DFAEA}" destId="{0FF79CF0-6E99-42D7-BD08-56866652E9F9}" srcOrd="3" destOrd="0" presId="urn:microsoft.com/office/officeart/2005/8/layout/vProcess5"/>
    <dgm:cxn modelId="{461836B0-0E83-4239-A1C0-05E09C7C1969}" type="presParOf" srcId="{32F38A52-F7A7-4275-AF92-B4554C3DFAEA}" destId="{3E67A96E-3468-4311-B507-FF80A6068D19}" srcOrd="4" destOrd="0" presId="urn:microsoft.com/office/officeart/2005/8/layout/vProcess5"/>
    <dgm:cxn modelId="{F0645D71-46CB-4B0D-B6E3-F32AD4D26EFE}" type="presParOf" srcId="{32F38A52-F7A7-4275-AF92-B4554C3DFAEA}" destId="{C75BF1F1-8729-45FF-B83A-9EFEEBA202B6}" srcOrd="5" destOrd="0" presId="urn:microsoft.com/office/officeart/2005/8/layout/vProcess5"/>
    <dgm:cxn modelId="{48EABD84-ABC5-4D15-AFA5-A6585FA76285}" type="presParOf" srcId="{32F38A52-F7A7-4275-AF92-B4554C3DFAEA}" destId="{61D0C4F2-8DBD-45AD-9971-5466537A3517}" srcOrd="6" destOrd="0" presId="urn:microsoft.com/office/officeart/2005/8/layout/vProcess5"/>
    <dgm:cxn modelId="{F00DB2D9-FA58-4ACE-B8BF-92112CA76131}" type="presParOf" srcId="{32F38A52-F7A7-4275-AF92-B4554C3DFAEA}" destId="{1913DECF-E6B1-4562-A85B-2B686C65ED86}" srcOrd="7" destOrd="0" presId="urn:microsoft.com/office/officeart/2005/8/layout/vProcess5"/>
    <dgm:cxn modelId="{C9E7678D-62F6-4DE3-B442-C84B3438B40B}" type="presParOf" srcId="{32F38A52-F7A7-4275-AF92-B4554C3DFAEA}" destId="{695BF816-FDC8-4EDE-B797-B0D3C6A61257}"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27A67A7-E226-47AA-8043-B164B6186B50}" type="doc">
      <dgm:prSet loTypeId="urn:microsoft.com/office/officeart/2018/5/layout/IconCircleLabelList" loCatId="icon" qsTypeId="urn:microsoft.com/office/officeart/2005/8/quickstyle/simple1#30" qsCatId="simple" csTypeId="urn:microsoft.com/office/officeart/2018/5/colors/Iconchunking_neutralicon_colorful1" csCatId="colorful" phldr="1"/>
      <dgm:spPr/>
      <dgm:t>
        <a:bodyPr/>
        <a:lstStyle/>
        <a:p>
          <a:endParaRPr lang="en-US"/>
        </a:p>
      </dgm:t>
    </dgm:pt>
    <dgm:pt modelId="{F8CF5FFA-F229-4B94-95F9-963B9EBC1CA2}">
      <dgm:prSet/>
      <dgm:spPr/>
      <dgm:t>
        <a:bodyPr/>
        <a:lstStyle/>
        <a:p>
          <a:pPr>
            <a:defRPr cap="all"/>
          </a:pPr>
          <a:r>
            <a:rPr lang="fr-FR"/>
            <a:t>Failles potentielles</a:t>
          </a:r>
          <a:endParaRPr lang="en-US"/>
        </a:p>
      </dgm:t>
    </dgm:pt>
    <dgm:pt modelId="{0BD7BDB4-E7FA-4CBF-82CF-703A271B49DC}" type="parTrans" cxnId="{83592532-6177-457B-A589-E7661239F1F7}">
      <dgm:prSet/>
      <dgm:spPr/>
      <dgm:t>
        <a:bodyPr/>
        <a:lstStyle/>
        <a:p>
          <a:endParaRPr lang="en-US"/>
        </a:p>
      </dgm:t>
    </dgm:pt>
    <dgm:pt modelId="{9BBB898A-72E2-4296-9672-7833834639FF}" type="sibTrans" cxnId="{83592532-6177-457B-A589-E7661239F1F7}">
      <dgm:prSet/>
      <dgm:spPr/>
      <dgm:t>
        <a:bodyPr/>
        <a:lstStyle/>
        <a:p>
          <a:endParaRPr lang="en-US"/>
        </a:p>
      </dgm:t>
    </dgm:pt>
    <dgm:pt modelId="{93E829F7-8B92-4F5E-95F2-BF9056659861}">
      <dgm:prSet/>
      <dgm:spPr/>
      <dgm:t>
        <a:bodyPr/>
        <a:lstStyle/>
        <a:p>
          <a:pPr>
            <a:defRPr cap="all"/>
          </a:pPr>
          <a:r>
            <a:rPr lang="fr-FR"/>
            <a:t>Injection SQL</a:t>
          </a:r>
          <a:endParaRPr lang="en-US"/>
        </a:p>
      </dgm:t>
    </dgm:pt>
    <dgm:pt modelId="{7C44BD44-45B4-474D-9A17-75B2B5ADA58B}" type="parTrans" cxnId="{A78FAA51-E6D7-4D7E-993B-16D2B15D2A43}">
      <dgm:prSet/>
      <dgm:spPr/>
      <dgm:t>
        <a:bodyPr/>
        <a:lstStyle/>
        <a:p>
          <a:endParaRPr lang="en-US"/>
        </a:p>
      </dgm:t>
    </dgm:pt>
    <dgm:pt modelId="{E190DE74-1C35-4BBA-8935-8F6E28F04ACD}" type="sibTrans" cxnId="{A78FAA51-E6D7-4D7E-993B-16D2B15D2A43}">
      <dgm:prSet/>
      <dgm:spPr/>
      <dgm:t>
        <a:bodyPr/>
        <a:lstStyle/>
        <a:p>
          <a:endParaRPr lang="en-US"/>
        </a:p>
      </dgm:t>
    </dgm:pt>
    <dgm:pt modelId="{A393B23A-A7B0-4F30-A6E7-1C09D2D01720}">
      <dgm:prSet/>
      <dgm:spPr/>
      <dgm:t>
        <a:bodyPr/>
        <a:lstStyle/>
        <a:p>
          <a:pPr>
            <a:defRPr cap="all"/>
          </a:pPr>
          <a:r>
            <a:rPr lang="fr-FR"/>
            <a:t>Requêtes paramétrées et procédures stockées</a:t>
          </a:r>
          <a:endParaRPr lang="en-US"/>
        </a:p>
      </dgm:t>
    </dgm:pt>
    <dgm:pt modelId="{57112B4F-9FF9-408F-BB47-B617912E73F6}" type="parTrans" cxnId="{E44C7B51-86D2-4B8B-83A4-F257C8261473}">
      <dgm:prSet/>
      <dgm:spPr/>
      <dgm:t>
        <a:bodyPr/>
        <a:lstStyle/>
        <a:p>
          <a:endParaRPr lang="en-US"/>
        </a:p>
      </dgm:t>
    </dgm:pt>
    <dgm:pt modelId="{1D59D2DD-BC94-40D7-A824-04CCC9AAC2BA}" type="sibTrans" cxnId="{E44C7B51-86D2-4B8B-83A4-F257C8261473}">
      <dgm:prSet/>
      <dgm:spPr/>
      <dgm:t>
        <a:bodyPr/>
        <a:lstStyle/>
        <a:p>
          <a:endParaRPr lang="en-US"/>
        </a:p>
      </dgm:t>
    </dgm:pt>
    <dgm:pt modelId="{8D3E5991-ADAB-4FDF-8EF2-F7A476AFAA6B}">
      <dgm:prSet/>
      <dgm:spPr/>
      <dgm:t>
        <a:bodyPr/>
        <a:lstStyle/>
        <a:p>
          <a:pPr>
            <a:defRPr cap="all"/>
          </a:pPr>
          <a:r>
            <a:rPr lang="fr-FR"/>
            <a:t>Doctrine ORM &amp; QueryBuilder</a:t>
          </a:r>
          <a:endParaRPr lang="en-US"/>
        </a:p>
      </dgm:t>
    </dgm:pt>
    <dgm:pt modelId="{DD6F1015-FFD7-4B3E-A9D5-BBB5B3B7DB54}" type="parTrans" cxnId="{91F643A3-3944-4ED0-9FA3-D15BC9307BE3}">
      <dgm:prSet/>
      <dgm:spPr/>
      <dgm:t>
        <a:bodyPr/>
        <a:lstStyle/>
        <a:p>
          <a:endParaRPr lang="en-US"/>
        </a:p>
      </dgm:t>
    </dgm:pt>
    <dgm:pt modelId="{248649DD-929E-4894-8084-07B6DF9CCD4D}" type="sibTrans" cxnId="{91F643A3-3944-4ED0-9FA3-D15BC9307BE3}">
      <dgm:prSet/>
      <dgm:spPr/>
      <dgm:t>
        <a:bodyPr/>
        <a:lstStyle/>
        <a:p>
          <a:endParaRPr lang="en-US"/>
        </a:p>
      </dgm:t>
    </dgm:pt>
    <dgm:pt modelId="{F9DF785B-FFDF-4F2C-96DE-33FF8FDDDE01}">
      <dgm:prSet/>
      <dgm:spPr/>
      <dgm:t>
        <a:bodyPr/>
        <a:lstStyle/>
        <a:p>
          <a:pPr>
            <a:defRPr cap="all"/>
          </a:pPr>
          <a:r>
            <a:rPr lang="fr-FR"/>
            <a:t>Risques malgré l’ORM</a:t>
          </a:r>
          <a:endParaRPr lang="en-US"/>
        </a:p>
      </dgm:t>
    </dgm:pt>
    <dgm:pt modelId="{2D9B2AF0-F315-448B-AB99-5A29E3DA6231}" type="parTrans" cxnId="{3D843A5B-C8F3-40EE-8417-87143A58D9ED}">
      <dgm:prSet/>
      <dgm:spPr/>
      <dgm:t>
        <a:bodyPr/>
        <a:lstStyle/>
        <a:p>
          <a:endParaRPr lang="en-US"/>
        </a:p>
      </dgm:t>
    </dgm:pt>
    <dgm:pt modelId="{BBFE0433-8708-4D66-AF99-3379EA21C3B6}" type="sibTrans" cxnId="{3D843A5B-C8F3-40EE-8417-87143A58D9ED}">
      <dgm:prSet/>
      <dgm:spPr/>
      <dgm:t>
        <a:bodyPr/>
        <a:lstStyle/>
        <a:p>
          <a:endParaRPr lang="en-US"/>
        </a:p>
      </dgm:t>
    </dgm:pt>
    <dgm:pt modelId="{628A9B5B-E7F3-49C7-916C-125818AFEB20}" type="pres">
      <dgm:prSet presAssocID="{327A67A7-E226-47AA-8043-B164B6186B50}" presName="root" presStyleCnt="0">
        <dgm:presLayoutVars>
          <dgm:dir/>
          <dgm:resizeHandles val="exact"/>
        </dgm:presLayoutVars>
      </dgm:prSet>
      <dgm:spPr/>
    </dgm:pt>
    <dgm:pt modelId="{A80A26D2-A451-4B33-AD30-C47E4BFBFE7C}" type="pres">
      <dgm:prSet presAssocID="{F8CF5FFA-F229-4B94-95F9-963B9EBC1CA2}" presName="compNode" presStyleCnt="0"/>
      <dgm:spPr/>
    </dgm:pt>
    <dgm:pt modelId="{F1C54671-4F50-4E04-9FA4-1BAB81A5768C}" type="pres">
      <dgm:prSet presAssocID="{F8CF5FFA-F229-4B94-95F9-963B9EBC1CA2}" presName="iconBgRect" presStyleLbl="bgShp" presStyleIdx="0" presStyleCnt="5"/>
      <dgm:spPr/>
    </dgm:pt>
    <dgm:pt modelId="{4DE7E073-408D-4C5E-A444-C245F055138C}" type="pres">
      <dgm:prSet presAssocID="{F8CF5FFA-F229-4B94-95F9-963B9EBC1CA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vertissement"/>
        </a:ext>
      </dgm:extLst>
    </dgm:pt>
    <dgm:pt modelId="{523BAE65-A711-4AE2-A454-E3EC944ED8D7}" type="pres">
      <dgm:prSet presAssocID="{F8CF5FFA-F229-4B94-95F9-963B9EBC1CA2}" presName="spaceRect" presStyleCnt="0"/>
      <dgm:spPr/>
    </dgm:pt>
    <dgm:pt modelId="{522ABCF9-BAAD-4BD4-8519-19BA71048B1D}" type="pres">
      <dgm:prSet presAssocID="{F8CF5FFA-F229-4B94-95F9-963B9EBC1CA2}" presName="textRect" presStyleLbl="revTx" presStyleIdx="0" presStyleCnt="5">
        <dgm:presLayoutVars>
          <dgm:chMax val="1"/>
          <dgm:chPref val="1"/>
        </dgm:presLayoutVars>
      </dgm:prSet>
      <dgm:spPr/>
    </dgm:pt>
    <dgm:pt modelId="{4F8A513E-DE8D-42F3-8A1A-8CD06DCF7A1F}" type="pres">
      <dgm:prSet presAssocID="{9BBB898A-72E2-4296-9672-7833834639FF}" presName="sibTrans" presStyleCnt="0"/>
      <dgm:spPr/>
    </dgm:pt>
    <dgm:pt modelId="{3594B82C-45E4-485C-838B-26995CA8C81C}" type="pres">
      <dgm:prSet presAssocID="{93E829F7-8B92-4F5E-95F2-BF9056659861}" presName="compNode" presStyleCnt="0"/>
      <dgm:spPr/>
    </dgm:pt>
    <dgm:pt modelId="{4B614FC9-CDCA-4914-84E2-F96D8DC141C1}" type="pres">
      <dgm:prSet presAssocID="{93E829F7-8B92-4F5E-95F2-BF9056659861}" presName="iconBgRect" presStyleLbl="bgShp" presStyleIdx="1" presStyleCnt="5"/>
      <dgm:spPr/>
    </dgm:pt>
    <dgm:pt modelId="{159EF540-3BAF-4D21-AF4B-9E39A387F948}" type="pres">
      <dgm:prSet presAssocID="{93E829F7-8B92-4F5E-95F2-BF9056659861}"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ingue"/>
        </a:ext>
      </dgm:extLst>
    </dgm:pt>
    <dgm:pt modelId="{484BD5C3-6799-4F43-8B71-D8C3032081E1}" type="pres">
      <dgm:prSet presAssocID="{93E829F7-8B92-4F5E-95F2-BF9056659861}" presName="spaceRect" presStyleCnt="0"/>
      <dgm:spPr/>
    </dgm:pt>
    <dgm:pt modelId="{951A4D75-DD0A-4046-8B0C-589640CA825A}" type="pres">
      <dgm:prSet presAssocID="{93E829F7-8B92-4F5E-95F2-BF9056659861}" presName="textRect" presStyleLbl="revTx" presStyleIdx="1" presStyleCnt="5">
        <dgm:presLayoutVars>
          <dgm:chMax val="1"/>
          <dgm:chPref val="1"/>
        </dgm:presLayoutVars>
      </dgm:prSet>
      <dgm:spPr/>
    </dgm:pt>
    <dgm:pt modelId="{3ABF920E-6EE3-4279-9192-F00D4C6ACCF6}" type="pres">
      <dgm:prSet presAssocID="{E190DE74-1C35-4BBA-8935-8F6E28F04ACD}" presName="sibTrans" presStyleCnt="0"/>
      <dgm:spPr/>
    </dgm:pt>
    <dgm:pt modelId="{EE07B886-4B88-4B7F-AF7E-4C64783A6958}" type="pres">
      <dgm:prSet presAssocID="{A393B23A-A7B0-4F30-A6E7-1C09D2D01720}" presName="compNode" presStyleCnt="0"/>
      <dgm:spPr/>
    </dgm:pt>
    <dgm:pt modelId="{DACBDAC2-9806-49E7-B4B5-35B8283AFBBC}" type="pres">
      <dgm:prSet presAssocID="{A393B23A-A7B0-4F30-A6E7-1C09D2D01720}" presName="iconBgRect" presStyleLbl="bgShp" presStyleIdx="2" presStyleCnt="5"/>
      <dgm:spPr/>
    </dgm:pt>
    <dgm:pt modelId="{D3A31B1E-E9FD-4643-A431-BC1BDA5D5E10}" type="pres">
      <dgm:prSet presAssocID="{A393B23A-A7B0-4F30-A6E7-1C09D2D0172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cument"/>
        </a:ext>
      </dgm:extLst>
    </dgm:pt>
    <dgm:pt modelId="{4C092F23-D96E-46D5-BD10-1FEE5AD3149F}" type="pres">
      <dgm:prSet presAssocID="{A393B23A-A7B0-4F30-A6E7-1C09D2D01720}" presName="spaceRect" presStyleCnt="0"/>
      <dgm:spPr/>
    </dgm:pt>
    <dgm:pt modelId="{2A2A4AA6-FA27-4B92-9544-433032995186}" type="pres">
      <dgm:prSet presAssocID="{A393B23A-A7B0-4F30-A6E7-1C09D2D01720}" presName="textRect" presStyleLbl="revTx" presStyleIdx="2" presStyleCnt="5">
        <dgm:presLayoutVars>
          <dgm:chMax val="1"/>
          <dgm:chPref val="1"/>
        </dgm:presLayoutVars>
      </dgm:prSet>
      <dgm:spPr/>
    </dgm:pt>
    <dgm:pt modelId="{699F8E73-58F3-49FB-A50E-C7579004CF69}" type="pres">
      <dgm:prSet presAssocID="{1D59D2DD-BC94-40D7-A824-04CCC9AAC2BA}" presName="sibTrans" presStyleCnt="0"/>
      <dgm:spPr/>
    </dgm:pt>
    <dgm:pt modelId="{26929882-179C-485E-B905-380F3CF3027B}" type="pres">
      <dgm:prSet presAssocID="{8D3E5991-ADAB-4FDF-8EF2-F7A476AFAA6B}" presName="compNode" presStyleCnt="0"/>
      <dgm:spPr/>
    </dgm:pt>
    <dgm:pt modelId="{CE116C91-F5A3-4A3C-A968-4B4A4A31A06F}" type="pres">
      <dgm:prSet presAssocID="{8D3E5991-ADAB-4FDF-8EF2-F7A476AFAA6B}" presName="iconBgRect" presStyleLbl="bgShp" presStyleIdx="3" presStyleCnt="5"/>
      <dgm:spPr/>
    </dgm:pt>
    <dgm:pt modelId="{3B81AD65-2D02-450E-9F4C-4077739AB192}" type="pres">
      <dgm:prSet presAssocID="{8D3E5991-ADAB-4FDF-8EF2-F7A476AFAA6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6D0CAD52-ED00-4670-A88D-B4748FF2BC7F}" type="pres">
      <dgm:prSet presAssocID="{8D3E5991-ADAB-4FDF-8EF2-F7A476AFAA6B}" presName="spaceRect" presStyleCnt="0"/>
      <dgm:spPr/>
    </dgm:pt>
    <dgm:pt modelId="{07425932-00CE-4E3A-A49D-A49B6557164E}" type="pres">
      <dgm:prSet presAssocID="{8D3E5991-ADAB-4FDF-8EF2-F7A476AFAA6B}" presName="textRect" presStyleLbl="revTx" presStyleIdx="3" presStyleCnt="5">
        <dgm:presLayoutVars>
          <dgm:chMax val="1"/>
          <dgm:chPref val="1"/>
        </dgm:presLayoutVars>
      </dgm:prSet>
      <dgm:spPr/>
    </dgm:pt>
    <dgm:pt modelId="{E9D14D2E-414C-40AE-8D0E-1C49C5F7F681}" type="pres">
      <dgm:prSet presAssocID="{248649DD-929E-4894-8084-07B6DF9CCD4D}" presName="sibTrans" presStyleCnt="0"/>
      <dgm:spPr/>
    </dgm:pt>
    <dgm:pt modelId="{213D181B-916D-41BC-B989-B5F885155C4A}" type="pres">
      <dgm:prSet presAssocID="{F9DF785B-FFDF-4F2C-96DE-33FF8FDDDE01}" presName="compNode" presStyleCnt="0"/>
      <dgm:spPr/>
    </dgm:pt>
    <dgm:pt modelId="{CE4D9FE4-E89C-474C-8539-B09789DE8684}" type="pres">
      <dgm:prSet presAssocID="{F9DF785B-FFDF-4F2C-96DE-33FF8FDDDE01}" presName="iconBgRect" presStyleLbl="bgShp" presStyleIdx="4" presStyleCnt="5"/>
      <dgm:spPr/>
    </dgm:pt>
    <dgm:pt modelId="{43832DE1-E2B7-4E67-8453-EF0C9B986273}" type="pres">
      <dgm:prSet presAssocID="{F9DF785B-FFDF-4F2C-96DE-33FF8FDDDE0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Radioactif"/>
        </a:ext>
      </dgm:extLst>
    </dgm:pt>
    <dgm:pt modelId="{E3069FB6-BC2E-461C-A336-BBDEC3808FC6}" type="pres">
      <dgm:prSet presAssocID="{F9DF785B-FFDF-4F2C-96DE-33FF8FDDDE01}" presName="spaceRect" presStyleCnt="0"/>
      <dgm:spPr/>
    </dgm:pt>
    <dgm:pt modelId="{801DC85C-B1DF-4ECC-A135-54449FA60B7C}" type="pres">
      <dgm:prSet presAssocID="{F9DF785B-FFDF-4F2C-96DE-33FF8FDDDE01}" presName="textRect" presStyleLbl="revTx" presStyleIdx="4" presStyleCnt="5">
        <dgm:presLayoutVars>
          <dgm:chMax val="1"/>
          <dgm:chPref val="1"/>
        </dgm:presLayoutVars>
      </dgm:prSet>
      <dgm:spPr/>
    </dgm:pt>
  </dgm:ptLst>
  <dgm:cxnLst>
    <dgm:cxn modelId="{E04F8027-A394-43F1-8971-948F44C644A5}" type="presOf" srcId="{F8CF5FFA-F229-4B94-95F9-963B9EBC1CA2}" destId="{522ABCF9-BAAD-4BD4-8519-19BA71048B1D}" srcOrd="0" destOrd="0" presId="urn:microsoft.com/office/officeart/2018/5/layout/IconCircleLabelList"/>
    <dgm:cxn modelId="{EC55CF28-B9FA-4F0C-8345-49EF5E408EC5}" type="presOf" srcId="{93E829F7-8B92-4F5E-95F2-BF9056659861}" destId="{951A4D75-DD0A-4046-8B0C-589640CA825A}" srcOrd="0" destOrd="0" presId="urn:microsoft.com/office/officeart/2018/5/layout/IconCircleLabelList"/>
    <dgm:cxn modelId="{83592532-6177-457B-A589-E7661239F1F7}" srcId="{327A67A7-E226-47AA-8043-B164B6186B50}" destId="{F8CF5FFA-F229-4B94-95F9-963B9EBC1CA2}" srcOrd="0" destOrd="0" parTransId="{0BD7BDB4-E7FA-4CBF-82CF-703A271B49DC}" sibTransId="{9BBB898A-72E2-4296-9672-7833834639FF}"/>
    <dgm:cxn modelId="{3D843A5B-C8F3-40EE-8417-87143A58D9ED}" srcId="{327A67A7-E226-47AA-8043-B164B6186B50}" destId="{F9DF785B-FFDF-4F2C-96DE-33FF8FDDDE01}" srcOrd="4" destOrd="0" parTransId="{2D9B2AF0-F315-448B-AB99-5A29E3DA6231}" sibTransId="{BBFE0433-8708-4D66-AF99-3379EA21C3B6}"/>
    <dgm:cxn modelId="{E44C7B51-86D2-4B8B-83A4-F257C8261473}" srcId="{327A67A7-E226-47AA-8043-B164B6186B50}" destId="{A393B23A-A7B0-4F30-A6E7-1C09D2D01720}" srcOrd="2" destOrd="0" parTransId="{57112B4F-9FF9-408F-BB47-B617912E73F6}" sibTransId="{1D59D2DD-BC94-40D7-A824-04CCC9AAC2BA}"/>
    <dgm:cxn modelId="{A78FAA51-E6D7-4D7E-993B-16D2B15D2A43}" srcId="{327A67A7-E226-47AA-8043-B164B6186B50}" destId="{93E829F7-8B92-4F5E-95F2-BF9056659861}" srcOrd="1" destOrd="0" parTransId="{7C44BD44-45B4-474D-9A17-75B2B5ADA58B}" sibTransId="{E190DE74-1C35-4BBA-8935-8F6E28F04ACD}"/>
    <dgm:cxn modelId="{C267E458-0B10-4E63-B41E-9D577F5281F0}" type="presOf" srcId="{A393B23A-A7B0-4F30-A6E7-1C09D2D01720}" destId="{2A2A4AA6-FA27-4B92-9544-433032995186}" srcOrd="0" destOrd="0" presId="urn:microsoft.com/office/officeart/2018/5/layout/IconCircleLabelList"/>
    <dgm:cxn modelId="{086E877A-07C7-4E00-95DD-97B5921459F5}" type="presOf" srcId="{8D3E5991-ADAB-4FDF-8EF2-F7A476AFAA6B}" destId="{07425932-00CE-4E3A-A49D-A49B6557164E}" srcOrd="0" destOrd="0" presId="urn:microsoft.com/office/officeart/2018/5/layout/IconCircleLabelList"/>
    <dgm:cxn modelId="{91F643A3-3944-4ED0-9FA3-D15BC9307BE3}" srcId="{327A67A7-E226-47AA-8043-B164B6186B50}" destId="{8D3E5991-ADAB-4FDF-8EF2-F7A476AFAA6B}" srcOrd="3" destOrd="0" parTransId="{DD6F1015-FFD7-4B3E-A9D5-BBB5B3B7DB54}" sibTransId="{248649DD-929E-4894-8084-07B6DF9CCD4D}"/>
    <dgm:cxn modelId="{636C86B0-D528-43B5-87C4-1BF28D87CF8F}" type="presOf" srcId="{327A67A7-E226-47AA-8043-B164B6186B50}" destId="{628A9B5B-E7F3-49C7-916C-125818AFEB20}" srcOrd="0" destOrd="0" presId="urn:microsoft.com/office/officeart/2018/5/layout/IconCircleLabelList"/>
    <dgm:cxn modelId="{D2D8EFBF-1DFE-48D2-B052-EFD3D4772937}" type="presOf" srcId="{F9DF785B-FFDF-4F2C-96DE-33FF8FDDDE01}" destId="{801DC85C-B1DF-4ECC-A135-54449FA60B7C}" srcOrd="0" destOrd="0" presId="urn:microsoft.com/office/officeart/2018/5/layout/IconCircleLabelList"/>
    <dgm:cxn modelId="{845DF42C-B723-49A3-83D1-DE994A75847E}" type="presParOf" srcId="{628A9B5B-E7F3-49C7-916C-125818AFEB20}" destId="{A80A26D2-A451-4B33-AD30-C47E4BFBFE7C}" srcOrd="0" destOrd="0" presId="urn:microsoft.com/office/officeart/2018/5/layout/IconCircleLabelList"/>
    <dgm:cxn modelId="{FD83F5D6-7A87-4BF8-B7D8-7DBBD4A20A62}" type="presParOf" srcId="{A80A26D2-A451-4B33-AD30-C47E4BFBFE7C}" destId="{F1C54671-4F50-4E04-9FA4-1BAB81A5768C}" srcOrd="0" destOrd="0" presId="urn:microsoft.com/office/officeart/2018/5/layout/IconCircleLabelList"/>
    <dgm:cxn modelId="{00156F9F-601C-4561-A293-3007A181633F}" type="presParOf" srcId="{A80A26D2-A451-4B33-AD30-C47E4BFBFE7C}" destId="{4DE7E073-408D-4C5E-A444-C245F055138C}" srcOrd="1" destOrd="0" presId="urn:microsoft.com/office/officeart/2018/5/layout/IconCircleLabelList"/>
    <dgm:cxn modelId="{5F6A0DB8-AB0B-473B-B247-BC370616ABE6}" type="presParOf" srcId="{A80A26D2-A451-4B33-AD30-C47E4BFBFE7C}" destId="{523BAE65-A711-4AE2-A454-E3EC944ED8D7}" srcOrd="2" destOrd="0" presId="urn:microsoft.com/office/officeart/2018/5/layout/IconCircleLabelList"/>
    <dgm:cxn modelId="{202824C4-9558-4998-82F8-D7D9FE80262F}" type="presParOf" srcId="{A80A26D2-A451-4B33-AD30-C47E4BFBFE7C}" destId="{522ABCF9-BAAD-4BD4-8519-19BA71048B1D}" srcOrd="3" destOrd="0" presId="urn:microsoft.com/office/officeart/2018/5/layout/IconCircleLabelList"/>
    <dgm:cxn modelId="{46428232-5E12-4BBB-B887-A7AEED7BE548}" type="presParOf" srcId="{628A9B5B-E7F3-49C7-916C-125818AFEB20}" destId="{4F8A513E-DE8D-42F3-8A1A-8CD06DCF7A1F}" srcOrd="1" destOrd="0" presId="urn:microsoft.com/office/officeart/2018/5/layout/IconCircleLabelList"/>
    <dgm:cxn modelId="{CA55E5A7-B935-4565-95E5-2BBADB33D5C9}" type="presParOf" srcId="{628A9B5B-E7F3-49C7-916C-125818AFEB20}" destId="{3594B82C-45E4-485C-838B-26995CA8C81C}" srcOrd="2" destOrd="0" presId="urn:microsoft.com/office/officeart/2018/5/layout/IconCircleLabelList"/>
    <dgm:cxn modelId="{318948C6-A3C1-4FAC-A36B-35331DD59CC7}" type="presParOf" srcId="{3594B82C-45E4-485C-838B-26995CA8C81C}" destId="{4B614FC9-CDCA-4914-84E2-F96D8DC141C1}" srcOrd="0" destOrd="0" presId="urn:microsoft.com/office/officeart/2018/5/layout/IconCircleLabelList"/>
    <dgm:cxn modelId="{A834453F-2887-4492-9E10-25B484CBC65F}" type="presParOf" srcId="{3594B82C-45E4-485C-838B-26995CA8C81C}" destId="{159EF540-3BAF-4D21-AF4B-9E39A387F948}" srcOrd="1" destOrd="0" presId="urn:microsoft.com/office/officeart/2018/5/layout/IconCircleLabelList"/>
    <dgm:cxn modelId="{05D718CC-9BEA-47EA-99CC-498544B61A88}" type="presParOf" srcId="{3594B82C-45E4-485C-838B-26995CA8C81C}" destId="{484BD5C3-6799-4F43-8B71-D8C3032081E1}" srcOrd="2" destOrd="0" presId="urn:microsoft.com/office/officeart/2018/5/layout/IconCircleLabelList"/>
    <dgm:cxn modelId="{1D071A51-9F56-4DC9-B2D7-21ADF60E6B99}" type="presParOf" srcId="{3594B82C-45E4-485C-838B-26995CA8C81C}" destId="{951A4D75-DD0A-4046-8B0C-589640CA825A}" srcOrd="3" destOrd="0" presId="urn:microsoft.com/office/officeart/2018/5/layout/IconCircleLabelList"/>
    <dgm:cxn modelId="{591E7CA9-B43C-47ED-9076-EFEC4A0A3B8C}" type="presParOf" srcId="{628A9B5B-E7F3-49C7-916C-125818AFEB20}" destId="{3ABF920E-6EE3-4279-9192-F00D4C6ACCF6}" srcOrd="3" destOrd="0" presId="urn:microsoft.com/office/officeart/2018/5/layout/IconCircleLabelList"/>
    <dgm:cxn modelId="{CC5F741D-941A-4921-9760-F3083BA86930}" type="presParOf" srcId="{628A9B5B-E7F3-49C7-916C-125818AFEB20}" destId="{EE07B886-4B88-4B7F-AF7E-4C64783A6958}" srcOrd="4" destOrd="0" presId="urn:microsoft.com/office/officeart/2018/5/layout/IconCircleLabelList"/>
    <dgm:cxn modelId="{5012143E-31F5-4FF6-B113-E5272D3ACAC0}" type="presParOf" srcId="{EE07B886-4B88-4B7F-AF7E-4C64783A6958}" destId="{DACBDAC2-9806-49E7-B4B5-35B8283AFBBC}" srcOrd="0" destOrd="0" presId="urn:microsoft.com/office/officeart/2018/5/layout/IconCircleLabelList"/>
    <dgm:cxn modelId="{12D00AA4-FB4A-49C6-BE42-990232A6AC18}" type="presParOf" srcId="{EE07B886-4B88-4B7F-AF7E-4C64783A6958}" destId="{D3A31B1E-E9FD-4643-A431-BC1BDA5D5E10}" srcOrd="1" destOrd="0" presId="urn:microsoft.com/office/officeart/2018/5/layout/IconCircleLabelList"/>
    <dgm:cxn modelId="{1FD34FE0-FA97-41E6-A766-964EB96DE112}" type="presParOf" srcId="{EE07B886-4B88-4B7F-AF7E-4C64783A6958}" destId="{4C092F23-D96E-46D5-BD10-1FEE5AD3149F}" srcOrd="2" destOrd="0" presId="urn:microsoft.com/office/officeart/2018/5/layout/IconCircleLabelList"/>
    <dgm:cxn modelId="{96B18B5D-E7D7-4952-9169-B1388572E1FF}" type="presParOf" srcId="{EE07B886-4B88-4B7F-AF7E-4C64783A6958}" destId="{2A2A4AA6-FA27-4B92-9544-433032995186}" srcOrd="3" destOrd="0" presId="urn:microsoft.com/office/officeart/2018/5/layout/IconCircleLabelList"/>
    <dgm:cxn modelId="{99ED03EF-0002-4C7A-AB50-221FA1386326}" type="presParOf" srcId="{628A9B5B-E7F3-49C7-916C-125818AFEB20}" destId="{699F8E73-58F3-49FB-A50E-C7579004CF69}" srcOrd="5" destOrd="0" presId="urn:microsoft.com/office/officeart/2018/5/layout/IconCircleLabelList"/>
    <dgm:cxn modelId="{3BF8EA02-5910-42DB-81C9-BEC45CF2B787}" type="presParOf" srcId="{628A9B5B-E7F3-49C7-916C-125818AFEB20}" destId="{26929882-179C-485E-B905-380F3CF3027B}" srcOrd="6" destOrd="0" presId="urn:microsoft.com/office/officeart/2018/5/layout/IconCircleLabelList"/>
    <dgm:cxn modelId="{B2AFEAD8-0133-4E46-AFC6-495A11EE8BB1}" type="presParOf" srcId="{26929882-179C-485E-B905-380F3CF3027B}" destId="{CE116C91-F5A3-4A3C-A968-4B4A4A31A06F}" srcOrd="0" destOrd="0" presId="urn:microsoft.com/office/officeart/2018/5/layout/IconCircleLabelList"/>
    <dgm:cxn modelId="{D9A28EAC-49E8-41DA-8889-167B30B39692}" type="presParOf" srcId="{26929882-179C-485E-B905-380F3CF3027B}" destId="{3B81AD65-2D02-450E-9F4C-4077739AB192}" srcOrd="1" destOrd="0" presId="urn:microsoft.com/office/officeart/2018/5/layout/IconCircleLabelList"/>
    <dgm:cxn modelId="{9D180D45-8146-4AE2-BB6F-6DA61E3493AF}" type="presParOf" srcId="{26929882-179C-485E-B905-380F3CF3027B}" destId="{6D0CAD52-ED00-4670-A88D-B4748FF2BC7F}" srcOrd="2" destOrd="0" presId="urn:microsoft.com/office/officeart/2018/5/layout/IconCircleLabelList"/>
    <dgm:cxn modelId="{EEAB4F76-74BB-43C6-8AD0-AB382AE34B6B}" type="presParOf" srcId="{26929882-179C-485E-B905-380F3CF3027B}" destId="{07425932-00CE-4E3A-A49D-A49B6557164E}" srcOrd="3" destOrd="0" presId="urn:microsoft.com/office/officeart/2018/5/layout/IconCircleLabelList"/>
    <dgm:cxn modelId="{01BE9047-6036-49F6-8580-3D7FC9AA1900}" type="presParOf" srcId="{628A9B5B-E7F3-49C7-916C-125818AFEB20}" destId="{E9D14D2E-414C-40AE-8D0E-1C49C5F7F681}" srcOrd="7" destOrd="0" presId="urn:microsoft.com/office/officeart/2018/5/layout/IconCircleLabelList"/>
    <dgm:cxn modelId="{67C7C93A-8E87-4857-9155-8A7C3C7EC08B}" type="presParOf" srcId="{628A9B5B-E7F3-49C7-916C-125818AFEB20}" destId="{213D181B-916D-41BC-B989-B5F885155C4A}" srcOrd="8" destOrd="0" presId="urn:microsoft.com/office/officeart/2018/5/layout/IconCircleLabelList"/>
    <dgm:cxn modelId="{126790CD-9AE5-4155-8BC5-A9388758AB22}" type="presParOf" srcId="{213D181B-916D-41BC-B989-B5F885155C4A}" destId="{CE4D9FE4-E89C-474C-8539-B09789DE8684}" srcOrd="0" destOrd="0" presId="urn:microsoft.com/office/officeart/2018/5/layout/IconCircleLabelList"/>
    <dgm:cxn modelId="{CBC60DCE-67FF-4334-BE2F-2A54D42998C7}" type="presParOf" srcId="{213D181B-916D-41BC-B989-B5F885155C4A}" destId="{43832DE1-E2B7-4E67-8453-EF0C9B986273}" srcOrd="1" destOrd="0" presId="urn:microsoft.com/office/officeart/2018/5/layout/IconCircleLabelList"/>
    <dgm:cxn modelId="{97B9DA5A-0F34-40BF-B8B0-99025D5916E7}" type="presParOf" srcId="{213D181B-916D-41BC-B989-B5F885155C4A}" destId="{E3069FB6-BC2E-461C-A336-BBDEC3808FC6}" srcOrd="2" destOrd="0" presId="urn:microsoft.com/office/officeart/2018/5/layout/IconCircleLabelList"/>
    <dgm:cxn modelId="{E1DBDA0F-910A-4AC8-A36D-F0959DDDA35A}" type="presParOf" srcId="{213D181B-916D-41BC-B989-B5F885155C4A}" destId="{801DC85C-B1DF-4ECC-A135-54449FA60B7C}"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5F0C253-A988-4886-B2FF-6383F6B7D91F}" type="doc">
      <dgm:prSet loTypeId="urn:microsoft.com/office/officeart/2005/8/layout/vList2" loCatId="list" qsTypeId="urn:microsoft.com/office/officeart/2005/8/quickstyle/simple1#50" qsCatId="simple" csTypeId="urn:microsoft.com/office/officeart/2005/8/colors/accent1_2#32" csCatId="accent1"/>
      <dgm:spPr/>
      <dgm:t>
        <a:bodyPr/>
        <a:lstStyle/>
        <a:p>
          <a:endParaRPr lang="en-US"/>
        </a:p>
      </dgm:t>
    </dgm:pt>
    <dgm:pt modelId="{B7BD99F8-1922-4B5E-A3DE-AAF41A2DAAE3}">
      <dgm:prSet/>
      <dgm:spPr/>
      <dgm:t>
        <a:bodyPr/>
        <a:lstStyle/>
        <a:p>
          <a:r>
            <a:rPr lang="fr-FR"/>
            <a:t>Injection d’en-têtes email via formulaire de contact</a:t>
          </a:r>
          <a:endParaRPr lang="en-US"/>
        </a:p>
      </dgm:t>
    </dgm:pt>
    <dgm:pt modelId="{8921CC39-C416-421F-8CC8-A9B8475A9200}" type="parTrans" cxnId="{0C9885D1-F58B-459E-ABAF-322F160C4A5D}">
      <dgm:prSet/>
      <dgm:spPr/>
      <dgm:t>
        <a:bodyPr/>
        <a:lstStyle/>
        <a:p>
          <a:endParaRPr lang="en-US"/>
        </a:p>
      </dgm:t>
    </dgm:pt>
    <dgm:pt modelId="{00F477A6-A9AD-484C-BB77-4D84B505000A}" type="sibTrans" cxnId="{0C9885D1-F58B-459E-ABAF-322F160C4A5D}">
      <dgm:prSet/>
      <dgm:spPr/>
      <dgm:t>
        <a:bodyPr/>
        <a:lstStyle/>
        <a:p>
          <a:endParaRPr lang="en-US"/>
        </a:p>
      </dgm:t>
    </dgm:pt>
    <dgm:pt modelId="{9B186B89-2C66-47CB-9CD8-1166563ECF32}">
      <dgm:prSet/>
      <dgm:spPr/>
      <dgm:t>
        <a:bodyPr/>
        <a:lstStyle/>
        <a:p>
          <a:r>
            <a:rPr lang="fr-FR"/>
            <a:t>Filtrage et Symfony Mailer</a:t>
          </a:r>
          <a:endParaRPr lang="en-US"/>
        </a:p>
      </dgm:t>
    </dgm:pt>
    <dgm:pt modelId="{C06BD4E1-342D-4F26-9E39-F0382EEDC14D}" type="parTrans" cxnId="{303158F0-D50E-420A-A5BA-EF395ED164AB}">
      <dgm:prSet/>
      <dgm:spPr/>
      <dgm:t>
        <a:bodyPr/>
        <a:lstStyle/>
        <a:p>
          <a:endParaRPr lang="en-US"/>
        </a:p>
      </dgm:t>
    </dgm:pt>
    <dgm:pt modelId="{519A8395-69CB-402C-B47F-4F9749BF06B8}" type="sibTrans" cxnId="{303158F0-D50E-420A-A5BA-EF395ED164AB}">
      <dgm:prSet/>
      <dgm:spPr/>
      <dgm:t>
        <a:bodyPr/>
        <a:lstStyle/>
        <a:p>
          <a:endParaRPr lang="en-US"/>
        </a:p>
      </dgm:t>
    </dgm:pt>
    <dgm:pt modelId="{478210E7-80B4-4AB0-91C9-0E11CBD1FF52}">
      <dgm:prSet/>
      <dgm:spPr/>
      <dgm:t>
        <a:bodyPr/>
        <a:lstStyle/>
        <a:p>
          <a:r>
            <a:rPr lang="fr-FR"/>
            <a:t>SSRF</a:t>
          </a:r>
          <a:endParaRPr lang="en-US"/>
        </a:p>
      </dgm:t>
    </dgm:pt>
    <dgm:pt modelId="{5EAF2A2E-7CE6-4157-91B9-E8F101DC0AD5}" type="parTrans" cxnId="{A845E53C-0ED7-478D-A8B8-99D9EF4D4013}">
      <dgm:prSet/>
      <dgm:spPr/>
      <dgm:t>
        <a:bodyPr/>
        <a:lstStyle/>
        <a:p>
          <a:endParaRPr lang="en-US"/>
        </a:p>
      </dgm:t>
    </dgm:pt>
    <dgm:pt modelId="{1A0AA5A5-6438-4661-9F6F-781C927516F2}" type="sibTrans" cxnId="{A845E53C-0ED7-478D-A8B8-99D9EF4D4013}">
      <dgm:prSet/>
      <dgm:spPr/>
      <dgm:t>
        <a:bodyPr/>
        <a:lstStyle/>
        <a:p>
          <a:endParaRPr lang="en-US"/>
        </a:p>
      </dgm:t>
    </dgm:pt>
    <dgm:pt modelId="{F5A3F001-ED92-4887-A9FC-91D7F114010A}" type="pres">
      <dgm:prSet presAssocID="{55F0C253-A988-4886-B2FF-6383F6B7D91F}" presName="linear" presStyleCnt="0">
        <dgm:presLayoutVars>
          <dgm:animLvl val="lvl"/>
          <dgm:resizeHandles val="exact"/>
        </dgm:presLayoutVars>
      </dgm:prSet>
      <dgm:spPr/>
    </dgm:pt>
    <dgm:pt modelId="{ABA574A0-ECA2-49F8-8E7B-C3D68C9CB6BD}" type="pres">
      <dgm:prSet presAssocID="{B7BD99F8-1922-4B5E-A3DE-AAF41A2DAAE3}" presName="parentText" presStyleLbl="node1" presStyleIdx="0" presStyleCnt="3">
        <dgm:presLayoutVars>
          <dgm:chMax val="0"/>
          <dgm:bulletEnabled val="1"/>
        </dgm:presLayoutVars>
      </dgm:prSet>
      <dgm:spPr/>
    </dgm:pt>
    <dgm:pt modelId="{B256CCE7-2E27-4E31-93C6-EA6D9C9809E6}" type="pres">
      <dgm:prSet presAssocID="{00F477A6-A9AD-484C-BB77-4D84B505000A}" presName="spacer" presStyleCnt="0"/>
      <dgm:spPr/>
    </dgm:pt>
    <dgm:pt modelId="{DAD467FA-9E72-4CE3-8FFF-6147AD5E7F5E}" type="pres">
      <dgm:prSet presAssocID="{9B186B89-2C66-47CB-9CD8-1166563ECF32}" presName="parentText" presStyleLbl="node1" presStyleIdx="1" presStyleCnt="3">
        <dgm:presLayoutVars>
          <dgm:chMax val="0"/>
          <dgm:bulletEnabled val="1"/>
        </dgm:presLayoutVars>
      </dgm:prSet>
      <dgm:spPr/>
    </dgm:pt>
    <dgm:pt modelId="{911B97BE-DE28-4C6D-8889-28A689770DFC}" type="pres">
      <dgm:prSet presAssocID="{519A8395-69CB-402C-B47F-4F9749BF06B8}" presName="spacer" presStyleCnt="0"/>
      <dgm:spPr/>
    </dgm:pt>
    <dgm:pt modelId="{595D26E8-3144-4054-B734-B40B4FA1841F}" type="pres">
      <dgm:prSet presAssocID="{478210E7-80B4-4AB0-91C9-0E11CBD1FF52}" presName="parentText" presStyleLbl="node1" presStyleIdx="2" presStyleCnt="3">
        <dgm:presLayoutVars>
          <dgm:chMax val="0"/>
          <dgm:bulletEnabled val="1"/>
        </dgm:presLayoutVars>
      </dgm:prSet>
      <dgm:spPr/>
    </dgm:pt>
  </dgm:ptLst>
  <dgm:cxnLst>
    <dgm:cxn modelId="{71215F08-B240-4919-BAFD-0760B662484E}" type="presOf" srcId="{9B186B89-2C66-47CB-9CD8-1166563ECF32}" destId="{DAD467FA-9E72-4CE3-8FFF-6147AD5E7F5E}" srcOrd="0" destOrd="0" presId="urn:microsoft.com/office/officeart/2005/8/layout/vList2"/>
    <dgm:cxn modelId="{60CD6817-F7D6-4CDD-AEE5-9381D6845B91}" type="presOf" srcId="{B7BD99F8-1922-4B5E-A3DE-AAF41A2DAAE3}" destId="{ABA574A0-ECA2-49F8-8E7B-C3D68C9CB6BD}" srcOrd="0" destOrd="0" presId="urn:microsoft.com/office/officeart/2005/8/layout/vList2"/>
    <dgm:cxn modelId="{A845E53C-0ED7-478D-A8B8-99D9EF4D4013}" srcId="{55F0C253-A988-4886-B2FF-6383F6B7D91F}" destId="{478210E7-80B4-4AB0-91C9-0E11CBD1FF52}" srcOrd="2" destOrd="0" parTransId="{5EAF2A2E-7CE6-4157-91B9-E8F101DC0AD5}" sibTransId="{1A0AA5A5-6438-4661-9F6F-781C927516F2}"/>
    <dgm:cxn modelId="{358C47A6-8018-4834-A6DC-8412B465C35E}" type="presOf" srcId="{55F0C253-A988-4886-B2FF-6383F6B7D91F}" destId="{F5A3F001-ED92-4887-A9FC-91D7F114010A}" srcOrd="0" destOrd="0" presId="urn:microsoft.com/office/officeart/2005/8/layout/vList2"/>
    <dgm:cxn modelId="{0C9885D1-F58B-459E-ABAF-322F160C4A5D}" srcId="{55F0C253-A988-4886-B2FF-6383F6B7D91F}" destId="{B7BD99F8-1922-4B5E-A3DE-AAF41A2DAAE3}" srcOrd="0" destOrd="0" parTransId="{8921CC39-C416-421F-8CC8-A9B8475A9200}" sibTransId="{00F477A6-A9AD-484C-BB77-4D84B505000A}"/>
    <dgm:cxn modelId="{303158F0-D50E-420A-A5BA-EF395ED164AB}" srcId="{55F0C253-A988-4886-B2FF-6383F6B7D91F}" destId="{9B186B89-2C66-47CB-9CD8-1166563ECF32}" srcOrd="1" destOrd="0" parTransId="{C06BD4E1-342D-4F26-9E39-F0382EEDC14D}" sibTransId="{519A8395-69CB-402C-B47F-4F9749BF06B8}"/>
    <dgm:cxn modelId="{C018E2FB-03BB-467C-928E-5258C1F9BB4F}" type="presOf" srcId="{478210E7-80B4-4AB0-91C9-0E11CBD1FF52}" destId="{595D26E8-3144-4054-B734-B40B4FA1841F}" srcOrd="0" destOrd="0" presId="urn:microsoft.com/office/officeart/2005/8/layout/vList2"/>
    <dgm:cxn modelId="{5DED27BD-D101-4A7F-AD09-A720AE88B516}" type="presParOf" srcId="{F5A3F001-ED92-4887-A9FC-91D7F114010A}" destId="{ABA574A0-ECA2-49F8-8E7B-C3D68C9CB6BD}" srcOrd="0" destOrd="0" presId="urn:microsoft.com/office/officeart/2005/8/layout/vList2"/>
    <dgm:cxn modelId="{71E36CDA-5ED5-46BC-8EFE-2086FBD974EB}" type="presParOf" srcId="{F5A3F001-ED92-4887-A9FC-91D7F114010A}" destId="{B256CCE7-2E27-4E31-93C6-EA6D9C9809E6}" srcOrd="1" destOrd="0" presId="urn:microsoft.com/office/officeart/2005/8/layout/vList2"/>
    <dgm:cxn modelId="{DFBCAD7D-08E7-40C9-A1A3-68163AB8A28D}" type="presParOf" srcId="{F5A3F001-ED92-4887-A9FC-91D7F114010A}" destId="{DAD467FA-9E72-4CE3-8FFF-6147AD5E7F5E}" srcOrd="2" destOrd="0" presId="urn:microsoft.com/office/officeart/2005/8/layout/vList2"/>
    <dgm:cxn modelId="{B261E7BD-B95E-44B5-8D69-B43C9C1AACB9}" type="presParOf" srcId="{F5A3F001-ED92-4887-A9FC-91D7F114010A}" destId="{911B97BE-DE28-4C6D-8889-28A689770DFC}" srcOrd="3" destOrd="0" presId="urn:microsoft.com/office/officeart/2005/8/layout/vList2"/>
    <dgm:cxn modelId="{74CC55E0-231B-462B-A900-3687D1426A6B}" type="presParOf" srcId="{F5A3F001-ED92-4887-A9FC-91D7F114010A}" destId="{595D26E8-3144-4054-B734-B40B4FA1841F}"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E41042-AA7B-410D-A045-E4E9B078DB65}">
      <dsp:nvSpPr>
        <dsp:cNvPr id="0" name=""/>
        <dsp:cNvSpPr/>
      </dsp:nvSpPr>
      <dsp:spPr>
        <a:xfrm>
          <a:off x="0" y="1610"/>
          <a:ext cx="8596668" cy="8163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DC6E7B-C426-4FD8-8695-FCB6AD6F5765}">
      <dsp:nvSpPr>
        <dsp:cNvPr id="0" name=""/>
        <dsp:cNvSpPr/>
      </dsp:nvSpPr>
      <dsp:spPr>
        <a:xfrm>
          <a:off x="246938" y="185284"/>
          <a:ext cx="448979" cy="4489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B1C6DA-D17D-4D3F-A011-79130AFA0D71}">
      <dsp:nvSpPr>
        <dsp:cNvPr id="0" name=""/>
        <dsp:cNvSpPr/>
      </dsp:nvSpPr>
      <dsp:spPr>
        <a:xfrm>
          <a:off x="942857" y="1610"/>
          <a:ext cx="7653810" cy="816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95" tIns="86395" rIns="86395" bIns="86395" numCol="1" spcCol="1270" anchor="ctr" anchorCtr="0">
          <a:noAutofit/>
        </a:bodyPr>
        <a:lstStyle/>
        <a:p>
          <a:pPr marL="0" lvl="0" indent="0" algn="l" defTabSz="933450">
            <a:lnSpc>
              <a:spcPct val="100000"/>
            </a:lnSpc>
            <a:spcBef>
              <a:spcPct val="0"/>
            </a:spcBef>
            <a:spcAft>
              <a:spcPct val="35000"/>
            </a:spcAft>
            <a:buNone/>
          </a:pPr>
          <a:r>
            <a:rPr lang="fr-FR" sz="2100" b="1" kern="1200"/>
            <a:t>Détournement de site </a:t>
          </a:r>
          <a:r>
            <a:rPr lang="fr-FR" sz="2100" kern="1200"/>
            <a:t>: redirection fauduleuse, defacement</a:t>
          </a:r>
          <a:endParaRPr lang="en-US" sz="2100" kern="1200"/>
        </a:p>
      </dsp:txBody>
      <dsp:txXfrm>
        <a:off x="942857" y="1610"/>
        <a:ext cx="7653810" cy="816326"/>
      </dsp:txXfrm>
    </dsp:sp>
    <dsp:sp modelId="{FAA7EC47-835D-421E-944D-863824A2DAB5}">
      <dsp:nvSpPr>
        <dsp:cNvPr id="0" name=""/>
        <dsp:cNvSpPr/>
      </dsp:nvSpPr>
      <dsp:spPr>
        <a:xfrm>
          <a:off x="0" y="1022019"/>
          <a:ext cx="8596668" cy="8163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324571-FF74-47C4-8696-0D990EB1CE1E}">
      <dsp:nvSpPr>
        <dsp:cNvPr id="0" name=""/>
        <dsp:cNvSpPr/>
      </dsp:nvSpPr>
      <dsp:spPr>
        <a:xfrm>
          <a:off x="246938" y="1205692"/>
          <a:ext cx="448979" cy="4489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9FFE60-0B67-4853-8A54-2CDB7469F1DD}">
      <dsp:nvSpPr>
        <dsp:cNvPr id="0" name=""/>
        <dsp:cNvSpPr/>
      </dsp:nvSpPr>
      <dsp:spPr>
        <a:xfrm>
          <a:off x="942857" y="1022019"/>
          <a:ext cx="7653810" cy="816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95" tIns="86395" rIns="86395" bIns="86395" numCol="1" spcCol="1270" anchor="ctr" anchorCtr="0">
          <a:noAutofit/>
        </a:bodyPr>
        <a:lstStyle/>
        <a:p>
          <a:pPr marL="0" lvl="0" indent="0" algn="l" defTabSz="933450">
            <a:lnSpc>
              <a:spcPct val="100000"/>
            </a:lnSpc>
            <a:spcBef>
              <a:spcPct val="0"/>
            </a:spcBef>
            <a:spcAft>
              <a:spcPct val="35000"/>
            </a:spcAft>
            <a:buNone/>
          </a:pPr>
          <a:r>
            <a:rPr lang="fr-FR" sz="2100" b="1" kern="1200"/>
            <a:t>Publication de données confidentielles </a:t>
          </a:r>
          <a:r>
            <a:rPr lang="fr-FR" sz="2100" kern="1200"/>
            <a:t>: fuite de base (identifiants, emails, IBAN)</a:t>
          </a:r>
          <a:endParaRPr lang="en-US" sz="2100" kern="1200"/>
        </a:p>
      </dsp:txBody>
      <dsp:txXfrm>
        <a:off x="942857" y="1022019"/>
        <a:ext cx="7653810" cy="816326"/>
      </dsp:txXfrm>
    </dsp:sp>
    <dsp:sp modelId="{0009EC05-4B9B-4DFB-87C4-A86E24975C99}">
      <dsp:nvSpPr>
        <dsp:cNvPr id="0" name=""/>
        <dsp:cNvSpPr/>
      </dsp:nvSpPr>
      <dsp:spPr>
        <a:xfrm>
          <a:off x="0" y="2042427"/>
          <a:ext cx="8596668" cy="8163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716E62-7D99-4A48-9016-D312679C3B7F}">
      <dsp:nvSpPr>
        <dsp:cNvPr id="0" name=""/>
        <dsp:cNvSpPr/>
      </dsp:nvSpPr>
      <dsp:spPr>
        <a:xfrm>
          <a:off x="246938" y="2226100"/>
          <a:ext cx="448979" cy="4489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BDC9C4-22E0-4125-BCF9-702A061F970A}">
      <dsp:nvSpPr>
        <dsp:cNvPr id="0" name=""/>
        <dsp:cNvSpPr/>
      </dsp:nvSpPr>
      <dsp:spPr>
        <a:xfrm>
          <a:off x="942857" y="2042427"/>
          <a:ext cx="7653810" cy="816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95" tIns="86395" rIns="86395" bIns="86395" numCol="1" spcCol="1270" anchor="ctr" anchorCtr="0">
          <a:noAutofit/>
        </a:bodyPr>
        <a:lstStyle/>
        <a:p>
          <a:pPr marL="0" lvl="0" indent="0" algn="l" defTabSz="933450">
            <a:lnSpc>
              <a:spcPct val="100000"/>
            </a:lnSpc>
            <a:spcBef>
              <a:spcPct val="0"/>
            </a:spcBef>
            <a:spcAft>
              <a:spcPct val="35000"/>
            </a:spcAft>
            <a:buNone/>
          </a:pPr>
          <a:r>
            <a:rPr lang="fr-FR" sz="2100" b="1" kern="1200"/>
            <a:t>Abus de ressources </a:t>
          </a:r>
          <a:r>
            <a:rPr lang="fr-FR" sz="2100" kern="1200"/>
            <a:t>: cryptomining ou spam via serveur compromis</a:t>
          </a:r>
          <a:endParaRPr lang="en-US" sz="2100" kern="1200"/>
        </a:p>
      </dsp:txBody>
      <dsp:txXfrm>
        <a:off x="942857" y="2042427"/>
        <a:ext cx="7653810" cy="816326"/>
      </dsp:txXfrm>
    </dsp:sp>
    <dsp:sp modelId="{64535F6B-CA59-412C-B8C7-325428D4622B}">
      <dsp:nvSpPr>
        <dsp:cNvPr id="0" name=""/>
        <dsp:cNvSpPr/>
      </dsp:nvSpPr>
      <dsp:spPr>
        <a:xfrm>
          <a:off x="0" y="3062835"/>
          <a:ext cx="8596668" cy="8163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FCC473-1BDF-4315-8E00-D2314E38636B}">
      <dsp:nvSpPr>
        <dsp:cNvPr id="0" name=""/>
        <dsp:cNvSpPr/>
      </dsp:nvSpPr>
      <dsp:spPr>
        <a:xfrm>
          <a:off x="246938" y="3246509"/>
          <a:ext cx="448979" cy="4489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CE9BEC-94B1-434B-807B-0DF9AF17E3DB}">
      <dsp:nvSpPr>
        <dsp:cNvPr id="0" name=""/>
        <dsp:cNvSpPr/>
      </dsp:nvSpPr>
      <dsp:spPr>
        <a:xfrm>
          <a:off x="942857" y="3062835"/>
          <a:ext cx="7653810" cy="816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95" tIns="86395" rIns="86395" bIns="86395" numCol="1" spcCol="1270" anchor="ctr" anchorCtr="0">
          <a:noAutofit/>
        </a:bodyPr>
        <a:lstStyle/>
        <a:p>
          <a:pPr marL="0" lvl="0" indent="0" algn="l" defTabSz="933450">
            <a:lnSpc>
              <a:spcPct val="100000"/>
            </a:lnSpc>
            <a:spcBef>
              <a:spcPct val="0"/>
            </a:spcBef>
            <a:spcAft>
              <a:spcPct val="35000"/>
            </a:spcAft>
            <a:buNone/>
          </a:pPr>
          <a:r>
            <a:rPr lang="fr-FR" sz="2100" b="1" kern="1200"/>
            <a:t>Vol d'identité : </a:t>
          </a:r>
          <a:r>
            <a:rPr lang="fr-FR" sz="2100" kern="1200"/>
            <a:t>usurpation de compte, session volée</a:t>
          </a:r>
          <a:endParaRPr lang="en-US" sz="2100" kern="1200"/>
        </a:p>
      </dsp:txBody>
      <dsp:txXfrm>
        <a:off x="942857" y="3062835"/>
        <a:ext cx="7653810" cy="8163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29A75E-4C70-46FC-B0CE-9B609B085E30}">
      <dsp:nvSpPr>
        <dsp:cNvPr id="0" name=""/>
        <dsp:cNvSpPr/>
      </dsp:nvSpPr>
      <dsp:spPr>
        <a:xfrm>
          <a:off x="0" y="1045493"/>
          <a:ext cx="2417712" cy="153524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0C0382-2CD3-4748-9E86-548DFB46BDE5}">
      <dsp:nvSpPr>
        <dsp:cNvPr id="0" name=""/>
        <dsp:cNvSpPr/>
      </dsp:nvSpPr>
      <dsp:spPr>
        <a:xfrm>
          <a:off x="268634" y="1300696"/>
          <a:ext cx="2417712" cy="153524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b="1" kern="1200" dirty="0"/>
            <a:t>Twig</a:t>
          </a:r>
          <a:r>
            <a:rPr lang="fr-FR" sz="1900" kern="1200" dirty="0"/>
            <a:t> échappe automatiquement tout output (</a:t>
          </a:r>
          <a:r>
            <a:rPr lang="fr-FR" sz="1900" b="1" kern="1200" dirty="0" err="1"/>
            <a:t>autoescape</a:t>
          </a:r>
          <a:r>
            <a:rPr lang="fr-FR" sz="1900" b="1" kern="1200" dirty="0"/>
            <a:t> activé par défaut)</a:t>
          </a:r>
          <a:endParaRPr lang="en-US" sz="1900" kern="1200" dirty="0"/>
        </a:p>
      </dsp:txBody>
      <dsp:txXfrm>
        <a:off x="313600" y="1345662"/>
        <a:ext cx="2327780" cy="1445315"/>
      </dsp:txXfrm>
    </dsp:sp>
    <dsp:sp modelId="{15964359-7220-4E46-96FD-7E35A61C7307}">
      <dsp:nvSpPr>
        <dsp:cNvPr id="0" name=""/>
        <dsp:cNvSpPr/>
      </dsp:nvSpPr>
      <dsp:spPr>
        <a:xfrm>
          <a:off x="2954982" y="1045493"/>
          <a:ext cx="2417712" cy="153524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AED8AE-B220-4CD5-8D42-C7CD24096B5D}">
      <dsp:nvSpPr>
        <dsp:cNvPr id="0" name=""/>
        <dsp:cNvSpPr/>
      </dsp:nvSpPr>
      <dsp:spPr>
        <a:xfrm>
          <a:off x="3223616" y="1300696"/>
          <a:ext cx="2417712" cy="153524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Le filtre </a:t>
          </a:r>
          <a:r>
            <a:rPr lang="fr-FR" sz="1900" b="1" kern="1200"/>
            <a:t>raw</a:t>
          </a:r>
          <a:r>
            <a:rPr lang="fr-FR" sz="1900" kern="1200"/>
            <a:t> désactive cette protection : à utiliser avec prudence</a:t>
          </a:r>
          <a:endParaRPr lang="en-US" sz="1900" kern="1200"/>
        </a:p>
      </dsp:txBody>
      <dsp:txXfrm>
        <a:off x="3268582" y="1345662"/>
        <a:ext cx="2327780" cy="1445315"/>
      </dsp:txXfrm>
    </dsp:sp>
    <dsp:sp modelId="{B4933B7F-DDF3-40C4-B2A5-E3864BD9FAB8}">
      <dsp:nvSpPr>
        <dsp:cNvPr id="0" name=""/>
        <dsp:cNvSpPr/>
      </dsp:nvSpPr>
      <dsp:spPr>
        <a:xfrm>
          <a:off x="5909964" y="1045493"/>
          <a:ext cx="2417712" cy="153524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BDFB8A-4BCD-4921-9141-81AE6D46F8B2}">
      <dsp:nvSpPr>
        <dsp:cNvPr id="0" name=""/>
        <dsp:cNvSpPr/>
      </dsp:nvSpPr>
      <dsp:spPr>
        <a:xfrm>
          <a:off x="6178599" y="1300696"/>
          <a:ext cx="2417712" cy="153524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b="1" kern="1200"/>
            <a:t>Symfony ≠ immunité totale</a:t>
          </a:r>
          <a:endParaRPr lang="en-US" sz="1900" kern="1200"/>
        </a:p>
      </dsp:txBody>
      <dsp:txXfrm>
        <a:off x="6223565" y="1345662"/>
        <a:ext cx="2327780" cy="14453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A14E67-1541-43DB-9C27-BE8F3076B3CC}">
      <dsp:nvSpPr>
        <dsp:cNvPr id="0" name=""/>
        <dsp:cNvSpPr/>
      </dsp:nvSpPr>
      <dsp:spPr>
        <a:xfrm>
          <a:off x="1161830" y="17778"/>
          <a:ext cx="8027816" cy="1250639"/>
        </a:xfrm>
        <a:prstGeom prst="roundRect">
          <a:avLst/>
        </a:prstGeom>
        <a:gradFill rotWithShape="0">
          <a:gsLst>
            <a:gs pos="0">
              <a:schemeClr val="accent1">
                <a:hueOff val="0"/>
                <a:satOff val="0"/>
                <a:lumOff val="0"/>
                <a:alphaOff val="0"/>
                <a:tint val="65000"/>
                <a:lumMod val="110000"/>
              </a:schemeClr>
            </a:gs>
            <a:gs pos="88000">
              <a:schemeClr val="accent1">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fr-FR" sz="2800" kern="1200" dirty="0"/>
            <a:t>Un jeton unique généré par le serveur, injecté dans chaque formulaire</a:t>
          </a:r>
          <a:endParaRPr lang="en-US" sz="2800" kern="1200" dirty="0"/>
        </a:p>
      </dsp:txBody>
      <dsp:txXfrm>
        <a:off x="1222881" y="78829"/>
        <a:ext cx="7905714" cy="1128537"/>
      </dsp:txXfrm>
    </dsp:sp>
    <dsp:sp modelId="{0B8339C0-E2B2-4C03-A2D1-B23B9D84422A}">
      <dsp:nvSpPr>
        <dsp:cNvPr id="0" name=""/>
        <dsp:cNvSpPr/>
      </dsp:nvSpPr>
      <dsp:spPr>
        <a:xfrm>
          <a:off x="1161830" y="1315066"/>
          <a:ext cx="8009295" cy="1250639"/>
        </a:xfrm>
        <a:prstGeom prst="roundRect">
          <a:avLst/>
        </a:prstGeom>
        <a:gradFill rotWithShape="0">
          <a:gsLst>
            <a:gs pos="0">
              <a:schemeClr val="accent1">
                <a:hueOff val="0"/>
                <a:satOff val="0"/>
                <a:lumOff val="0"/>
                <a:alphaOff val="0"/>
                <a:tint val="65000"/>
                <a:lumMod val="110000"/>
              </a:schemeClr>
            </a:gs>
            <a:gs pos="88000">
              <a:schemeClr val="accent1">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fr-FR" sz="2800" kern="1200" dirty="0"/>
            <a:t>Vérifié à la soumission : </a:t>
          </a:r>
          <a:r>
            <a:rPr lang="fr-FR" sz="2800" b="1" kern="1200" dirty="0"/>
            <a:t>si absent ou invalide, la requête est rejetée</a:t>
          </a:r>
          <a:endParaRPr lang="en-US" sz="2800" kern="1200" dirty="0"/>
        </a:p>
      </dsp:txBody>
      <dsp:txXfrm>
        <a:off x="1222881" y="1376117"/>
        <a:ext cx="7887193" cy="1128537"/>
      </dsp:txXfrm>
    </dsp:sp>
    <dsp:sp modelId="{41185B84-0D30-4363-A9F1-BD696BBCD08E}">
      <dsp:nvSpPr>
        <dsp:cNvPr id="0" name=""/>
        <dsp:cNvSpPr/>
      </dsp:nvSpPr>
      <dsp:spPr>
        <a:xfrm>
          <a:off x="1161830" y="2628238"/>
          <a:ext cx="8049064" cy="1250639"/>
        </a:xfrm>
        <a:prstGeom prst="roundRect">
          <a:avLst/>
        </a:prstGeom>
        <a:gradFill rotWithShape="0">
          <a:gsLst>
            <a:gs pos="0">
              <a:schemeClr val="accent1">
                <a:hueOff val="0"/>
                <a:satOff val="0"/>
                <a:lumOff val="0"/>
                <a:alphaOff val="0"/>
                <a:tint val="65000"/>
                <a:lumMod val="110000"/>
              </a:schemeClr>
            </a:gs>
            <a:gs pos="88000">
              <a:schemeClr val="accent1">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fr-FR" sz="2800" kern="1200" dirty="0"/>
            <a:t>Symfony l'active automatiquement pour tous les formulaires du composant Form</a:t>
          </a:r>
          <a:endParaRPr lang="en-US" sz="2800" kern="1200" dirty="0"/>
        </a:p>
      </dsp:txBody>
      <dsp:txXfrm>
        <a:off x="1222881" y="2689289"/>
        <a:ext cx="7926962" cy="11285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2A08F4-7C3A-4A54-A9E5-62F3FA3963CC}">
      <dsp:nvSpPr>
        <dsp:cNvPr id="0" name=""/>
        <dsp:cNvSpPr/>
      </dsp:nvSpPr>
      <dsp:spPr>
        <a:xfrm>
          <a:off x="563316" y="539241"/>
          <a:ext cx="1749937" cy="1749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0849D6-A400-4327-B23B-8BAFF259F8B4}">
      <dsp:nvSpPr>
        <dsp:cNvPr id="0" name=""/>
        <dsp:cNvSpPr/>
      </dsp:nvSpPr>
      <dsp:spPr>
        <a:xfrm>
          <a:off x="936253" y="912178"/>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FB2AB93-BE08-4E18-B5FF-7E4F18FAD7F8}">
      <dsp:nvSpPr>
        <dsp:cNvPr id="0" name=""/>
        <dsp:cNvSpPr/>
      </dsp:nvSpPr>
      <dsp:spPr>
        <a:xfrm>
          <a:off x="3910" y="283424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fr-FR" sz="1600" kern="1200"/>
            <a:t>Cookies : principes et risques, manipulation JavaScript</a:t>
          </a:r>
          <a:endParaRPr lang="en-US" sz="1600" kern="1200"/>
        </a:p>
      </dsp:txBody>
      <dsp:txXfrm>
        <a:off x="3910" y="2834241"/>
        <a:ext cx="2868750" cy="720000"/>
      </dsp:txXfrm>
    </dsp:sp>
    <dsp:sp modelId="{13E497A3-D151-4A81-A6B5-62035FB1FF22}">
      <dsp:nvSpPr>
        <dsp:cNvPr id="0" name=""/>
        <dsp:cNvSpPr/>
      </dsp:nvSpPr>
      <dsp:spPr>
        <a:xfrm>
          <a:off x="3934097" y="539241"/>
          <a:ext cx="1749937" cy="1749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8CA58B-A4D4-4F19-BE5C-2A5CC025BB4E}">
      <dsp:nvSpPr>
        <dsp:cNvPr id="0" name=""/>
        <dsp:cNvSpPr/>
      </dsp:nvSpPr>
      <dsp:spPr>
        <a:xfrm>
          <a:off x="4307035" y="912178"/>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B1F42A7-23ED-480C-B027-B506F02AA51D}">
      <dsp:nvSpPr>
        <dsp:cNvPr id="0" name=""/>
        <dsp:cNvSpPr/>
      </dsp:nvSpPr>
      <dsp:spPr>
        <a:xfrm>
          <a:off x="3374691" y="283424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fr-FR" sz="1600" kern="1200"/>
            <a:t>Sessions : cookie vs header, vol de session</a:t>
          </a:r>
          <a:endParaRPr lang="en-US" sz="1600" kern="1200"/>
        </a:p>
      </dsp:txBody>
      <dsp:txXfrm>
        <a:off x="3374691" y="2834241"/>
        <a:ext cx="2868750" cy="720000"/>
      </dsp:txXfrm>
    </dsp:sp>
    <dsp:sp modelId="{CFA17329-47EC-48D2-855B-DC9BA7FB70F2}">
      <dsp:nvSpPr>
        <dsp:cNvPr id="0" name=""/>
        <dsp:cNvSpPr/>
      </dsp:nvSpPr>
      <dsp:spPr>
        <a:xfrm>
          <a:off x="7304879" y="539241"/>
          <a:ext cx="1749937" cy="1749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83516-7013-4CB8-BF1C-EBCE82626FED}">
      <dsp:nvSpPr>
        <dsp:cNvPr id="0" name=""/>
        <dsp:cNvSpPr/>
      </dsp:nvSpPr>
      <dsp:spPr>
        <a:xfrm>
          <a:off x="7677816" y="912178"/>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230F57A-BF56-406C-89C9-2502016913EB}">
      <dsp:nvSpPr>
        <dsp:cNvPr id="0" name=""/>
        <dsp:cNvSpPr/>
      </dsp:nvSpPr>
      <dsp:spPr>
        <a:xfrm>
          <a:off x="6745472" y="283424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fr-FR" sz="1600" kern="1200"/>
            <a:t>Le Security bundle Symfony couvre déjà l’essentiel !</a:t>
          </a:r>
          <a:endParaRPr lang="en-US" sz="1600" kern="1200"/>
        </a:p>
      </dsp:txBody>
      <dsp:txXfrm>
        <a:off x="6745472" y="2834241"/>
        <a:ext cx="28687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FF8F6-80B2-4A35-8B83-AF187DF3BC3B}">
      <dsp:nvSpPr>
        <dsp:cNvPr id="0" name=""/>
        <dsp:cNvSpPr/>
      </dsp:nvSpPr>
      <dsp:spPr>
        <a:xfrm>
          <a:off x="0" y="0"/>
          <a:ext cx="8175413" cy="1228044"/>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kern="1200"/>
            <a:t>La fonctionnalité « rester connecté » : un cookie longue durée, séparé de la session</a:t>
          </a:r>
          <a:endParaRPr lang="en-US" sz="2300" kern="1200"/>
        </a:p>
      </dsp:txBody>
      <dsp:txXfrm>
        <a:off x="35968" y="35968"/>
        <a:ext cx="6850257" cy="1156108"/>
      </dsp:txXfrm>
    </dsp:sp>
    <dsp:sp modelId="{D276E4FF-5EEA-456E-BB84-87032EE00433}">
      <dsp:nvSpPr>
        <dsp:cNvPr id="0" name=""/>
        <dsp:cNvSpPr/>
      </dsp:nvSpPr>
      <dsp:spPr>
        <a:xfrm>
          <a:off x="721359" y="1432718"/>
          <a:ext cx="8175413" cy="1228044"/>
        </a:xfrm>
        <a:prstGeom prst="roundRect">
          <a:avLst>
            <a:gd name="adj" fmla="val 10000"/>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kern="1200" dirty="0"/>
            <a:t>Si fait maison : </a:t>
          </a:r>
          <a:r>
            <a:rPr lang="fr-FR" sz="2300" kern="1200" dirty="0" err="1"/>
            <a:t>token</a:t>
          </a:r>
          <a:r>
            <a:rPr lang="fr-FR" sz="2300" kern="1200" dirty="0"/>
            <a:t> statique facilement réutilisable en cas de vol</a:t>
          </a:r>
          <a:endParaRPr lang="en-US" sz="2300" kern="1200" dirty="0"/>
        </a:p>
      </dsp:txBody>
      <dsp:txXfrm>
        <a:off x="757327" y="1468686"/>
        <a:ext cx="6583888" cy="1156108"/>
      </dsp:txXfrm>
    </dsp:sp>
    <dsp:sp modelId="{0FF79CF0-6E99-42D7-BD08-56866652E9F9}">
      <dsp:nvSpPr>
        <dsp:cNvPr id="0" name=""/>
        <dsp:cNvSpPr/>
      </dsp:nvSpPr>
      <dsp:spPr>
        <a:xfrm>
          <a:off x="1442719" y="2865437"/>
          <a:ext cx="8175413" cy="1228044"/>
        </a:xfrm>
        <a:prstGeom prst="roundRect">
          <a:avLst>
            <a:gd name="adj" fmla="val 10000"/>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kern="1200" dirty="0"/>
            <a:t>Symfony : rotation de </a:t>
          </a:r>
          <a:r>
            <a:rPr lang="fr-FR" sz="2300" kern="1200" dirty="0" err="1"/>
            <a:t>token</a:t>
          </a:r>
          <a:r>
            <a:rPr lang="fr-FR" sz="2300" kern="1200" dirty="0"/>
            <a:t> à chaque utilisation</a:t>
          </a:r>
          <a:endParaRPr lang="en-US" sz="2300" kern="1200" dirty="0"/>
        </a:p>
        <a:p>
          <a:pPr marL="171450" lvl="1" indent="-171450" algn="l" defTabSz="800100">
            <a:lnSpc>
              <a:spcPct val="90000"/>
            </a:lnSpc>
            <a:spcBef>
              <a:spcPct val="0"/>
            </a:spcBef>
            <a:spcAft>
              <a:spcPct val="15000"/>
            </a:spcAft>
            <a:buNone/>
          </a:pPr>
          <a:r>
            <a:rPr lang="fr-FR" sz="1800" kern="1200" dirty="0"/>
            <a:t>Configuration dans </a:t>
          </a:r>
          <a:r>
            <a:rPr lang="fr-FR" sz="1800" b="1" kern="1200" dirty="0" err="1"/>
            <a:t>security.yaml</a:t>
          </a:r>
          <a:r>
            <a:rPr lang="fr-FR" sz="1800" b="1" kern="1200" dirty="0"/>
            <a:t>, </a:t>
          </a:r>
          <a:r>
            <a:rPr lang="fr-FR" sz="1800" kern="1200" dirty="0"/>
            <a:t>tout est</a:t>
          </a:r>
          <a:endParaRPr lang="en-US" sz="1800" kern="1200" dirty="0"/>
        </a:p>
      </dsp:txBody>
      <dsp:txXfrm>
        <a:off x="1478687" y="2901405"/>
        <a:ext cx="6583888" cy="1156108"/>
      </dsp:txXfrm>
    </dsp:sp>
    <dsp:sp modelId="{3E67A96E-3468-4311-B507-FF80A6068D19}">
      <dsp:nvSpPr>
        <dsp:cNvPr id="0" name=""/>
        <dsp:cNvSpPr/>
      </dsp:nvSpPr>
      <dsp:spPr>
        <a:xfrm>
          <a:off x="7377184" y="931267"/>
          <a:ext cx="798228" cy="798228"/>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556785" y="931267"/>
        <a:ext cx="439026" cy="600667"/>
      </dsp:txXfrm>
    </dsp:sp>
    <dsp:sp modelId="{C75BF1F1-8729-45FF-B83A-9EFEEBA202B6}">
      <dsp:nvSpPr>
        <dsp:cNvPr id="0" name=""/>
        <dsp:cNvSpPr/>
      </dsp:nvSpPr>
      <dsp:spPr>
        <a:xfrm>
          <a:off x="8098544" y="2355798"/>
          <a:ext cx="798228" cy="798228"/>
        </a:xfrm>
        <a:prstGeom prst="downArrow">
          <a:avLst>
            <a:gd name="adj1" fmla="val 55000"/>
            <a:gd name="adj2" fmla="val 45000"/>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78145" y="2355798"/>
        <a:ext cx="439026" cy="6006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C54671-4F50-4E04-9FA4-1BAB81A5768C}">
      <dsp:nvSpPr>
        <dsp:cNvPr id="0" name=""/>
        <dsp:cNvSpPr/>
      </dsp:nvSpPr>
      <dsp:spPr>
        <a:xfrm>
          <a:off x="333420" y="1035295"/>
          <a:ext cx="1028302" cy="102830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E7E073-408D-4C5E-A444-C245F055138C}">
      <dsp:nvSpPr>
        <dsp:cNvPr id="0" name=""/>
        <dsp:cNvSpPr/>
      </dsp:nvSpPr>
      <dsp:spPr>
        <a:xfrm>
          <a:off x="552567" y="1254442"/>
          <a:ext cx="590009" cy="590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22ABCF9-BAAD-4BD4-8519-19BA71048B1D}">
      <dsp:nvSpPr>
        <dsp:cNvPr id="0" name=""/>
        <dsp:cNvSpPr/>
      </dsp:nvSpPr>
      <dsp:spPr>
        <a:xfrm>
          <a:off x="4701" y="238388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kern="1200"/>
            <a:t>Failles potentielles</a:t>
          </a:r>
          <a:endParaRPr lang="en-US" sz="1200" kern="1200"/>
        </a:p>
      </dsp:txBody>
      <dsp:txXfrm>
        <a:off x="4701" y="2383889"/>
        <a:ext cx="1685742" cy="674296"/>
      </dsp:txXfrm>
    </dsp:sp>
    <dsp:sp modelId="{4B614FC9-CDCA-4914-84E2-F96D8DC141C1}">
      <dsp:nvSpPr>
        <dsp:cNvPr id="0" name=""/>
        <dsp:cNvSpPr/>
      </dsp:nvSpPr>
      <dsp:spPr>
        <a:xfrm>
          <a:off x="2314168" y="1035295"/>
          <a:ext cx="1028302" cy="102830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9EF540-3BAF-4D21-AF4B-9E39A387F948}">
      <dsp:nvSpPr>
        <dsp:cNvPr id="0" name=""/>
        <dsp:cNvSpPr/>
      </dsp:nvSpPr>
      <dsp:spPr>
        <a:xfrm>
          <a:off x="2533314" y="1254442"/>
          <a:ext cx="590009" cy="590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51A4D75-DD0A-4046-8B0C-589640CA825A}">
      <dsp:nvSpPr>
        <dsp:cNvPr id="0" name=""/>
        <dsp:cNvSpPr/>
      </dsp:nvSpPr>
      <dsp:spPr>
        <a:xfrm>
          <a:off x="1985448" y="238388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kern="1200"/>
            <a:t>Injection SQL</a:t>
          </a:r>
          <a:endParaRPr lang="en-US" sz="1200" kern="1200"/>
        </a:p>
      </dsp:txBody>
      <dsp:txXfrm>
        <a:off x="1985448" y="2383889"/>
        <a:ext cx="1685742" cy="674296"/>
      </dsp:txXfrm>
    </dsp:sp>
    <dsp:sp modelId="{DACBDAC2-9806-49E7-B4B5-35B8283AFBBC}">
      <dsp:nvSpPr>
        <dsp:cNvPr id="0" name=""/>
        <dsp:cNvSpPr/>
      </dsp:nvSpPr>
      <dsp:spPr>
        <a:xfrm>
          <a:off x="4294915" y="1035295"/>
          <a:ext cx="1028302" cy="102830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A31B1E-E9FD-4643-A431-BC1BDA5D5E10}">
      <dsp:nvSpPr>
        <dsp:cNvPr id="0" name=""/>
        <dsp:cNvSpPr/>
      </dsp:nvSpPr>
      <dsp:spPr>
        <a:xfrm>
          <a:off x="4514061" y="1254442"/>
          <a:ext cx="590009" cy="590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2A4AA6-FA27-4B92-9544-433032995186}">
      <dsp:nvSpPr>
        <dsp:cNvPr id="0" name=""/>
        <dsp:cNvSpPr/>
      </dsp:nvSpPr>
      <dsp:spPr>
        <a:xfrm>
          <a:off x="3966195" y="238388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kern="1200"/>
            <a:t>Requêtes paramétrées et procédures stockées</a:t>
          </a:r>
          <a:endParaRPr lang="en-US" sz="1200" kern="1200"/>
        </a:p>
      </dsp:txBody>
      <dsp:txXfrm>
        <a:off x="3966195" y="2383889"/>
        <a:ext cx="1685742" cy="674296"/>
      </dsp:txXfrm>
    </dsp:sp>
    <dsp:sp modelId="{CE116C91-F5A3-4A3C-A968-4B4A4A31A06F}">
      <dsp:nvSpPr>
        <dsp:cNvPr id="0" name=""/>
        <dsp:cNvSpPr/>
      </dsp:nvSpPr>
      <dsp:spPr>
        <a:xfrm>
          <a:off x="6275662" y="1035295"/>
          <a:ext cx="1028302" cy="102830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81AD65-2D02-450E-9F4C-4077739AB192}">
      <dsp:nvSpPr>
        <dsp:cNvPr id="0" name=""/>
        <dsp:cNvSpPr/>
      </dsp:nvSpPr>
      <dsp:spPr>
        <a:xfrm>
          <a:off x="6494808" y="1254442"/>
          <a:ext cx="590009" cy="590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7425932-00CE-4E3A-A49D-A49B6557164E}">
      <dsp:nvSpPr>
        <dsp:cNvPr id="0" name=""/>
        <dsp:cNvSpPr/>
      </dsp:nvSpPr>
      <dsp:spPr>
        <a:xfrm>
          <a:off x="5946942" y="238388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kern="1200"/>
            <a:t>Doctrine ORM &amp; QueryBuilder</a:t>
          </a:r>
          <a:endParaRPr lang="en-US" sz="1200" kern="1200"/>
        </a:p>
      </dsp:txBody>
      <dsp:txXfrm>
        <a:off x="5946942" y="2383889"/>
        <a:ext cx="1685742" cy="674296"/>
      </dsp:txXfrm>
    </dsp:sp>
    <dsp:sp modelId="{CE4D9FE4-E89C-474C-8539-B09789DE8684}">
      <dsp:nvSpPr>
        <dsp:cNvPr id="0" name=""/>
        <dsp:cNvSpPr/>
      </dsp:nvSpPr>
      <dsp:spPr>
        <a:xfrm>
          <a:off x="8256409" y="1035295"/>
          <a:ext cx="1028302" cy="1028302"/>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832DE1-E2B7-4E67-8453-EF0C9B986273}">
      <dsp:nvSpPr>
        <dsp:cNvPr id="0" name=""/>
        <dsp:cNvSpPr/>
      </dsp:nvSpPr>
      <dsp:spPr>
        <a:xfrm>
          <a:off x="8475555" y="1254442"/>
          <a:ext cx="590009" cy="590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01DC85C-B1DF-4ECC-A135-54449FA60B7C}">
      <dsp:nvSpPr>
        <dsp:cNvPr id="0" name=""/>
        <dsp:cNvSpPr/>
      </dsp:nvSpPr>
      <dsp:spPr>
        <a:xfrm>
          <a:off x="7927689" y="238388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kern="1200"/>
            <a:t>Risques malgré l’ORM</a:t>
          </a:r>
          <a:endParaRPr lang="en-US" sz="1200" kern="1200"/>
        </a:p>
      </dsp:txBody>
      <dsp:txXfrm>
        <a:off x="7927689" y="2383889"/>
        <a:ext cx="1685742" cy="6742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A574A0-ECA2-49F8-8E7B-C3D68C9CB6BD}">
      <dsp:nvSpPr>
        <dsp:cNvPr id="0" name=""/>
        <dsp:cNvSpPr/>
      </dsp:nvSpPr>
      <dsp:spPr>
        <a:xfrm>
          <a:off x="0" y="55741"/>
          <a:ext cx="8596668" cy="11969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a:t>Injection d’en-têtes email via formulaire de contact</a:t>
          </a:r>
          <a:endParaRPr lang="en-US" sz="3100" kern="1200"/>
        </a:p>
      </dsp:txBody>
      <dsp:txXfrm>
        <a:off x="58428" y="114169"/>
        <a:ext cx="8479812" cy="1080053"/>
      </dsp:txXfrm>
    </dsp:sp>
    <dsp:sp modelId="{DAD467FA-9E72-4CE3-8FFF-6147AD5E7F5E}">
      <dsp:nvSpPr>
        <dsp:cNvPr id="0" name=""/>
        <dsp:cNvSpPr/>
      </dsp:nvSpPr>
      <dsp:spPr>
        <a:xfrm>
          <a:off x="0" y="1341931"/>
          <a:ext cx="8596668" cy="11969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a:t>Filtrage et Symfony Mailer</a:t>
          </a:r>
          <a:endParaRPr lang="en-US" sz="3100" kern="1200"/>
        </a:p>
      </dsp:txBody>
      <dsp:txXfrm>
        <a:off x="58428" y="1400359"/>
        <a:ext cx="8479812" cy="1080053"/>
      </dsp:txXfrm>
    </dsp:sp>
    <dsp:sp modelId="{595D26E8-3144-4054-B734-B40B4FA1841F}">
      <dsp:nvSpPr>
        <dsp:cNvPr id="0" name=""/>
        <dsp:cNvSpPr/>
      </dsp:nvSpPr>
      <dsp:spPr>
        <a:xfrm>
          <a:off x="0" y="2628121"/>
          <a:ext cx="8596668" cy="11969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a:t>SSRF</a:t>
          </a:r>
          <a:endParaRPr lang="en-US" sz="3100" kern="1200"/>
        </a:p>
      </dsp:txBody>
      <dsp:txXfrm>
        <a:off x="58428" y="2686549"/>
        <a:ext cx="8479812" cy="108005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3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5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602C29-C9FD-43F1-8C11-6B7E9A7E2BC8}"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3E3B1A-C65E-4AB7-BDC1-0D2D1AB89E7A}" type="slidenum">
              <a:rPr lang="fr-FR" smtClean="0"/>
              <a:t>‹N°›</a:t>
            </a:fld>
            <a:endParaRPr lang="fr-FR"/>
          </a:p>
        </p:txBody>
      </p:sp>
    </p:spTree>
    <p:extLst>
      <p:ext uri="{BB962C8B-B14F-4D97-AF65-F5344CB8AC3E}">
        <p14:creationId xmlns:p14="http://schemas.microsoft.com/office/powerpoint/2010/main" val="1745892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va voir ensemble ce qui peut mal se passer, pourquoi, et surtout ce qu'on peut faire dès qu'on écrit du code.</a:t>
            </a:r>
          </a:p>
          <a:p>
            <a:endParaRPr lang="fr-FR" dirty="0"/>
          </a:p>
        </p:txBody>
      </p:sp>
      <p:sp>
        <p:nvSpPr>
          <p:cNvPr id="4" name="Espace réservé du numéro de diapositive 3"/>
          <p:cNvSpPr>
            <a:spLocks noGrp="1"/>
          </p:cNvSpPr>
          <p:nvPr>
            <p:ph type="sldNum" sz="quarter" idx="5"/>
          </p:nvPr>
        </p:nvSpPr>
        <p:spPr/>
        <p:txBody>
          <a:bodyPr/>
          <a:lstStyle/>
          <a:p>
            <a:fld id="{C23E3B1A-C65E-4AB7-BDC1-0D2D1AB89E7A}" type="slidenum">
              <a:rPr lang="fr-FR" smtClean="0"/>
              <a:t>2</a:t>
            </a:fld>
            <a:endParaRPr lang="fr-FR"/>
          </a:p>
        </p:txBody>
      </p:sp>
    </p:spTree>
    <p:extLst>
      <p:ext uri="{BB962C8B-B14F-4D97-AF65-F5344CB8AC3E}">
        <p14:creationId xmlns:p14="http://schemas.microsoft.com/office/powerpoint/2010/main" val="2939189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F423D-7F47-512F-34CA-9B693F32B8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7832F4-0A53-6E02-902D-C155F111B8E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E308210-D897-C643-2E21-A88F542E81A3}"/>
              </a:ext>
            </a:extLst>
          </p:cNvPr>
          <p:cNvSpPr>
            <a:spLocks noGrp="1"/>
          </p:cNvSpPr>
          <p:nvPr>
            <p:ph type="body" idx="1"/>
          </p:nvPr>
        </p:nvSpPr>
        <p:spPr/>
        <p:txBody>
          <a:bodyPr/>
          <a:lstStyle/>
          <a:p>
            <a:r>
              <a:rPr lang="fr-FR" dirty="0" err="1"/>
              <a:t>Defacement</a:t>
            </a:r>
            <a:r>
              <a:rPr lang="fr-FR" dirty="0"/>
              <a:t> : attaque consistant à hacker un </a:t>
            </a:r>
            <a:r>
              <a:rPr lang="fr-FR" dirty="0" err="1"/>
              <a:t>siteweb</a:t>
            </a:r>
            <a:r>
              <a:rPr lang="fr-FR" dirty="0"/>
              <a:t> de manière à en modifier les pages</a:t>
            </a:r>
          </a:p>
          <a:p>
            <a:endParaRPr lang="fr-F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Par exemple le vol de données de 34 millions d'assurés français révélé en juin 2026</a:t>
            </a:r>
          </a:p>
          <a:p>
            <a:endParaRPr lang="fr-FR" b="1" dirty="0"/>
          </a:p>
        </p:txBody>
      </p:sp>
      <p:sp>
        <p:nvSpPr>
          <p:cNvPr id="4" name="Espace réservé du numéro de diapositive 3">
            <a:extLst>
              <a:ext uri="{FF2B5EF4-FFF2-40B4-BE49-F238E27FC236}">
                <a16:creationId xmlns:a16="http://schemas.microsoft.com/office/drawing/2014/main" id="{8B15C61B-7EB0-B7E1-C9B7-81AE854FF2E0}"/>
              </a:ext>
            </a:extLst>
          </p:cNvPr>
          <p:cNvSpPr>
            <a:spLocks noGrp="1"/>
          </p:cNvSpPr>
          <p:nvPr>
            <p:ph type="sldNum" sz="quarter" idx="5"/>
          </p:nvPr>
        </p:nvSpPr>
        <p:spPr/>
        <p:txBody>
          <a:bodyPr/>
          <a:lstStyle/>
          <a:p>
            <a:fld id="{C23E3B1A-C65E-4AB7-BDC1-0D2D1AB89E7A}" type="slidenum">
              <a:rPr lang="fr-FR" smtClean="0"/>
              <a:t>3</a:t>
            </a:fld>
            <a:endParaRPr lang="fr-FR"/>
          </a:p>
        </p:txBody>
      </p:sp>
    </p:spTree>
    <p:extLst>
      <p:ext uri="{BB962C8B-B14F-4D97-AF65-F5344CB8AC3E}">
        <p14:creationId xmlns:p14="http://schemas.microsoft.com/office/powerpoint/2010/main" val="4148316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4C84D-E646-6BC0-5F3F-D60EBAC608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487479-CD8A-21EA-718B-BE1A08EA7D7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FD50778-634E-F705-AF23-FB1635FBE22F}"/>
              </a:ext>
            </a:extLst>
          </p:cNvPr>
          <p:cNvSpPr>
            <a:spLocks noGrp="1"/>
          </p:cNvSpPr>
          <p:nvPr>
            <p:ph type="body" idx="1"/>
          </p:nvPr>
        </p:nvSpPr>
        <p:spPr/>
        <p:txBody>
          <a:bodyPr/>
          <a:lstStyle/>
          <a:p>
            <a:r>
              <a:rPr lang="fr-FR" dirty="0"/>
              <a:t>Détournement de site : </a:t>
            </a:r>
            <a:r>
              <a:rPr lang="fr-FR" b="1" dirty="0"/>
              <a:t>redirection frauduleuse</a:t>
            </a:r>
          </a:p>
          <a:p>
            <a:r>
              <a:rPr lang="fr-FR" dirty="0"/>
              <a:t>Données confidentielles : </a:t>
            </a:r>
            <a:r>
              <a:rPr lang="fr-FR" b="1" dirty="0"/>
              <a:t>fuite de base (identifiants, emails, IBAN) </a:t>
            </a:r>
          </a:p>
          <a:p>
            <a:r>
              <a:rPr lang="fr-FR" dirty="0"/>
              <a:t>Abus de ressources : </a:t>
            </a:r>
            <a:r>
              <a:rPr lang="fr-FR" b="1" dirty="0" err="1"/>
              <a:t>cryptomining</a:t>
            </a:r>
            <a:r>
              <a:rPr lang="fr-FR" b="1" dirty="0"/>
              <a:t> ou spam via serveur compromis</a:t>
            </a:r>
          </a:p>
          <a:p>
            <a:r>
              <a:rPr lang="fr-FR" dirty="0"/>
              <a:t>Vol d'identité : </a:t>
            </a:r>
            <a:r>
              <a:rPr lang="fr-FR" b="1" dirty="0"/>
              <a:t>usurpation de compte, session volée</a:t>
            </a:r>
          </a:p>
          <a:p>
            <a:endParaRPr lang="fr-FR" b="1" dirty="0"/>
          </a:p>
          <a:p>
            <a:r>
              <a:rPr lang="fr-FR" b="1" dirty="0"/>
              <a:t>Exemple de source : IBM estime à 4,4M de dollars le coût moyen d’une cyberattaque</a:t>
            </a:r>
          </a:p>
        </p:txBody>
      </p:sp>
      <p:sp>
        <p:nvSpPr>
          <p:cNvPr id="4" name="Espace réservé du numéro de diapositive 3">
            <a:extLst>
              <a:ext uri="{FF2B5EF4-FFF2-40B4-BE49-F238E27FC236}">
                <a16:creationId xmlns:a16="http://schemas.microsoft.com/office/drawing/2014/main" id="{6FCDD653-ED5E-9E28-08D8-A7917F393A1F}"/>
              </a:ext>
            </a:extLst>
          </p:cNvPr>
          <p:cNvSpPr>
            <a:spLocks noGrp="1"/>
          </p:cNvSpPr>
          <p:nvPr>
            <p:ph type="sldNum" sz="quarter" idx="5"/>
          </p:nvPr>
        </p:nvSpPr>
        <p:spPr/>
        <p:txBody>
          <a:bodyPr/>
          <a:lstStyle/>
          <a:p>
            <a:fld id="{C23E3B1A-C65E-4AB7-BDC1-0D2D1AB89E7A}" type="slidenum">
              <a:rPr lang="fr-FR" smtClean="0"/>
              <a:t>4</a:t>
            </a:fld>
            <a:endParaRPr lang="fr-FR"/>
          </a:p>
        </p:txBody>
      </p:sp>
    </p:spTree>
    <p:extLst>
      <p:ext uri="{BB962C8B-B14F-4D97-AF65-F5344CB8AC3E}">
        <p14:creationId xmlns:p14="http://schemas.microsoft.com/office/powerpoint/2010/main" val="244930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48DDC-BF8D-8C93-0DD5-5BDEE58FE21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BE2CCA-611E-18CD-D7DB-A1E4E68C50A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CA6DD7F-DD6B-EE21-070F-C2AF988E4AE2}"/>
              </a:ext>
            </a:extLst>
          </p:cNvPr>
          <p:cNvSpPr>
            <a:spLocks noGrp="1"/>
          </p:cNvSpPr>
          <p:nvPr>
            <p:ph type="body" idx="1"/>
          </p:nvPr>
        </p:nvSpPr>
        <p:spPr/>
        <p:txBody>
          <a:bodyPr/>
          <a:lstStyle/>
          <a:p>
            <a:endParaRPr lang="fr-FR" b="1" dirty="0"/>
          </a:p>
        </p:txBody>
      </p:sp>
      <p:sp>
        <p:nvSpPr>
          <p:cNvPr id="4" name="Espace réservé du numéro de diapositive 3">
            <a:extLst>
              <a:ext uri="{FF2B5EF4-FFF2-40B4-BE49-F238E27FC236}">
                <a16:creationId xmlns:a16="http://schemas.microsoft.com/office/drawing/2014/main" id="{AE8A3278-35B4-4975-9CF7-674AA16C394F}"/>
              </a:ext>
            </a:extLst>
          </p:cNvPr>
          <p:cNvSpPr>
            <a:spLocks noGrp="1"/>
          </p:cNvSpPr>
          <p:nvPr>
            <p:ph type="sldNum" sz="quarter" idx="5"/>
          </p:nvPr>
        </p:nvSpPr>
        <p:spPr/>
        <p:txBody>
          <a:bodyPr/>
          <a:lstStyle/>
          <a:p>
            <a:fld id="{C23E3B1A-C65E-4AB7-BDC1-0D2D1AB89E7A}" type="slidenum">
              <a:rPr lang="fr-FR" smtClean="0"/>
              <a:t>5</a:t>
            </a:fld>
            <a:endParaRPr lang="fr-FR"/>
          </a:p>
        </p:txBody>
      </p:sp>
    </p:spTree>
    <p:extLst>
      <p:ext uri="{BB962C8B-B14F-4D97-AF65-F5344CB8AC3E}">
        <p14:creationId xmlns:p14="http://schemas.microsoft.com/office/powerpoint/2010/main" val="2514577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A7D2F-82D6-0680-FAA1-207294EF64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1DCF92-3E9A-3006-2369-2EA563C15E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16DB5C-21E9-42ED-E7D7-DED41836B2E4}"/>
              </a:ext>
            </a:extLst>
          </p:cNvPr>
          <p:cNvSpPr>
            <a:spLocks noGrp="1"/>
          </p:cNvSpPr>
          <p:nvPr>
            <p:ph type="body" idx="1"/>
          </p:nvPr>
        </p:nvSpPr>
        <p:spPr/>
        <p:txBody>
          <a:bodyPr/>
          <a:lstStyle/>
          <a:p>
            <a:r>
              <a:rPr lang="fr-FR" dirty="0"/>
              <a:t>Cette partie couvre les attaques les plus fréquentes côté navigateur et formulaires, celles que l'on retrouve dans la quasi-totalité des applications web.</a:t>
            </a:r>
          </a:p>
          <a:p>
            <a:endParaRPr lang="fr-FR" dirty="0"/>
          </a:p>
          <a:p>
            <a:r>
              <a:rPr lang="fr-FR" dirty="0"/>
              <a:t>Pour chaque sujet, on verra le principe de l'attaque, puis ce que Symfony gère déjà nativement, et enfin où la vigilance du développeur reste indispensable.</a:t>
            </a:r>
          </a:p>
          <a:p>
            <a:endParaRPr lang="fr-FR" dirty="0"/>
          </a:p>
        </p:txBody>
      </p:sp>
      <p:sp>
        <p:nvSpPr>
          <p:cNvPr id="4" name="Espace réservé du numéro de diapositive 3">
            <a:extLst>
              <a:ext uri="{FF2B5EF4-FFF2-40B4-BE49-F238E27FC236}">
                <a16:creationId xmlns:a16="http://schemas.microsoft.com/office/drawing/2014/main" id="{94C091BF-7417-ACB6-52A1-15EBB7169618}"/>
              </a:ext>
            </a:extLst>
          </p:cNvPr>
          <p:cNvSpPr>
            <a:spLocks noGrp="1"/>
          </p:cNvSpPr>
          <p:nvPr>
            <p:ph type="sldNum" sz="quarter" idx="5"/>
          </p:nvPr>
        </p:nvSpPr>
        <p:spPr/>
        <p:txBody>
          <a:bodyPr/>
          <a:lstStyle/>
          <a:p>
            <a:fld id="{C23E3B1A-C65E-4AB7-BDC1-0D2D1AB89E7A}" type="slidenum">
              <a:rPr lang="fr-FR" smtClean="0"/>
              <a:t>6</a:t>
            </a:fld>
            <a:endParaRPr lang="fr-FR"/>
          </a:p>
        </p:txBody>
      </p:sp>
    </p:spTree>
    <p:extLst>
      <p:ext uri="{BB962C8B-B14F-4D97-AF65-F5344CB8AC3E}">
        <p14:creationId xmlns:p14="http://schemas.microsoft.com/office/powerpoint/2010/main" val="3884679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A90E-698F-D2E3-68E5-A865EFE44C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63D8F4-9741-6B41-78E7-BA9BEF45AE7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70E015-6246-0C84-29BB-B22B08E4BDE5}"/>
              </a:ext>
            </a:extLst>
          </p:cNvPr>
          <p:cNvSpPr>
            <a:spLocks noGrp="1"/>
          </p:cNvSpPr>
          <p:nvPr>
            <p:ph type="body" idx="1"/>
          </p:nvPr>
        </p:nvSpPr>
        <p:spPr/>
        <p:txBody>
          <a:bodyPr/>
          <a:lstStyle/>
          <a:p>
            <a:r>
              <a:rPr lang="fr-FR" dirty="0"/>
              <a:t>Le XSS détourne la confiance qu'un navigateur accorde à un site. L'attaquant fait exécuter son propre code dans le contexte de la victime, ce qui lui permet de voler des cookies de session, rediriger vers un site frauduleux, ou modifier le contenu affiché.</a:t>
            </a:r>
          </a:p>
          <a:p>
            <a:endParaRPr lang="fr-FR" dirty="0"/>
          </a:p>
          <a:p>
            <a:r>
              <a:rPr lang="fr-FR" dirty="0"/>
              <a:t>Stocké (persistent) : le script malveillant est enregistré en base (ex : dans un commentaire) et s'exécute pour chaque visiteur qui affiche la page</a:t>
            </a:r>
          </a:p>
          <a:p>
            <a:r>
              <a:rPr lang="fr-FR" dirty="0"/>
              <a:t>Réfléchi (</a:t>
            </a:r>
            <a:r>
              <a:rPr lang="fr-FR" dirty="0" err="1"/>
              <a:t>reflected</a:t>
            </a:r>
            <a:r>
              <a:rPr lang="fr-FR" dirty="0"/>
              <a:t>) : le script est injecté via une URL ou un paramètre, renvoyé immédiatement dans la réponse, nécessite que la victime clique sur un lien piégé</a:t>
            </a:r>
          </a:p>
          <a:p>
            <a:r>
              <a:rPr lang="fr-FR" dirty="0"/>
              <a:t>DOM-</a:t>
            </a:r>
            <a:r>
              <a:rPr lang="fr-FR" dirty="0" err="1"/>
              <a:t>based</a:t>
            </a:r>
            <a:r>
              <a:rPr lang="fr-FR" dirty="0"/>
              <a:t> : l'injection se joue entièrement côté client, via manipulation du DOM en JavaScript, sans jamais toucher le serveur</a:t>
            </a:r>
          </a:p>
        </p:txBody>
      </p:sp>
      <p:sp>
        <p:nvSpPr>
          <p:cNvPr id="4" name="Espace réservé du numéro de diapositive 3">
            <a:extLst>
              <a:ext uri="{FF2B5EF4-FFF2-40B4-BE49-F238E27FC236}">
                <a16:creationId xmlns:a16="http://schemas.microsoft.com/office/drawing/2014/main" id="{9DA15E2A-3257-494A-0489-81D4D0237758}"/>
              </a:ext>
            </a:extLst>
          </p:cNvPr>
          <p:cNvSpPr>
            <a:spLocks noGrp="1"/>
          </p:cNvSpPr>
          <p:nvPr>
            <p:ph type="sldNum" sz="quarter" idx="5"/>
          </p:nvPr>
        </p:nvSpPr>
        <p:spPr/>
        <p:txBody>
          <a:bodyPr/>
          <a:lstStyle/>
          <a:p>
            <a:fld id="{C23E3B1A-C65E-4AB7-BDC1-0D2D1AB89E7A}" type="slidenum">
              <a:rPr lang="fr-FR" smtClean="0"/>
              <a:t>7</a:t>
            </a:fld>
            <a:endParaRPr lang="fr-FR"/>
          </a:p>
        </p:txBody>
      </p:sp>
    </p:spTree>
    <p:extLst>
      <p:ext uri="{BB962C8B-B14F-4D97-AF65-F5344CB8AC3E}">
        <p14:creationId xmlns:p14="http://schemas.microsoft.com/office/powerpoint/2010/main" val="1273012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718A5-954E-8519-D4C8-43C73B3EEB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3031C2-C8B5-2E11-A13D-08AF7398BC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F76F7E-6D15-103F-CCB4-7B7F83CD11B3}"/>
              </a:ext>
            </a:extLst>
          </p:cNvPr>
          <p:cNvSpPr>
            <a:spLocks noGrp="1"/>
          </p:cNvSpPr>
          <p:nvPr>
            <p:ph type="body" idx="1"/>
          </p:nvPr>
        </p:nvSpPr>
        <p:spPr/>
        <p:txBody>
          <a:bodyPr/>
          <a:lstStyle/>
          <a:p>
            <a:pPr marL="171450" indent="-171450">
              <a:buFontTx/>
              <a:buChar char="-"/>
            </a:pPr>
            <a:r>
              <a:rPr lang="fr-FR" dirty="0"/>
              <a:t>Twig échappe automatiquement les variables affichées dans les </a:t>
            </a:r>
            <a:r>
              <a:rPr lang="fr-FR" dirty="0" err="1"/>
              <a:t>templates</a:t>
            </a:r>
            <a:r>
              <a:rPr lang="fr-FR" dirty="0"/>
              <a:t>, ce qui protège nativement contre la majorité des XSS. L]</a:t>
            </a:r>
          </a:p>
          <a:p>
            <a:pPr marL="171450" indent="-171450">
              <a:buFontTx/>
              <a:buChar char="-"/>
            </a:pPr>
            <a:endParaRPr lang="fr-FR" dirty="0"/>
          </a:p>
          <a:p>
            <a:pPr marL="171450" indent="-171450">
              <a:buFontTx/>
              <a:buChar char="-"/>
            </a:pPr>
            <a:r>
              <a:rPr lang="fr-FR" dirty="0"/>
              <a:t>La faille la plus fréquente en pratique : un développeur ajoute </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raw</a:t>
            </a:r>
            <a:r>
              <a:rPr lang="fr-FR" dirty="0"/>
              <a:t> pour afficher du HTML voulu (ex : contenu WYSIWYG) et oublie que ça désactive la protection sur cette variable précise </a:t>
            </a:r>
          </a:p>
          <a:p>
            <a:pPr marL="171450" indent="-171450">
              <a:buFontTx/>
              <a:buChar char="-"/>
            </a:pPr>
            <a:endParaRPr lang="fr-FR" dirty="0"/>
          </a:p>
          <a:p>
            <a:pPr marL="171450" indent="-171450">
              <a:buFontTx/>
              <a:buChar char="-"/>
            </a:pPr>
            <a:r>
              <a:rPr lang="fr-FR" dirty="0"/>
              <a:t>Autre piège classique cité dans la doc communautaire : activer un </a:t>
            </a:r>
            <a:r>
              <a:rPr lang="fr-FR" dirty="0" err="1"/>
              <a:t>autoescape</a:t>
            </a:r>
            <a:r>
              <a:rPr lang="fr-FR" dirty="0"/>
              <a:t> par bloc, puis ajouter un </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raw</a:t>
            </a:r>
            <a:r>
              <a:rPr lang="fr-FR" dirty="0"/>
              <a:t> à l'intérieur sans s'en souvenir plus.</a:t>
            </a:r>
          </a:p>
          <a:p>
            <a:pPr marL="171450" indent="-171450">
              <a:buFontTx/>
              <a:buChar char="-"/>
            </a:pPr>
            <a:endParaRPr lang="fr-FR" dirty="0"/>
          </a:p>
          <a:p>
            <a:pPr marL="171450" indent="-171450">
              <a:buFontTx/>
              <a:buChar char="-"/>
            </a:pPr>
            <a:r>
              <a:rPr lang="fr-FR" dirty="0"/>
              <a:t>Insistez : "Symfony vous protège par défaut, mais chaque </a:t>
            </a:r>
            <a:r>
              <a:rPr lang="fr-FR" sz="1200" b="1" kern="1200" dirty="0">
                <a:solidFill>
                  <a:schemeClr val="tx1"/>
                </a:solidFill>
                <a:latin typeface="+mn-lt"/>
                <a:ea typeface="+mn-ea"/>
                <a:cs typeface="+mn-cs"/>
              </a:rPr>
              <a:t>|</a:t>
            </a:r>
            <a:r>
              <a:rPr lang="fr-FR" sz="1200" b="1" kern="1200" dirty="0" err="1">
                <a:solidFill>
                  <a:schemeClr val="tx1"/>
                </a:solidFill>
                <a:latin typeface="+mn-lt"/>
                <a:ea typeface="+mn-ea"/>
                <a:cs typeface="+mn-cs"/>
              </a:rPr>
              <a:t>raw</a:t>
            </a:r>
            <a:r>
              <a:rPr lang="fr-FR" b="1" dirty="0"/>
              <a:t> </a:t>
            </a:r>
            <a:r>
              <a:rPr lang="fr-FR" dirty="0"/>
              <a:t>est un endroit où vous reprenez la responsabilité vous-même</a:t>
            </a:r>
          </a:p>
        </p:txBody>
      </p:sp>
      <p:sp>
        <p:nvSpPr>
          <p:cNvPr id="4" name="Espace réservé du numéro de diapositive 3">
            <a:extLst>
              <a:ext uri="{FF2B5EF4-FFF2-40B4-BE49-F238E27FC236}">
                <a16:creationId xmlns:a16="http://schemas.microsoft.com/office/drawing/2014/main" id="{FABE4AA8-D1AB-0EFF-5134-6D6931284F96}"/>
              </a:ext>
            </a:extLst>
          </p:cNvPr>
          <p:cNvSpPr>
            <a:spLocks noGrp="1"/>
          </p:cNvSpPr>
          <p:nvPr>
            <p:ph type="sldNum" sz="quarter" idx="5"/>
          </p:nvPr>
        </p:nvSpPr>
        <p:spPr/>
        <p:txBody>
          <a:bodyPr/>
          <a:lstStyle/>
          <a:p>
            <a:fld id="{C23E3B1A-C65E-4AB7-BDC1-0D2D1AB89E7A}" type="slidenum">
              <a:rPr lang="fr-FR" smtClean="0"/>
              <a:t>8</a:t>
            </a:fld>
            <a:endParaRPr lang="fr-FR"/>
          </a:p>
        </p:txBody>
      </p:sp>
    </p:spTree>
    <p:extLst>
      <p:ext uri="{BB962C8B-B14F-4D97-AF65-F5344CB8AC3E}">
        <p14:creationId xmlns:p14="http://schemas.microsoft.com/office/powerpoint/2010/main" val="786490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03B28-E5C8-A30C-074C-E3B7329FAA6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98ECDF-2D53-1FCD-D113-51F0E88023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056CC85-32ED-054B-BF93-70D4E5D4171C}"/>
              </a:ext>
            </a:extLst>
          </p:cNvPr>
          <p:cNvSpPr>
            <a:spLocks noGrp="1"/>
          </p:cNvSpPr>
          <p:nvPr>
            <p:ph type="body" idx="1"/>
          </p:nvPr>
        </p:nvSpPr>
        <p:spPr/>
        <p:txBody>
          <a:bodyPr/>
          <a:lstStyle/>
          <a:p>
            <a:r>
              <a:rPr lang="fr-FR" dirty="0"/>
              <a:t>Twig propose des stratégies d'échappement différentes selon le contexte : </a:t>
            </a:r>
            <a:r>
              <a:rPr lang="fr-FR" sz="1200" kern="1200" dirty="0">
                <a:solidFill>
                  <a:schemeClr val="tx1"/>
                </a:solidFill>
                <a:latin typeface="+mn-lt"/>
                <a:ea typeface="+mn-ea"/>
                <a:cs typeface="+mn-cs"/>
              </a:rPr>
              <a:t>html</a:t>
            </a:r>
            <a:r>
              <a:rPr lang="fr-FR" dirty="0"/>
              <a:t>, </a:t>
            </a:r>
            <a:r>
              <a:rPr lang="fr-FR" sz="1200" kern="1200" dirty="0" err="1">
                <a:solidFill>
                  <a:schemeClr val="tx1"/>
                </a:solidFill>
                <a:latin typeface="+mn-lt"/>
                <a:ea typeface="+mn-ea"/>
                <a:cs typeface="+mn-cs"/>
              </a:rPr>
              <a:t>js</a:t>
            </a:r>
            <a:r>
              <a:rPr lang="fr-FR" dirty="0"/>
              <a:t>, </a:t>
            </a:r>
            <a:r>
              <a:rPr lang="fr-FR" sz="1200" kern="1200" dirty="0" err="1">
                <a:solidFill>
                  <a:schemeClr val="tx1"/>
                </a:solidFill>
                <a:latin typeface="+mn-lt"/>
                <a:ea typeface="+mn-ea"/>
                <a:cs typeface="+mn-cs"/>
              </a:rPr>
              <a:t>css</a:t>
            </a:r>
            <a:r>
              <a:rPr lang="fr-FR" dirty="0"/>
              <a:t>, </a:t>
            </a:r>
            <a:r>
              <a:rPr lang="fr-FR" sz="1200" kern="1200" dirty="0">
                <a:solidFill>
                  <a:schemeClr val="tx1"/>
                </a:solidFill>
                <a:latin typeface="+mn-lt"/>
                <a:ea typeface="+mn-ea"/>
                <a:cs typeface="+mn-cs"/>
              </a:rPr>
              <a:t>url</a:t>
            </a:r>
            <a:r>
              <a:rPr lang="fr-FR" dirty="0"/>
              <a:t>, </a:t>
            </a:r>
            <a:r>
              <a:rPr lang="fr-FR" sz="1200" kern="1200" dirty="0" err="1">
                <a:solidFill>
                  <a:schemeClr val="tx1"/>
                </a:solidFill>
                <a:latin typeface="+mn-lt"/>
                <a:ea typeface="+mn-ea"/>
                <a:cs typeface="+mn-cs"/>
              </a:rPr>
              <a:t>html_attr</a:t>
            </a:r>
            <a:r>
              <a:rPr lang="fr-FR" dirty="0"/>
              <a:t>.</a:t>
            </a:r>
          </a:p>
          <a:p>
            <a:endParaRPr lang="fr-FR" dirty="0"/>
          </a:p>
          <a:p>
            <a:r>
              <a:rPr lang="fr-FR" dirty="0"/>
              <a:t>Erreur fréquente : échapper une variable en HTML alors qu'elle est insérée dans du JavaScript ou une URL — l'échappement HTML ne protège pas contre une injection dans ces contextes</a:t>
            </a:r>
          </a:p>
          <a:p>
            <a:endParaRPr lang="fr-FR" dirty="0"/>
          </a:p>
          <a:p>
            <a:r>
              <a:rPr lang="fr-FR" dirty="0"/>
              <a:t>Exemple concret : une variable insérée dans un </a:t>
            </a:r>
            <a:r>
              <a:rPr lang="fr-FR" sz="1200" kern="1200" dirty="0">
                <a:solidFill>
                  <a:schemeClr val="tx1"/>
                </a:solidFill>
                <a:latin typeface="+mn-lt"/>
                <a:ea typeface="+mn-ea"/>
                <a:cs typeface="+mn-cs"/>
              </a:rPr>
              <a:t>&lt;script&gt;</a:t>
            </a:r>
            <a:r>
              <a:rPr lang="fr-FR" dirty="0"/>
              <a:t> doit utiliser </a:t>
            </a:r>
            <a:r>
              <a:rPr lang="fr-FR" sz="1200" kern="1200" dirty="0">
                <a:solidFill>
                  <a:schemeClr val="tx1"/>
                </a:solidFill>
                <a:latin typeface="+mn-lt"/>
                <a:ea typeface="+mn-ea"/>
                <a:cs typeface="+mn-cs"/>
              </a:rPr>
              <a:t>|escape('</a:t>
            </a:r>
            <a:r>
              <a:rPr lang="fr-FR" sz="1200" kern="1200" dirty="0" err="1">
                <a:solidFill>
                  <a:schemeClr val="tx1"/>
                </a:solidFill>
                <a:latin typeface="+mn-lt"/>
                <a:ea typeface="+mn-ea"/>
                <a:cs typeface="+mn-cs"/>
              </a:rPr>
              <a:t>js</a:t>
            </a:r>
            <a:r>
              <a:rPr lang="fr-FR" sz="1200" kern="1200" dirty="0">
                <a:solidFill>
                  <a:schemeClr val="tx1"/>
                </a:solidFill>
                <a:latin typeface="+mn-lt"/>
                <a:ea typeface="+mn-ea"/>
                <a:cs typeface="+mn-cs"/>
              </a:rPr>
              <a:t>')</a:t>
            </a:r>
            <a:r>
              <a:rPr lang="fr-FR" dirty="0"/>
              <a:t>, pas l'échappement par défaut.</a:t>
            </a:r>
          </a:p>
        </p:txBody>
      </p:sp>
      <p:sp>
        <p:nvSpPr>
          <p:cNvPr id="4" name="Espace réservé du numéro de diapositive 3">
            <a:extLst>
              <a:ext uri="{FF2B5EF4-FFF2-40B4-BE49-F238E27FC236}">
                <a16:creationId xmlns:a16="http://schemas.microsoft.com/office/drawing/2014/main" id="{A800F054-F841-AAF4-12DE-E8FD39053126}"/>
              </a:ext>
            </a:extLst>
          </p:cNvPr>
          <p:cNvSpPr>
            <a:spLocks noGrp="1"/>
          </p:cNvSpPr>
          <p:nvPr>
            <p:ph type="sldNum" sz="quarter" idx="5"/>
          </p:nvPr>
        </p:nvSpPr>
        <p:spPr/>
        <p:txBody>
          <a:bodyPr/>
          <a:lstStyle/>
          <a:p>
            <a:fld id="{C23E3B1A-C65E-4AB7-BDC1-0D2D1AB89E7A}" type="slidenum">
              <a:rPr lang="fr-FR" smtClean="0"/>
              <a:t>9</a:t>
            </a:fld>
            <a:endParaRPr lang="fr-FR"/>
          </a:p>
        </p:txBody>
      </p:sp>
    </p:spTree>
    <p:extLst>
      <p:ext uri="{BB962C8B-B14F-4D97-AF65-F5344CB8AC3E}">
        <p14:creationId xmlns:p14="http://schemas.microsoft.com/office/powerpoint/2010/main" val="3158333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C640-3904-5280-B3CB-8341B7D2681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1D2DC7-A3D2-921A-5FAE-71366F09594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EE2479C-6FF2-EB4C-0D05-A2F9E1AE0D72}"/>
              </a:ext>
            </a:extLst>
          </p:cNvPr>
          <p:cNvSpPr>
            <a:spLocks noGrp="1"/>
          </p:cNvSpPr>
          <p:nvPr>
            <p:ph type="body" idx="1"/>
          </p:nvPr>
        </p:nvSpPr>
        <p:spPr/>
        <p:txBody>
          <a:bodyPr/>
          <a:lstStyle/>
          <a:p>
            <a:r>
              <a:rPr lang="fr-FR" dirty="0"/>
              <a:t>C'est en réalité le XSS stocké déjà évoqué, mais vu ici sous l'angle "la base de données devient elle-même le vecteur d'infection".</a:t>
            </a:r>
          </a:p>
          <a:p>
            <a:endParaRPr lang="fr-FR" dirty="0"/>
          </a:p>
          <a:p>
            <a:r>
              <a:rPr lang="fr-FR" dirty="0"/>
              <a:t>Différence clé à souligner avec le XSS réfléchi vu précédemment : ici, l'attaquant n'a besoin ni de lien piégé, il soumet une fois son </a:t>
            </a:r>
            <a:r>
              <a:rPr lang="fr-FR" dirty="0" err="1"/>
              <a:t>payload</a:t>
            </a:r>
            <a:r>
              <a:rPr lang="fr-FR" dirty="0"/>
              <a:t> via un formulaire normal (commentaire, avis, nom de profil), l'application le stocke tel quel en base, et le sert ensuite à </a:t>
            </a:r>
          </a:p>
          <a:p>
            <a:endParaRPr lang="fr-FR" dirty="0"/>
          </a:p>
          <a:p>
            <a:r>
              <a:rPr lang="fr-FR" dirty="0"/>
              <a:t>Le vecteur classique : Logs, fichiers cachés, champs "techniques" (user-agent, </a:t>
            </a:r>
            <a:r>
              <a:rPr lang="fr-FR" dirty="0" err="1"/>
              <a:t>referer</a:t>
            </a:r>
            <a:r>
              <a:rPr lang="fr-FR" dirty="0"/>
              <a:t>)tous les visiteurs qui chargent cette page. Le coût pour l'attaquant est donc quasi nul, alors que l'impact touche potentiellement tous les visiteurs. Toute donnée affichée sans échappement est un vecteur potentiel, même non visible à l'écriture</a:t>
            </a:r>
          </a:p>
        </p:txBody>
      </p:sp>
      <p:sp>
        <p:nvSpPr>
          <p:cNvPr id="4" name="Espace réservé du numéro de diapositive 3">
            <a:extLst>
              <a:ext uri="{FF2B5EF4-FFF2-40B4-BE49-F238E27FC236}">
                <a16:creationId xmlns:a16="http://schemas.microsoft.com/office/drawing/2014/main" id="{E14FB059-BA16-D1D3-08F2-640B4BD650C4}"/>
              </a:ext>
            </a:extLst>
          </p:cNvPr>
          <p:cNvSpPr>
            <a:spLocks noGrp="1"/>
          </p:cNvSpPr>
          <p:nvPr>
            <p:ph type="sldNum" sz="quarter" idx="5"/>
          </p:nvPr>
        </p:nvSpPr>
        <p:spPr/>
        <p:txBody>
          <a:bodyPr/>
          <a:lstStyle/>
          <a:p>
            <a:fld id="{C23E3B1A-C65E-4AB7-BDC1-0D2D1AB89E7A}" type="slidenum">
              <a:rPr lang="fr-FR" smtClean="0"/>
              <a:t>10</a:t>
            </a:fld>
            <a:endParaRPr lang="fr-FR"/>
          </a:p>
        </p:txBody>
      </p:sp>
    </p:spTree>
    <p:extLst>
      <p:ext uri="{BB962C8B-B14F-4D97-AF65-F5344CB8AC3E}">
        <p14:creationId xmlns:p14="http://schemas.microsoft.com/office/powerpoint/2010/main" val="2197059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22200-6973-ED31-4505-85EFE66E10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398298-4497-AB3F-FAD7-D89F15D529C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D7617C8-765B-3503-D9D4-8015B3009BE4}"/>
              </a:ext>
            </a:extLst>
          </p:cNvPr>
          <p:cNvSpPr>
            <a:spLocks noGrp="1"/>
          </p:cNvSpPr>
          <p:nvPr>
            <p:ph type="body" idx="1"/>
          </p:nvPr>
        </p:nvSpPr>
        <p:spPr/>
        <p:txBody>
          <a:bodyPr/>
          <a:lstStyle/>
          <a:p>
            <a:r>
              <a:rPr lang="fr-FR" dirty="0"/>
              <a:t>La Content Security Policy est un header HTTP qui indique au navigateur quelles sources de scripts sont autorisées à s'exécuter.</a:t>
            </a:r>
          </a:p>
          <a:p>
            <a:endParaRPr lang="fr-FR" dirty="0"/>
          </a:p>
          <a:p>
            <a:r>
              <a:rPr lang="fr-FR" dirty="0"/>
              <a:t>Même si un attaquant parvient à injecter un script malveillant, si celui-ci ne provient pas d'une source autorisée par la CSP, le navigateur refuse de l'exécuter.</a:t>
            </a:r>
          </a:p>
          <a:p>
            <a:endParaRPr lang="fr-FR" dirty="0"/>
          </a:p>
          <a:p>
            <a:r>
              <a:rPr lang="fr-FR" dirty="0"/>
              <a:t>C'est une défense en profondeur : elle ne remplace pas l'échappement, mais elle limite les dégâts si l'échappement a été oublié quelque part.</a:t>
            </a:r>
          </a:p>
          <a:p>
            <a:endParaRPr lang="fr-FR" dirty="0"/>
          </a:p>
        </p:txBody>
      </p:sp>
      <p:sp>
        <p:nvSpPr>
          <p:cNvPr id="4" name="Espace réservé du numéro de diapositive 3">
            <a:extLst>
              <a:ext uri="{FF2B5EF4-FFF2-40B4-BE49-F238E27FC236}">
                <a16:creationId xmlns:a16="http://schemas.microsoft.com/office/drawing/2014/main" id="{07D4E75A-88E3-A7AD-C80D-DF0990F34267}"/>
              </a:ext>
            </a:extLst>
          </p:cNvPr>
          <p:cNvSpPr>
            <a:spLocks noGrp="1"/>
          </p:cNvSpPr>
          <p:nvPr>
            <p:ph type="sldNum" sz="quarter" idx="5"/>
          </p:nvPr>
        </p:nvSpPr>
        <p:spPr/>
        <p:txBody>
          <a:bodyPr/>
          <a:lstStyle/>
          <a:p>
            <a:fld id="{C23E3B1A-C65E-4AB7-BDC1-0D2D1AB89E7A}" type="slidenum">
              <a:rPr lang="fr-FR" smtClean="0"/>
              <a:t>11</a:t>
            </a:fld>
            <a:endParaRPr lang="fr-FR"/>
          </a:p>
        </p:txBody>
      </p:sp>
    </p:spTree>
    <p:extLst>
      <p:ext uri="{BB962C8B-B14F-4D97-AF65-F5344CB8AC3E}">
        <p14:creationId xmlns:p14="http://schemas.microsoft.com/office/powerpoint/2010/main" val="2076969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5CED6-4E47-591F-7B50-71E9D6F04E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8958BA8-80A1-3D5B-6925-7B2A95A6CA4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AFFF229-D8BD-056B-96BF-1F729D38A68B}"/>
              </a:ext>
            </a:extLst>
          </p:cNvPr>
          <p:cNvSpPr>
            <a:spLocks noGrp="1"/>
          </p:cNvSpPr>
          <p:nvPr>
            <p:ph type="body" idx="1"/>
          </p:nvPr>
        </p:nvSpPr>
        <p:spPr/>
        <p:txBody>
          <a:bodyPr/>
          <a:lstStyle/>
          <a:p>
            <a:r>
              <a:rPr lang="fr-FR" dirty="0"/>
              <a:t>Différence essentielle à faire avec le XSS vu précédemment : le XSS fait exécuter du code malveillant, le CSRF fait exécuter une action légitime, mais non désirée par l'utilisateur.</a:t>
            </a:r>
          </a:p>
          <a:p>
            <a:endParaRPr lang="fr-FR" dirty="0"/>
          </a:p>
          <a:p>
            <a:r>
              <a:rPr lang="fr-FR" dirty="0"/>
              <a:t>Exemple concret : un utilisateur connecté à bank.com visite un site malveillant contenant une image ou un formulaire caché pointant vers bank.com.</a:t>
            </a:r>
          </a:p>
          <a:p>
            <a:endParaRPr lang="fr-FR" dirty="0"/>
          </a:p>
          <a:p>
            <a:r>
              <a:rPr lang="fr-FR" dirty="0"/>
              <a:t>Le navigateur envoie automatiquement le cookie de session avec la requête, et si le site ne vérifie rien d'autre, le transfert d'argent s'exécute silencieusement, sans aucun clic supplémentaire de la victime.</a:t>
            </a:r>
          </a:p>
          <a:p>
            <a:r>
              <a:rPr lang="fr-FR" dirty="0"/>
              <a:t>La requête a l'air totalement légitime côté serveur, puisqu'elle contient bien le cookie valide de l'utilisateur.</a:t>
            </a:r>
          </a:p>
        </p:txBody>
      </p:sp>
      <p:sp>
        <p:nvSpPr>
          <p:cNvPr id="4" name="Espace réservé du numéro de diapositive 3">
            <a:extLst>
              <a:ext uri="{FF2B5EF4-FFF2-40B4-BE49-F238E27FC236}">
                <a16:creationId xmlns:a16="http://schemas.microsoft.com/office/drawing/2014/main" id="{58C24500-2EE6-476B-7090-23811398FAB6}"/>
              </a:ext>
            </a:extLst>
          </p:cNvPr>
          <p:cNvSpPr>
            <a:spLocks noGrp="1"/>
          </p:cNvSpPr>
          <p:nvPr>
            <p:ph type="sldNum" sz="quarter" idx="5"/>
          </p:nvPr>
        </p:nvSpPr>
        <p:spPr/>
        <p:txBody>
          <a:bodyPr/>
          <a:lstStyle/>
          <a:p>
            <a:fld id="{C23E3B1A-C65E-4AB7-BDC1-0D2D1AB89E7A}" type="slidenum">
              <a:rPr lang="fr-FR" smtClean="0"/>
              <a:t>12</a:t>
            </a:fld>
            <a:endParaRPr lang="fr-FR"/>
          </a:p>
        </p:txBody>
      </p:sp>
    </p:spTree>
    <p:extLst>
      <p:ext uri="{BB962C8B-B14F-4D97-AF65-F5344CB8AC3E}">
        <p14:creationId xmlns:p14="http://schemas.microsoft.com/office/powerpoint/2010/main" val="2935562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B82C-E099-03B4-18CB-47FFB495820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7AE6ED9-A0C2-2F32-8D85-37D89AFDB23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31064B-E0EA-5490-DD68-6291A40CABBC}"/>
              </a:ext>
            </a:extLst>
          </p:cNvPr>
          <p:cNvSpPr>
            <a:spLocks noGrp="1"/>
          </p:cNvSpPr>
          <p:nvPr>
            <p:ph type="body" idx="1"/>
          </p:nvPr>
        </p:nvSpPr>
        <p:spPr/>
        <p:txBody>
          <a:bodyPr/>
          <a:lstStyle/>
          <a:p>
            <a:r>
              <a:rPr lang="fr-FR" dirty="0"/>
              <a:t>Penser "c'est juste un lien pratique pour supprimer un élément" et l'exposer en GET.</a:t>
            </a:r>
          </a:p>
          <a:p>
            <a:endParaRPr lang="fr-FR" dirty="0"/>
          </a:p>
          <a:p>
            <a:r>
              <a:rPr lang="fr-FR" dirty="0"/>
              <a:t>Un attaquant n'a alors même pas besoin de faire cliquer la victime sur un bouton : une simple balise </a:t>
            </a:r>
            <a:r>
              <a:rPr lang="fr-FR" sz="1200" kern="1200" dirty="0">
                <a:solidFill>
                  <a:schemeClr val="tx1"/>
                </a:solidFill>
                <a:latin typeface="+mn-lt"/>
                <a:ea typeface="+mn-ea"/>
                <a:cs typeface="+mn-cs"/>
              </a:rPr>
              <a:t>&lt;</a:t>
            </a:r>
            <a:r>
              <a:rPr lang="fr-FR" sz="1200" kern="1200" dirty="0" err="1">
                <a:solidFill>
                  <a:schemeClr val="tx1"/>
                </a:solidFill>
                <a:latin typeface="+mn-lt"/>
                <a:ea typeface="+mn-ea"/>
                <a:cs typeface="+mn-cs"/>
              </a:rPr>
              <a:t>img</a:t>
            </a:r>
            <a:r>
              <a:rPr lang="fr-FR" sz="1200" kern="1200" dirty="0">
                <a:solidFill>
                  <a:schemeClr val="tx1"/>
                </a:solidFill>
                <a:latin typeface="+mn-lt"/>
                <a:ea typeface="+mn-ea"/>
                <a:cs typeface="+mn-cs"/>
              </a:rPr>
              <a:t> src="..."&gt;</a:t>
            </a:r>
            <a:r>
              <a:rPr lang="fr-FR" dirty="0"/>
              <a:t> pointant vers l'URL de suppression suffit à déclencher l'action dès que la page malveillante est chargée.</a:t>
            </a:r>
          </a:p>
          <a:p>
            <a:endParaRPr lang="fr-FR" dirty="0"/>
          </a:p>
        </p:txBody>
      </p:sp>
      <p:sp>
        <p:nvSpPr>
          <p:cNvPr id="4" name="Espace réservé du numéro de diapositive 3">
            <a:extLst>
              <a:ext uri="{FF2B5EF4-FFF2-40B4-BE49-F238E27FC236}">
                <a16:creationId xmlns:a16="http://schemas.microsoft.com/office/drawing/2014/main" id="{A8C261AB-9B80-B0AA-5D55-34E9795D08FB}"/>
              </a:ext>
            </a:extLst>
          </p:cNvPr>
          <p:cNvSpPr>
            <a:spLocks noGrp="1"/>
          </p:cNvSpPr>
          <p:nvPr>
            <p:ph type="sldNum" sz="quarter" idx="5"/>
          </p:nvPr>
        </p:nvSpPr>
        <p:spPr/>
        <p:txBody>
          <a:bodyPr/>
          <a:lstStyle/>
          <a:p>
            <a:fld id="{C23E3B1A-C65E-4AB7-BDC1-0D2D1AB89E7A}" type="slidenum">
              <a:rPr lang="fr-FR" smtClean="0"/>
              <a:t>13</a:t>
            </a:fld>
            <a:endParaRPr lang="fr-FR"/>
          </a:p>
        </p:txBody>
      </p:sp>
    </p:spTree>
    <p:extLst>
      <p:ext uri="{BB962C8B-B14F-4D97-AF65-F5344CB8AC3E}">
        <p14:creationId xmlns:p14="http://schemas.microsoft.com/office/powerpoint/2010/main" val="2987107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2AEE7-C2A6-FC4E-A07B-C45D64340CF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46DD72C-AC04-7932-B41C-72FE5AD082E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9C3F21-D28C-7520-3CFB-CE4FEA887EB6}"/>
              </a:ext>
            </a:extLst>
          </p:cNvPr>
          <p:cNvSpPr>
            <a:spLocks noGrp="1"/>
          </p:cNvSpPr>
          <p:nvPr>
            <p:ph type="body" idx="1"/>
          </p:nvPr>
        </p:nvSpPr>
        <p:spPr/>
        <p:txBody>
          <a:bodyPr/>
          <a:lstStyle/>
          <a:p>
            <a:r>
              <a:rPr lang="fr-FR" dirty="0"/>
              <a:t>Le serveur génère un </a:t>
            </a:r>
            <a:r>
              <a:rPr lang="fr-FR" dirty="0" err="1"/>
              <a:t>token</a:t>
            </a:r>
            <a:r>
              <a:rPr lang="fr-FR" dirty="0"/>
              <a:t> secret propre à l'utilisateur, l'insère comme champ caché dans le formulaire (</a:t>
            </a:r>
            <a:r>
              <a:rPr lang="fr-FR" sz="1200" kern="1200" dirty="0">
                <a:solidFill>
                  <a:schemeClr val="tx1"/>
                </a:solidFill>
                <a:latin typeface="+mn-lt"/>
                <a:ea typeface="+mn-ea"/>
                <a:cs typeface="+mn-cs"/>
              </a:rPr>
              <a:t>_</a:t>
            </a:r>
            <a:r>
              <a:rPr lang="fr-FR" sz="1200" kern="1200" dirty="0" err="1">
                <a:solidFill>
                  <a:schemeClr val="tx1"/>
                </a:solidFill>
                <a:latin typeface="+mn-lt"/>
                <a:ea typeface="+mn-ea"/>
                <a:cs typeface="+mn-cs"/>
              </a:rPr>
              <a:t>token</a:t>
            </a:r>
            <a:r>
              <a:rPr lang="fr-FR" dirty="0"/>
              <a:t>), et vérifie sa présence et sa validité à la soumission.</a:t>
            </a:r>
          </a:p>
          <a:p>
            <a:endParaRPr lang="fr-FR" dirty="0"/>
          </a:p>
          <a:p>
            <a:r>
              <a:rPr lang="fr-FR" dirty="0"/>
              <a:t>Un attaquant externe ne peut pas connaître ce </a:t>
            </a:r>
            <a:r>
              <a:rPr lang="fr-FR" dirty="0" err="1"/>
              <a:t>token</a:t>
            </a:r>
            <a:r>
              <a:rPr lang="fr-FR" dirty="0"/>
              <a:t> à l'avance, donc il ne peut pas créer une requête valide.</a:t>
            </a:r>
          </a:p>
          <a:p>
            <a:endParaRPr lang="fr-FR" dirty="0"/>
          </a:p>
          <a:p>
            <a:r>
              <a:rPr lang="fr-FR" dirty="0"/>
              <a:t>Avec le composant Form de Symfony, cette protection est active par défaut, sans rien configurer — chaque formulaire créé avec </a:t>
            </a:r>
            <a:r>
              <a:rPr lang="fr-FR" sz="1200" kern="1200" dirty="0" err="1">
                <a:solidFill>
                  <a:schemeClr val="tx1"/>
                </a:solidFill>
                <a:latin typeface="+mn-lt"/>
                <a:ea typeface="+mn-ea"/>
                <a:cs typeface="+mn-cs"/>
              </a:rPr>
              <a:t>createForm</a:t>
            </a:r>
            <a:r>
              <a:rPr lang="fr-FR" sz="1200" kern="1200" dirty="0">
                <a:solidFill>
                  <a:schemeClr val="tx1"/>
                </a:solidFill>
                <a:latin typeface="+mn-lt"/>
                <a:ea typeface="+mn-ea"/>
                <a:cs typeface="+mn-cs"/>
              </a:rPr>
              <a:t>()</a:t>
            </a:r>
            <a:r>
              <a:rPr lang="fr-FR" dirty="0"/>
              <a:t> embarque et valide ce </a:t>
            </a:r>
            <a:r>
              <a:rPr lang="fr-FR" dirty="0" err="1"/>
              <a:t>token</a:t>
            </a:r>
            <a:r>
              <a:rPr lang="fr-FR" dirty="0"/>
              <a:t> automatiquement.</a:t>
            </a:r>
            <a:br>
              <a:rPr lang="fr-FR" dirty="0"/>
            </a:br>
            <a:br>
              <a:rPr lang="fr-FR" dirty="0"/>
            </a:br>
            <a:r>
              <a:rPr lang="fr-FR" dirty="0"/>
              <a:t>Attention : cette protection ne s'applique qu'aux formulaires générés via le composant Form. Un formulaire HTML écrit à la main, ou une action déclenchée en dehors du composant Form, doit être protégée manuellement avec le </a:t>
            </a:r>
            <a:r>
              <a:rPr lang="fr-FR" dirty="0" err="1"/>
              <a:t>token</a:t>
            </a:r>
            <a:r>
              <a:rPr lang="fr-FR" dirty="0"/>
              <a:t> manager ! (</a:t>
            </a:r>
            <a:r>
              <a:rPr lang="fr-FR" dirty="0" err="1"/>
              <a:t>security.csrf.token_manager</a:t>
            </a:r>
            <a:r>
              <a:rPr lang="fr-FR" dirty="0"/>
              <a:t>)</a:t>
            </a:r>
          </a:p>
        </p:txBody>
      </p:sp>
      <p:sp>
        <p:nvSpPr>
          <p:cNvPr id="4" name="Espace réservé du numéro de diapositive 3">
            <a:extLst>
              <a:ext uri="{FF2B5EF4-FFF2-40B4-BE49-F238E27FC236}">
                <a16:creationId xmlns:a16="http://schemas.microsoft.com/office/drawing/2014/main" id="{E91D4F2E-3111-4180-D44A-9FF802FE97B8}"/>
              </a:ext>
            </a:extLst>
          </p:cNvPr>
          <p:cNvSpPr>
            <a:spLocks noGrp="1"/>
          </p:cNvSpPr>
          <p:nvPr>
            <p:ph type="sldNum" sz="quarter" idx="5"/>
          </p:nvPr>
        </p:nvSpPr>
        <p:spPr/>
        <p:txBody>
          <a:bodyPr/>
          <a:lstStyle/>
          <a:p>
            <a:fld id="{C23E3B1A-C65E-4AB7-BDC1-0D2D1AB89E7A}" type="slidenum">
              <a:rPr lang="fr-FR" smtClean="0"/>
              <a:t>14</a:t>
            </a:fld>
            <a:endParaRPr lang="fr-FR"/>
          </a:p>
        </p:txBody>
      </p:sp>
    </p:spTree>
    <p:extLst>
      <p:ext uri="{BB962C8B-B14F-4D97-AF65-F5344CB8AC3E}">
        <p14:creationId xmlns:p14="http://schemas.microsoft.com/office/powerpoint/2010/main" val="4033751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5D4E9-5400-F3CF-F806-71C67BD48D6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3AB117-F75F-954B-72EF-4F732D58C92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81F5852-E54F-6EAF-8D46-1DA000823086}"/>
              </a:ext>
            </a:extLst>
          </p:cNvPr>
          <p:cNvSpPr>
            <a:spLocks noGrp="1"/>
          </p:cNvSpPr>
          <p:nvPr>
            <p:ph type="body" idx="1"/>
          </p:nvPr>
        </p:nvSpPr>
        <p:spPr/>
        <p:txBody>
          <a:bodyPr/>
          <a:lstStyle/>
          <a:p>
            <a:r>
              <a:rPr lang="fr-FR" dirty="0"/>
              <a:t>Cette partie fait le lien direct avec ce qu'on vient de voir sur le XSS : un des objectifs les plus fréquents d'une attaque XSS ou d'une manipulation de cookie côté client est justement de voler une session pour usurper l'identité d'un utilisateur connecté. </a:t>
            </a:r>
          </a:p>
          <a:p>
            <a:endParaRPr lang="fr-FR" dirty="0"/>
          </a:p>
          <a:p>
            <a:r>
              <a:rPr lang="fr-FR" dirty="0"/>
              <a:t>On va voir comment une session peut être compromise, puis pourquoi la configuration native de Symfony (</a:t>
            </a:r>
            <a:r>
              <a:rPr lang="fr-FR" dirty="0" err="1"/>
              <a:t>security.yaml</a:t>
            </a:r>
            <a:r>
              <a:rPr lang="fr-FR" dirty="0"/>
              <a:t>, firewalls) couvre déjà l'essentiel de ces risques</a:t>
            </a:r>
          </a:p>
        </p:txBody>
      </p:sp>
      <p:sp>
        <p:nvSpPr>
          <p:cNvPr id="4" name="Espace réservé du numéro de diapositive 3">
            <a:extLst>
              <a:ext uri="{FF2B5EF4-FFF2-40B4-BE49-F238E27FC236}">
                <a16:creationId xmlns:a16="http://schemas.microsoft.com/office/drawing/2014/main" id="{03A50565-A984-5C9D-741E-ABDA10998D78}"/>
              </a:ext>
            </a:extLst>
          </p:cNvPr>
          <p:cNvSpPr>
            <a:spLocks noGrp="1"/>
          </p:cNvSpPr>
          <p:nvPr>
            <p:ph type="sldNum" sz="quarter" idx="5"/>
          </p:nvPr>
        </p:nvSpPr>
        <p:spPr/>
        <p:txBody>
          <a:bodyPr/>
          <a:lstStyle/>
          <a:p>
            <a:fld id="{C23E3B1A-C65E-4AB7-BDC1-0D2D1AB89E7A}" type="slidenum">
              <a:rPr lang="fr-FR" smtClean="0"/>
              <a:t>15</a:t>
            </a:fld>
            <a:endParaRPr lang="fr-FR"/>
          </a:p>
        </p:txBody>
      </p:sp>
    </p:spTree>
    <p:extLst>
      <p:ext uri="{BB962C8B-B14F-4D97-AF65-F5344CB8AC3E}">
        <p14:creationId xmlns:p14="http://schemas.microsoft.com/office/powerpoint/2010/main" val="1601760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52A10-D700-0D29-E943-E7641C7A67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2BF742-A7CE-2A45-6A54-9FC6B2176F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26E2401-DAF4-A9F5-0BB2-37F0FE557C31}"/>
              </a:ext>
            </a:extLst>
          </p:cNvPr>
          <p:cNvSpPr>
            <a:spLocks noGrp="1"/>
          </p:cNvSpPr>
          <p:nvPr>
            <p:ph type="body" idx="1"/>
          </p:nvPr>
        </p:nvSpPr>
        <p:spPr/>
        <p:txBody>
          <a:bodyPr/>
          <a:lstStyle/>
          <a:p>
            <a:pPr marL="171450" indent="-171450">
              <a:buFontTx/>
              <a:buChar char="-"/>
            </a:pPr>
            <a:r>
              <a:rPr lang="fr-FR" dirty="0" err="1"/>
              <a:t>HttpOnly</a:t>
            </a:r>
            <a:r>
              <a:rPr lang="fr-FR" dirty="0"/>
              <a:t> : C'est la défense principale contre le vol de session via XSS ; même si un script malveillant s'exécute sur la page, il ne peut pas récupérer le cookie</a:t>
            </a:r>
          </a:p>
          <a:p>
            <a:pPr marL="171450" indent="-171450">
              <a:buFontTx/>
              <a:buChar char="-"/>
            </a:pPr>
            <a:r>
              <a:rPr lang="fr-FR" dirty="0"/>
              <a:t>Secure : Sans cet attribut, si l'utilisateur accède au site en HTTP (erreur de frappe, redirection mal configurée), le cookie circule en clair sur le réseau</a:t>
            </a:r>
          </a:p>
          <a:p>
            <a:pPr marL="171450" indent="-171450">
              <a:buFontTx/>
              <a:buChar char="-"/>
            </a:pPr>
            <a:r>
              <a:rPr lang="fr-FR" dirty="0" err="1"/>
              <a:t>SameSite</a:t>
            </a:r>
            <a:r>
              <a:rPr lang="fr-FR" dirty="0"/>
              <a:t> : lien direct avec le CSRF</a:t>
            </a:r>
          </a:p>
          <a:p>
            <a:pPr marL="171450" indent="-171450">
              <a:buFontTx/>
              <a:buChar char="-"/>
            </a:pPr>
            <a:endParaRPr lang="fr-FR" dirty="0"/>
          </a:p>
          <a:p>
            <a:pPr marL="0" indent="0">
              <a:buFontTx/>
              <a:buNone/>
            </a:pPr>
            <a:r>
              <a:rPr lang="fr-FR" dirty="0"/>
              <a:t>Le XSS vole la donnée si elle est lisible (</a:t>
            </a:r>
            <a:r>
              <a:rPr lang="fr-FR" dirty="0" err="1"/>
              <a:t>HttpOnly</a:t>
            </a:r>
            <a:r>
              <a:rPr lang="fr-FR" dirty="0"/>
              <a:t>), le CSRF l'exploite si elle est envoyée sans discernement (</a:t>
            </a:r>
            <a:r>
              <a:rPr lang="fr-FR" dirty="0" err="1"/>
              <a:t>SameSite</a:t>
            </a:r>
            <a:r>
              <a:rPr lang="fr-FR" dirty="0"/>
              <a:t>)</a:t>
            </a:r>
          </a:p>
        </p:txBody>
      </p:sp>
      <p:sp>
        <p:nvSpPr>
          <p:cNvPr id="4" name="Espace réservé du numéro de diapositive 3">
            <a:extLst>
              <a:ext uri="{FF2B5EF4-FFF2-40B4-BE49-F238E27FC236}">
                <a16:creationId xmlns:a16="http://schemas.microsoft.com/office/drawing/2014/main" id="{8A2B10D3-7580-19D2-AC75-E8EAF8331BFF}"/>
              </a:ext>
            </a:extLst>
          </p:cNvPr>
          <p:cNvSpPr>
            <a:spLocks noGrp="1"/>
          </p:cNvSpPr>
          <p:nvPr>
            <p:ph type="sldNum" sz="quarter" idx="5"/>
          </p:nvPr>
        </p:nvSpPr>
        <p:spPr/>
        <p:txBody>
          <a:bodyPr/>
          <a:lstStyle/>
          <a:p>
            <a:fld id="{C23E3B1A-C65E-4AB7-BDC1-0D2D1AB89E7A}" type="slidenum">
              <a:rPr lang="fr-FR" smtClean="0"/>
              <a:t>16</a:t>
            </a:fld>
            <a:endParaRPr lang="fr-FR"/>
          </a:p>
        </p:txBody>
      </p:sp>
    </p:spTree>
    <p:extLst>
      <p:ext uri="{BB962C8B-B14F-4D97-AF65-F5344CB8AC3E}">
        <p14:creationId xmlns:p14="http://schemas.microsoft.com/office/powerpoint/2010/main" val="2198491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7683-3E17-2A24-81A4-3DB2387118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82160D-91F1-F5C7-6CDC-F0DEF37671A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D5E3D9F-58FD-C81F-103B-5E3D45D3DF45}"/>
              </a:ext>
            </a:extLst>
          </p:cNvPr>
          <p:cNvSpPr>
            <a:spLocks noGrp="1"/>
          </p:cNvSpPr>
          <p:nvPr>
            <p:ph type="body" idx="1"/>
          </p:nvPr>
        </p:nvSpPr>
        <p:spPr/>
        <p:txBody>
          <a:bodyPr/>
          <a:lstStyle/>
          <a:p>
            <a:r>
              <a:rPr lang="fr-FR" dirty="0"/>
              <a:t>le serveur crée le cookie de session et précise aussi ses protections : uniquement en HTTPS (</a:t>
            </a:r>
            <a:r>
              <a:rPr lang="fr-FR" sz="1200" kern="1200" dirty="0">
                <a:solidFill>
                  <a:schemeClr val="tx1"/>
                </a:solidFill>
                <a:latin typeface="+mn-lt"/>
                <a:ea typeface="+mn-ea"/>
                <a:cs typeface="+mn-cs"/>
              </a:rPr>
              <a:t>Secure</a:t>
            </a:r>
            <a:r>
              <a:rPr lang="fr-FR" dirty="0"/>
              <a:t>), Symfony peut générer ces cookies via </a:t>
            </a:r>
            <a:r>
              <a:rPr lang="fr-FR" sz="1200" kern="1200" dirty="0" err="1">
                <a:solidFill>
                  <a:schemeClr val="tx1"/>
                </a:solidFill>
                <a:latin typeface="+mn-lt"/>
                <a:ea typeface="+mn-ea"/>
                <a:cs typeface="+mn-cs"/>
              </a:rPr>
              <a:t>Response</a:t>
            </a:r>
            <a:r>
              <a:rPr lang="fr-FR" dirty="0"/>
              <a:t> et </a:t>
            </a:r>
            <a:r>
              <a:rPr lang="fr-FR" sz="1200" kern="1200" dirty="0">
                <a:solidFill>
                  <a:schemeClr val="tx1"/>
                </a:solidFill>
                <a:latin typeface="+mn-lt"/>
                <a:ea typeface="+mn-ea"/>
                <a:cs typeface="+mn-cs"/>
              </a:rPr>
              <a:t>Cookie</a:t>
            </a:r>
            <a:r>
              <a:rPr lang="fr-FR" dirty="0"/>
              <a:t>, sans construire l’en-tête manuellement.</a:t>
            </a:r>
          </a:p>
        </p:txBody>
      </p:sp>
      <p:sp>
        <p:nvSpPr>
          <p:cNvPr id="4" name="Espace réservé du numéro de diapositive 3">
            <a:extLst>
              <a:ext uri="{FF2B5EF4-FFF2-40B4-BE49-F238E27FC236}">
                <a16:creationId xmlns:a16="http://schemas.microsoft.com/office/drawing/2014/main" id="{D97EEAF4-EB27-5D5E-58FC-EE8ED0BDC7C5}"/>
              </a:ext>
            </a:extLst>
          </p:cNvPr>
          <p:cNvSpPr>
            <a:spLocks noGrp="1"/>
          </p:cNvSpPr>
          <p:nvPr>
            <p:ph type="sldNum" sz="quarter" idx="5"/>
          </p:nvPr>
        </p:nvSpPr>
        <p:spPr/>
        <p:txBody>
          <a:bodyPr/>
          <a:lstStyle/>
          <a:p>
            <a:fld id="{C23E3B1A-C65E-4AB7-BDC1-0D2D1AB89E7A}" type="slidenum">
              <a:rPr lang="fr-FR" smtClean="0"/>
              <a:t>17</a:t>
            </a:fld>
            <a:endParaRPr lang="fr-FR"/>
          </a:p>
        </p:txBody>
      </p:sp>
    </p:spTree>
    <p:extLst>
      <p:ext uri="{BB962C8B-B14F-4D97-AF65-F5344CB8AC3E}">
        <p14:creationId xmlns:p14="http://schemas.microsoft.com/office/powerpoint/2010/main" val="3989714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6C04D-FE7D-0D25-448C-25202B9744D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9B1829D-C8F3-EB18-F138-A9A917E686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7A6DFFD-5CDB-077D-2F19-6D69ACA342F0}"/>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4B3C74AF-88B0-178D-7C6B-1C92439290F0}"/>
              </a:ext>
            </a:extLst>
          </p:cNvPr>
          <p:cNvSpPr>
            <a:spLocks noGrp="1"/>
          </p:cNvSpPr>
          <p:nvPr>
            <p:ph type="sldNum" sz="quarter" idx="5"/>
          </p:nvPr>
        </p:nvSpPr>
        <p:spPr/>
        <p:txBody>
          <a:bodyPr/>
          <a:lstStyle/>
          <a:p>
            <a:fld id="{C23E3B1A-C65E-4AB7-BDC1-0D2D1AB89E7A}" type="slidenum">
              <a:rPr lang="fr-FR" smtClean="0"/>
              <a:t>18</a:t>
            </a:fld>
            <a:endParaRPr lang="fr-FR"/>
          </a:p>
        </p:txBody>
      </p:sp>
    </p:spTree>
    <p:extLst>
      <p:ext uri="{BB962C8B-B14F-4D97-AF65-F5344CB8AC3E}">
        <p14:creationId xmlns:p14="http://schemas.microsoft.com/office/powerpoint/2010/main" val="3224216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97793-B68C-1FEE-AABB-EFF16135F4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6F8251F-77CD-5408-3696-83D9AEB405E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5AFD168-2955-86B7-820D-48290ABD6B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De nos jours on ne sauvegarde plus le </a:t>
            </a:r>
            <a:r>
              <a:rPr lang="fr-FR" dirty="0" err="1"/>
              <a:t>token</a:t>
            </a:r>
            <a:r>
              <a:rPr lang="fr-FR" dirty="0"/>
              <a:t> dans le </a:t>
            </a:r>
            <a:r>
              <a:rPr lang="fr-FR" dirty="0" err="1"/>
              <a:t>localstorage</a:t>
            </a:r>
            <a:r>
              <a:rPr lang="fr-FR" dirty="0"/>
              <a:t>, mais dans le cookie, car n’importe qui avec du code Javascript (XSS) peut récupérer le </a:t>
            </a:r>
            <a:r>
              <a:rPr lang="fr-FR" dirty="0" err="1"/>
              <a:t>token</a:t>
            </a:r>
            <a:endParaRPr lang="fr-FR" dirty="0"/>
          </a:p>
          <a:p>
            <a:pPr marL="0" indent="0">
              <a:buFontTx/>
              <a:buNone/>
            </a:pPr>
            <a:endParaRPr lang="fr-FR" dirty="0"/>
          </a:p>
        </p:txBody>
      </p:sp>
      <p:sp>
        <p:nvSpPr>
          <p:cNvPr id="4" name="Espace réservé du numéro de diapositive 3">
            <a:extLst>
              <a:ext uri="{FF2B5EF4-FFF2-40B4-BE49-F238E27FC236}">
                <a16:creationId xmlns:a16="http://schemas.microsoft.com/office/drawing/2014/main" id="{A9364543-DF35-9031-C8A4-0737A5690EB2}"/>
              </a:ext>
            </a:extLst>
          </p:cNvPr>
          <p:cNvSpPr>
            <a:spLocks noGrp="1"/>
          </p:cNvSpPr>
          <p:nvPr>
            <p:ph type="sldNum" sz="quarter" idx="5"/>
          </p:nvPr>
        </p:nvSpPr>
        <p:spPr/>
        <p:txBody>
          <a:bodyPr/>
          <a:lstStyle/>
          <a:p>
            <a:fld id="{C23E3B1A-C65E-4AB7-BDC1-0D2D1AB89E7A}" type="slidenum">
              <a:rPr lang="fr-FR" smtClean="0"/>
              <a:t>19</a:t>
            </a:fld>
            <a:endParaRPr lang="fr-FR"/>
          </a:p>
        </p:txBody>
      </p:sp>
    </p:spTree>
    <p:extLst>
      <p:ext uri="{BB962C8B-B14F-4D97-AF65-F5344CB8AC3E}">
        <p14:creationId xmlns:p14="http://schemas.microsoft.com/office/powerpoint/2010/main" val="2216839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5610A-734D-6DD2-3880-EA2B0403E40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A2C9A0C-B7F3-0CB5-FA5B-E18E681AB8E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1153607-3866-7CCF-7EB4-932128669A0B}"/>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541112EC-3469-671A-875D-A23FB1EDCA23}"/>
              </a:ext>
            </a:extLst>
          </p:cNvPr>
          <p:cNvSpPr>
            <a:spLocks noGrp="1"/>
          </p:cNvSpPr>
          <p:nvPr>
            <p:ph type="sldNum" sz="quarter" idx="5"/>
          </p:nvPr>
        </p:nvSpPr>
        <p:spPr/>
        <p:txBody>
          <a:bodyPr/>
          <a:lstStyle/>
          <a:p>
            <a:fld id="{C23E3B1A-C65E-4AB7-BDC1-0D2D1AB89E7A}" type="slidenum">
              <a:rPr lang="fr-FR" smtClean="0"/>
              <a:t>20</a:t>
            </a:fld>
            <a:endParaRPr lang="fr-FR"/>
          </a:p>
        </p:txBody>
      </p:sp>
    </p:spTree>
    <p:extLst>
      <p:ext uri="{BB962C8B-B14F-4D97-AF65-F5344CB8AC3E}">
        <p14:creationId xmlns:p14="http://schemas.microsoft.com/office/powerpoint/2010/main" val="632347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D580C-B4FE-E4C4-C259-54BB62CB11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0B42DC-FDDE-8BEF-CD15-7EDFA0CE75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BDFBF66-2674-6A33-B181-C30AAFE1163D}"/>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B4D4C3DC-4070-9D63-920A-E53CBA03529B}"/>
              </a:ext>
            </a:extLst>
          </p:cNvPr>
          <p:cNvSpPr>
            <a:spLocks noGrp="1"/>
          </p:cNvSpPr>
          <p:nvPr>
            <p:ph type="sldNum" sz="quarter" idx="5"/>
          </p:nvPr>
        </p:nvSpPr>
        <p:spPr/>
        <p:txBody>
          <a:bodyPr/>
          <a:lstStyle/>
          <a:p>
            <a:fld id="{C23E3B1A-C65E-4AB7-BDC1-0D2D1AB89E7A}" type="slidenum">
              <a:rPr lang="fr-FR" smtClean="0"/>
              <a:t>21</a:t>
            </a:fld>
            <a:endParaRPr lang="fr-FR"/>
          </a:p>
        </p:txBody>
      </p:sp>
    </p:spTree>
    <p:extLst>
      <p:ext uri="{BB962C8B-B14F-4D97-AF65-F5344CB8AC3E}">
        <p14:creationId xmlns:p14="http://schemas.microsoft.com/office/powerpoint/2010/main" val="785518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1AA1-11D2-7A1D-3BFC-1278341F01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5C94EB-5EA2-9956-3AE3-1A8E23F8398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F1D620F-1631-E2C1-3F6A-65F174A124D2}"/>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54768E4A-3B7C-5442-DA1D-84E80B9769E8}"/>
              </a:ext>
            </a:extLst>
          </p:cNvPr>
          <p:cNvSpPr>
            <a:spLocks noGrp="1"/>
          </p:cNvSpPr>
          <p:nvPr>
            <p:ph type="sldNum" sz="quarter" idx="5"/>
          </p:nvPr>
        </p:nvSpPr>
        <p:spPr/>
        <p:txBody>
          <a:bodyPr/>
          <a:lstStyle/>
          <a:p>
            <a:fld id="{C23E3B1A-C65E-4AB7-BDC1-0D2D1AB89E7A}" type="slidenum">
              <a:rPr lang="fr-FR" smtClean="0"/>
              <a:t>22</a:t>
            </a:fld>
            <a:endParaRPr lang="fr-FR"/>
          </a:p>
        </p:txBody>
      </p:sp>
    </p:spTree>
    <p:extLst>
      <p:ext uri="{BB962C8B-B14F-4D97-AF65-F5344CB8AC3E}">
        <p14:creationId xmlns:p14="http://schemas.microsoft.com/office/powerpoint/2010/main" val="1769123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716C3-DE12-FF5C-5E32-797F56A64F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C00B31-2269-4A9D-FAC9-45D979423A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3603E2-3609-A0DA-692F-37C8AD382912}"/>
              </a:ext>
            </a:extLst>
          </p:cNvPr>
          <p:cNvSpPr>
            <a:spLocks noGrp="1"/>
          </p:cNvSpPr>
          <p:nvPr>
            <p:ph type="body" idx="1"/>
          </p:nvPr>
        </p:nvSpPr>
        <p:spPr/>
        <p:txBody>
          <a:bodyPr/>
          <a:lstStyle/>
          <a:p>
            <a:pPr marL="0" indent="0">
              <a:buFontTx/>
              <a:buNone/>
            </a:pPr>
            <a:r>
              <a:rPr lang="fr-FR" dirty="0"/>
              <a:t>- Préciser que Symfony configure déjà par défaut les cookies dans le </a:t>
            </a:r>
            <a:r>
              <a:rPr lang="fr-FR" b="1" dirty="0" err="1"/>
              <a:t>framework.yaml</a:t>
            </a:r>
            <a:endParaRPr lang="fr-FR" b="1" dirty="0"/>
          </a:p>
        </p:txBody>
      </p:sp>
      <p:sp>
        <p:nvSpPr>
          <p:cNvPr id="4" name="Espace réservé du numéro de diapositive 3">
            <a:extLst>
              <a:ext uri="{FF2B5EF4-FFF2-40B4-BE49-F238E27FC236}">
                <a16:creationId xmlns:a16="http://schemas.microsoft.com/office/drawing/2014/main" id="{B875597E-EAD3-CC91-EEEF-7BC6B1986454}"/>
              </a:ext>
            </a:extLst>
          </p:cNvPr>
          <p:cNvSpPr>
            <a:spLocks noGrp="1"/>
          </p:cNvSpPr>
          <p:nvPr>
            <p:ph type="sldNum" sz="quarter" idx="5"/>
          </p:nvPr>
        </p:nvSpPr>
        <p:spPr/>
        <p:txBody>
          <a:bodyPr/>
          <a:lstStyle/>
          <a:p>
            <a:fld id="{C23E3B1A-C65E-4AB7-BDC1-0D2D1AB89E7A}" type="slidenum">
              <a:rPr lang="fr-FR" smtClean="0"/>
              <a:t>23</a:t>
            </a:fld>
            <a:endParaRPr lang="fr-FR"/>
          </a:p>
        </p:txBody>
      </p:sp>
    </p:spTree>
    <p:extLst>
      <p:ext uri="{BB962C8B-B14F-4D97-AF65-F5344CB8AC3E}">
        <p14:creationId xmlns:p14="http://schemas.microsoft.com/office/powerpoint/2010/main" val="2849645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09765-CAE2-3589-A81A-ACB705D239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524362-5401-BFA2-AF9D-CD712A9F3AB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52516F-8DF5-9999-70F6-CF06579BCA6E}"/>
              </a:ext>
            </a:extLst>
          </p:cNvPr>
          <p:cNvSpPr>
            <a:spLocks noGrp="1"/>
          </p:cNvSpPr>
          <p:nvPr>
            <p:ph type="body" idx="1"/>
          </p:nvPr>
        </p:nvSpPr>
        <p:spPr/>
        <p:txBody>
          <a:bodyPr/>
          <a:lstStyle/>
          <a:p>
            <a:pPr marL="0" indent="0">
              <a:buFontTx/>
              <a:buNone/>
            </a:pPr>
            <a:r>
              <a:rPr lang="fr-FR" dirty="0"/>
              <a:t>- Parler du correctif à mettre en place : lorsque l’on accède à la donner on vérifie toujours le propriétaire de la ressource, si elle est égale </a:t>
            </a:r>
            <a:r>
              <a:rPr lang="fr-FR"/>
              <a:t>à l’</a:t>
            </a:r>
            <a:endParaRPr lang="fr-FR" dirty="0"/>
          </a:p>
        </p:txBody>
      </p:sp>
      <p:sp>
        <p:nvSpPr>
          <p:cNvPr id="4" name="Espace réservé du numéro de diapositive 3">
            <a:extLst>
              <a:ext uri="{FF2B5EF4-FFF2-40B4-BE49-F238E27FC236}">
                <a16:creationId xmlns:a16="http://schemas.microsoft.com/office/drawing/2014/main" id="{B13D907E-0A70-EA50-6290-36A35F0EF124}"/>
              </a:ext>
            </a:extLst>
          </p:cNvPr>
          <p:cNvSpPr>
            <a:spLocks noGrp="1"/>
          </p:cNvSpPr>
          <p:nvPr>
            <p:ph type="sldNum" sz="quarter" idx="5"/>
          </p:nvPr>
        </p:nvSpPr>
        <p:spPr/>
        <p:txBody>
          <a:bodyPr/>
          <a:lstStyle/>
          <a:p>
            <a:fld id="{C23E3B1A-C65E-4AB7-BDC1-0D2D1AB89E7A}" type="slidenum">
              <a:rPr lang="fr-FR" smtClean="0"/>
              <a:t>24</a:t>
            </a:fld>
            <a:endParaRPr lang="fr-FR"/>
          </a:p>
        </p:txBody>
      </p:sp>
    </p:spTree>
    <p:extLst>
      <p:ext uri="{BB962C8B-B14F-4D97-AF65-F5344CB8AC3E}">
        <p14:creationId xmlns:p14="http://schemas.microsoft.com/office/powerpoint/2010/main" val="11442109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AB80F-5645-FA7B-F3DB-7B641DD3087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202B34A-4ACC-2C80-7B82-3CA7510D0BB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5CA0C14-A85C-FAA6-D6D5-A89C7D275A65}"/>
              </a:ext>
            </a:extLst>
          </p:cNvPr>
          <p:cNvSpPr>
            <a:spLocks noGrp="1"/>
          </p:cNvSpPr>
          <p:nvPr>
            <p:ph type="body" idx="1"/>
          </p:nvPr>
        </p:nvSpPr>
        <p:spPr/>
        <p:txBody>
          <a:bodyPr/>
          <a:lstStyle/>
          <a:p>
            <a:pPr marL="171450" indent="-171450">
              <a:buFontTx/>
              <a:buChar char="-"/>
            </a:pPr>
            <a:r>
              <a:rPr lang="fr-FR" dirty="0"/>
              <a:t>Les </a:t>
            </a:r>
            <a:r>
              <a:rPr lang="fr-FR" dirty="0" err="1"/>
              <a:t>Voters</a:t>
            </a:r>
            <a:r>
              <a:rPr lang="fr-FR" dirty="0"/>
              <a:t> sont l'outil le plus puissant de Symfony pour gérer les permissions, car ils centralisent la logique métier d'autorisation en un seul endroit, réutilisable dans les contrôleurs, les </a:t>
            </a:r>
            <a:r>
              <a:rPr lang="fr-FR" dirty="0" err="1"/>
              <a:t>templates</a:t>
            </a:r>
            <a:r>
              <a:rPr lang="fr-FR" dirty="0"/>
              <a:t> Twig, et les services.</a:t>
            </a:r>
          </a:p>
          <a:p>
            <a:pPr marL="628650" lvl="1" indent="-171450">
              <a:buFontTx/>
              <a:buChar char="-"/>
            </a:pPr>
            <a:r>
              <a:rPr lang="fr-FR" dirty="0"/>
              <a:t>Sans Voter, c’est une logique que l’on va mettre dans chaque </a:t>
            </a:r>
            <a:r>
              <a:rPr lang="fr-FR" dirty="0" err="1"/>
              <a:t>controller</a:t>
            </a:r>
            <a:endParaRPr lang="fr-FR" dirty="0"/>
          </a:p>
        </p:txBody>
      </p:sp>
      <p:sp>
        <p:nvSpPr>
          <p:cNvPr id="4" name="Espace réservé du numéro de diapositive 3">
            <a:extLst>
              <a:ext uri="{FF2B5EF4-FFF2-40B4-BE49-F238E27FC236}">
                <a16:creationId xmlns:a16="http://schemas.microsoft.com/office/drawing/2014/main" id="{8FA527FD-F58A-95C1-222C-A379FDFB92CA}"/>
              </a:ext>
            </a:extLst>
          </p:cNvPr>
          <p:cNvSpPr>
            <a:spLocks noGrp="1"/>
          </p:cNvSpPr>
          <p:nvPr>
            <p:ph type="sldNum" sz="quarter" idx="5"/>
          </p:nvPr>
        </p:nvSpPr>
        <p:spPr/>
        <p:txBody>
          <a:bodyPr/>
          <a:lstStyle/>
          <a:p>
            <a:fld id="{C23E3B1A-C65E-4AB7-BDC1-0D2D1AB89E7A}" type="slidenum">
              <a:rPr lang="fr-FR" smtClean="0"/>
              <a:t>25</a:t>
            </a:fld>
            <a:endParaRPr lang="fr-FR"/>
          </a:p>
        </p:txBody>
      </p:sp>
    </p:spTree>
    <p:extLst>
      <p:ext uri="{BB962C8B-B14F-4D97-AF65-F5344CB8AC3E}">
        <p14:creationId xmlns:p14="http://schemas.microsoft.com/office/powerpoint/2010/main" val="37697593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A418B-75AB-E22E-F31E-0468759A7D8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32FD43-0621-7038-283C-FB9097A773B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D2AEA09-1DBF-31B8-A36E-BE4877F2E424}"/>
              </a:ext>
            </a:extLst>
          </p:cNvPr>
          <p:cNvSpPr>
            <a:spLocks noGrp="1"/>
          </p:cNvSpPr>
          <p:nvPr>
            <p:ph type="body" idx="1"/>
          </p:nvPr>
        </p:nvSpPr>
        <p:spPr/>
        <p:txBody>
          <a:bodyPr/>
          <a:lstStyle/>
          <a:p>
            <a:pPr marL="171450" indent="-171450">
              <a:buFontTx/>
              <a:buChar char="-"/>
            </a:pPr>
            <a:r>
              <a:rPr lang="fr-FR" dirty="0"/>
              <a:t>supports : permet au Voter de savoir ce qu’il peut traiter, ou non ; si false est renvoyé, alors </a:t>
            </a:r>
            <a:r>
              <a:rPr lang="fr-FR" dirty="0" err="1"/>
              <a:t>voteOnAttribute</a:t>
            </a:r>
            <a:r>
              <a:rPr lang="fr-FR" dirty="0"/>
              <a:t> ne sera </a:t>
            </a:r>
            <a:r>
              <a:rPr lang="fr-FR"/>
              <a:t>pas appelé</a:t>
            </a:r>
          </a:p>
          <a:p>
            <a:pPr marL="171450" indent="-171450">
              <a:buFontTx/>
              <a:buChar char="-"/>
            </a:pPr>
            <a:endParaRPr lang="fr-FR" dirty="0"/>
          </a:p>
        </p:txBody>
      </p:sp>
      <p:sp>
        <p:nvSpPr>
          <p:cNvPr id="4" name="Espace réservé du numéro de diapositive 3">
            <a:extLst>
              <a:ext uri="{FF2B5EF4-FFF2-40B4-BE49-F238E27FC236}">
                <a16:creationId xmlns:a16="http://schemas.microsoft.com/office/drawing/2014/main" id="{0D67CDB5-6987-4A76-D46A-6AFFD3B11571}"/>
              </a:ext>
            </a:extLst>
          </p:cNvPr>
          <p:cNvSpPr>
            <a:spLocks noGrp="1"/>
          </p:cNvSpPr>
          <p:nvPr>
            <p:ph type="sldNum" sz="quarter" idx="5"/>
          </p:nvPr>
        </p:nvSpPr>
        <p:spPr/>
        <p:txBody>
          <a:bodyPr/>
          <a:lstStyle/>
          <a:p>
            <a:fld id="{C23E3B1A-C65E-4AB7-BDC1-0D2D1AB89E7A}" type="slidenum">
              <a:rPr lang="fr-FR" smtClean="0"/>
              <a:t>26</a:t>
            </a:fld>
            <a:endParaRPr lang="fr-FR"/>
          </a:p>
        </p:txBody>
      </p:sp>
    </p:spTree>
    <p:extLst>
      <p:ext uri="{BB962C8B-B14F-4D97-AF65-F5344CB8AC3E}">
        <p14:creationId xmlns:p14="http://schemas.microsoft.com/office/powerpoint/2010/main" val="1772856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7AD9-7867-96DC-3011-D682E2F699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307826-7462-9FF5-5984-08B31B4D513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3A4068C-BB1F-94EC-6026-A3297C68D0C5}"/>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793A06EB-77BD-ACAC-586A-E76AAEF61081}"/>
              </a:ext>
            </a:extLst>
          </p:cNvPr>
          <p:cNvSpPr>
            <a:spLocks noGrp="1"/>
          </p:cNvSpPr>
          <p:nvPr>
            <p:ph type="sldNum" sz="quarter" idx="5"/>
          </p:nvPr>
        </p:nvSpPr>
        <p:spPr/>
        <p:txBody>
          <a:bodyPr/>
          <a:lstStyle/>
          <a:p>
            <a:fld id="{C23E3B1A-C65E-4AB7-BDC1-0D2D1AB89E7A}" type="slidenum">
              <a:rPr lang="fr-FR" smtClean="0"/>
              <a:t>27</a:t>
            </a:fld>
            <a:endParaRPr lang="fr-FR"/>
          </a:p>
        </p:txBody>
      </p:sp>
    </p:spTree>
    <p:extLst>
      <p:ext uri="{BB962C8B-B14F-4D97-AF65-F5344CB8AC3E}">
        <p14:creationId xmlns:p14="http://schemas.microsoft.com/office/powerpoint/2010/main" val="35373363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13EA8-D9F0-B3EB-23C6-55FCC1FC78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E8437C5-8877-0482-D001-DFDECE8280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0BCC53-66C2-D2A2-1224-C8534F338AE4}"/>
              </a:ext>
            </a:extLst>
          </p:cNvPr>
          <p:cNvSpPr>
            <a:spLocks noGrp="1"/>
          </p:cNvSpPr>
          <p:nvPr>
            <p:ph type="body" idx="1"/>
          </p:nvPr>
        </p:nvSpPr>
        <p:spPr/>
        <p:txBody>
          <a:bodyPr/>
          <a:lstStyle/>
          <a:p>
            <a:pPr marL="171450" indent="-171450">
              <a:buFontTx/>
              <a:buChar char="-"/>
            </a:pPr>
            <a:endParaRPr lang="fr-FR" dirty="0"/>
          </a:p>
        </p:txBody>
      </p:sp>
      <p:sp>
        <p:nvSpPr>
          <p:cNvPr id="4" name="Espace réservé du numéro de diapositive 3">
            <a:extLst>
              <a:ext uri="{FF2B5EF4-FFF2-40B4-BE49-F238E27FC236}">
                <a16:creationId xmlns:a16="http://schemas.microsoft.com/office/drawing/2014/main" id="{08CF214A-0C95-D44F-4AAD-96C5DC71E36A}"/>
              </a:ext>
            </a:extLst>
          </p:cNvPr>
          <p:cNvSpPr>
            <a:spLocks noGrp="1"/>
          </p:cNvSpPr>
          <p:nvPr>
            <p:ph type="sldNum" sz="quarter" idx="5"/>
          </p:nvPr>
        </p:nvSpPr>
        <p:spPr/>
        <p:txBody>
          <a:bodyPr/>
          <a:lstStyle/>
          <a:p>
            <a:fld id="{C23E3B1A-C65E-4AB7-BDC1-0D2D1AB89E7A}" type="slidenum">
              <a:rPr lang="fr-FR" smtClean="0"/>
              <a:t>28</a:t>
            </a:fld>
            <a:endParaRPr lang="fr-FR"/>
          </a:p>
        </p:txBody>
      </p:sp>
    </p:spTree>
    <p:extLst>
      <p:ext uri="{BB962C8B-B14F-4D97-AF65-F5344CB8AC3E}">
        <p14:creationId xmlns:p14="http://schemas.microsoft.com/office/powerpoint/2010/main" val="3103952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BE18B-A2E2-D1A9-753D-EC8701CE400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E4997E-071A-B883-599F-BF2E02A733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A14E670-7C6A-7451-78F6-DAE232355B5D}"/>
              </a:ext>
            </a:extLst>
          </p:cNvPr>
          <p:cNvSpPr>
            <a:spLocks noGrp="1"/>
          </p:cNvSpPr>
          <p:nvPr>
            <p:ph type="body" idx="1"/>
          </p:nvPr>
        </p:nvSpPr>
        <p:spPr/>
        <p:txBody>
          <a:bodyPr/>
          <a:lstStyle/>
          <a:p>
            <a:pPr marL="171450" indent="-171450">
              <a:buFontTx/>
              <a:buChar char="-"/>
            </a:pPr>
            <a:r>
              <a:rPr lang="fr-FR" dirty="0" err="1"/>
              <a:t>HttpOnly</a:t>
            </a:r>
            <a:r>
              <a:rPr lang="fr-FR" dirty="0"/>
              <a:t> + Secure + </a:t>
            </a:r>
            <a:r>
              <a:rPr lang="fr-FR" dirty="0" err="1"/>
              <a:t>SameSite</a:t>
            </a:r>
            <a:r>
              <a:rPr lang="fr-FR" dirty="0"/>
              <a:t> = strict</a:t>
            </a:r>
          </a:p>
          <a:p>
            <a:pPr marL="171450" indent="-171450">
              <a:buFontTx/>
              <a:buChar char="-"/>
            </a:pPr>
            <a:r>
              <a:rPr lang="fr-FR" dirty="0"/>
              <a:t>Ne pas divulguer directement « ROLE_ADMIN », éventuellement un « </a:t>
            </a:r>
            <a:r>
              <a:rPr lang="fr-FR" dirty="0" err="1"/>
              <a:t>isAdmin</a:t>
            </a:r>
            <a:r>
              <a:rPr lang="fr-FR" dirty="0"/>
              <a:t> : </a:t>
            </a:r>
            <a:r>
              <a:rPr lang="fr-FR" dirty="0" err="1"/>
              <a:t>true</a:t>
            </a:r>
            <a:r>
              <a:rPr lang="fr-FR" dirty="0"/>
              <a:t>  » mais il est préférable de le récupérer par la suite </a:t>
            </a:r>
          </a:p>
        </p:txBody>
      </p:sp>
      <p:sp>
        <p:nvSpPr>
          <p:cNvPr id="4" name="Espace réservé du numéro de diapositive 3">
            <a:extLst>
              <a:ext uri="{FF2B5EF4-FFF2-40B4-BE49-F238E27FC236}">
                <a16:creationId xmlns:a16="http://schemas.microsoft.com/office/drawing/2014/main" id="{F2D77138-1537-D76B-BA9F-1EF4DC51BD3F}"/>
              </a:ext>
            </a:extLst>
          </p:cNvPr>
          <p:cNvSpPr>
            <a:spLocks noGrp="1"/>
          </p:cNvSpPr>
          <p:nvPr>
            <p:ph type="sldNum" sz="quarter" idx="5"/>
          </p:nvPr>
        </p:nvSpPr>
        <p:spPr/>
        <p:txBody>
          <a:bodyPr/>
          <a:lstStyle/>
          <a:p>
            <a:fld id="{C23E3B1A-C65E-4AB7-BDC1-0D2D1AB89E7A}" type="slidenum">
              <a:rPr lang="fr-FR" smtClean="0"/>
              <a:t>29</a:t>
            </a:fld>
            <a:endParaRPr lang="fr-FR"/>
          </a:p>
        </p:txBody>
      </p:sp>
    </p:spTree>
    <p:extLst>
      <p:ext uri="{BB962C8B-B14F-4D97-AF65-F5344CB8AC3E}">
        <p14:creationId xmlns:p14="http://schemas.microsoft.com/office/powerpoint/2010/main" val="30336158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372F0-F5F0-5E3A-0FE5-4DB388E9CA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65F8F8-8367-77A3-FA70-02FE1CE72D1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58CC54A-2992-8A7C-D920-26E683B74756}"/>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69967D3B-1E88-ED03-4D3E-3DC1E9C9EF68}"/>
              </a:ext>
            </a:extLst>
          </p:cNvPr>
          <p:cNvSpPr>
            <a:spLocks noGrp="1"/>
          </p:cNvSpPr>
          <p:nvPr>
            <p:ph type="sldNum" sz="quarter" idx="5"/>
          </p:nvPr>
        </p:nvSpPr>
        <p:spPr/>
        <p:txBody>
          <a:bodyPr/>
          <a:lstStyle/>
          <a:p>
            <a:fld id="{C23E3B1A-C65E-4AB7-BDC1-0D2D1AB89E7A}" type="slidenum">
              <a:rPr lang="fr-FR" smtClean="0"/>
              <a:t>30</a:t>
            </a:fld>
            <a:endParaRPr lang="fr-FR"/>
          </a:p>
        </p:txBody>
      </p:sp>
    </p:spTree>
    <p:extLst>
      <p:ext uri="{BB962C8B-B14F-4D97-AF65-F5344CB8AC3E}">
        <p14:creationId xmlns:p14="http://schemas.microsoft.com/office/powerpoint/2010/main" val="14238977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389B-7DE8-F4EA-E64A-B32582B8C1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953241-9536-05AD-252B-FE4A9B2F43D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2B2F5F3-AFE6-C4A4-D5E2-7F9283978258}"/>
              </a:ext>
            </a:extLst>
          </p:cNvPr>
          <p:cNvSpPr>
            <a:spLocks noGrp="1"/>
          </p:cNvSpPr>
          <p:nvPr>
            <p:ph type="body" idx="1"/>
          </p:nvPr>
        </p:nvSpPr>
        <p:spPr/>
        <p:txBody>
          <a:bodyPr/>
          <a:lstStyle/>
          <a:p>
            <a:pPr marL="171450" indent="-171450">
              <a:buFontTx/>
              <a:buChar char="-"/>
            </a:pPr>
            <a:endParaRPr lang="fr-FR" dirty="0"/>
          </a:p>
        </p:txBody>
      </p:sp>
      <p:sp>
        <p:nvSpPr>
          <p:cNvPr id="4" name="Espace réservé du numéro de diapositive 3">
            <a:extLst>
              <a:ext uri="{FF2B5EF4-FFF2-40B4-BE49-F238E27FC236}">
                <a16:creationId xmlns:a16="http://schemas.microsoft.com/office/drawing/2014/main" id="{74FE6A5E-01E5-6C66-BE20-49F9F1542198}"/>
              </a:ext>
            </a:extLst>
          </p:cNvPr>
          <p:cNvSpPr>
            <a:spLocks noGrp="1"/>
          </p:cNvSpPr>
          <p:nvPr>
            <p:ph type="sldNum" sz="quarter" idx="5"/>
          </p:nvPr>
        </p:nvSpPr>
        <p:spPr/>
        <p:txBody>
          <a:bodyPr/>
          <a:lstStyle/>
          <a:p>
            <a:fld id="{C23E3B1A-C65E-4AB7-BDC1-0D2D1AB89E7A}" type="slidenum">
              <a:rPr lang="fr-FR" smtClean="0"/>
              <a:t>31</a:t>
            </a:fld>
            <a:endParaRPr lang="fr-FR"/>
          </a:p>
        </p:txBody>
      </p:sp>
    </p:spTree>
    <p:extLst>
      <p:ext uri="{BB962C8B-B14F-4D97-AF65-F5344CB8AC3E}">
        <p14:creationId xmlns:p14="http://schemas.microsoft.com/office/powerpoint/2010/main" val="6321563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63E79-95D4-D01C-714B-0065D15E1D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101DFC-7FBF-382B-3ECD-77D951021F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1E842C-CD2B-16FF-4AE1-29516AAACEA7}"/>
              </a:ext>
            </a:extLst>
          </p:cNvPr>
          <p:cNvSpPr>
            <a:spLocks noGrp="1"/>
          </p:cNvSpPr>
          <p:nvPr>
            <p:ph type="body" idx="1"/>
          </p:nvPr>
        </p:nvSpPr>
        <p:spPr/>
        <p:txBody>
          <a:bodyPr/>
          <a:lstStyle/>
          <a:p>
            <a:pPr marL="0" indent="0">
              <a:buFontTx/>
              <a:buNone/>
            </a:pPr>
            <a:r>
              <a:rPr lang="fr-FR" dirty="0"/>
              <a:t>- Ici on bloque sur l’IP de l’utilisateur, on peut le faire par utilisateur connecté, par clé API ou encore cumuler les vérifications</a:t>
            </a:r>
          </a:p>
        </p:txBody>
      </p:sp>
      <p:sp>
        <p:nvSpPr>
          <p:cNvPr id="4" name="Espace réservé du numéro de diapositive 3">
            <a:extLst>
              <a:ext uri="{FF2B5EF4-FFF2-40B4-BE49-F238E27FC236}">
                <a16:creationId xmlns:a16="http://schemas.microsoft.com/office/drawing/2014/main" id="{144FFFFD-DA53-1ADB-8523-2DA4B2ADC3CA}"/>
              </a:ext>
            </a:extLst>
          </p:cNvPr>
          <p:cNvSpPr>
            <a:spLocks noGrp="1"/>
          </p:cNvSpPr>
          <p:nvPr>
            <p:ph type="sldNum" sz="quarter" idx="5"/>
          </p:nvPr>
        </p:nvSpPr>
        <p:spPr/>
        <p:txBody>
          <a:bodyPr/>
          <a:lstStyle/>
          <a:p>
            <a:fld id="{C23E3B1A-C65E-4AB7-BDC1-0D2D1AB89E7A}" type="slidenum">
              <a:rPr lang="fr-FR" smtClean="0"/>
              <a:t>32</a:t>
            </a:fld>
            <a:endParaRPr lang="fr-FR"/>
          </a:p>
        </p:txBody>
      </p:sp>
    </p:spTree>
    <p:extLst>
      <p:ext uri="{BB962C8B-B14F-4D97-AF65-F5344CB8AC3E}">
        <p14:creationId xmlns:p14="http://schemas.microsoft.com/office/powerpoint/2010/main" val="280498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5B824-FF61-395E-817E-8B192734AC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4385B2-A6EB-9137-DFFF-6664F0B13C1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86E59AE-5923-20C3-F1EE-50CCEFC49F6B}"/>
              </a:ext>
            </a:extLst>
          </p:cNvPr>
          <p:cNvSpPr>
            <a:spLocks noGrp="1"/>
          </p:cNvSpPr>
          <p:nvPr>
            <p:ph type="body" idx="1"/>
          </p:nvPr>
        </p:nvSpPr>
        <p:spPr/>
        <p:txBody>
          <a:bodyPr/>
          <a:lstStyle/>
          <a:p>
            <a:pPr marL="0" indent="0">
              <a:buFontTx/>
              <a:buNone/>
            </a:pPr>
            <a:r>
              <a:rPr lang="fr-FR" dirty="0"/>
              <a:t>- Ici on bloque sur l’IP de l’utilisateur, on peut le faire par utilisateur connecté, par clé API ou encore cumuler les vérifications</a:t>
            </a:r>
          </a:p>
        </p:txBody>
      </p:sp>
      <p:sp>
        <p:nvSpPr>
          <p:cNvPr id="4" name="Espace réservé du numéro de diapositive 3">
            <a:extLst>
              <a:ext uri="{FF2B5EF4-FFF2-40B4-BE49-F238E27FC236}">
                <a16:creationId xmlns:a16="http://schemas.microsoft.com/office/drawing/2014/main" id="{E0784DAB-A005-C4E0-E1FF-951E9AA1F7B1}"/>
              </a:ext>
            </a:extLst>
          </p:cNvPr>
          <p:cNvSpPr>
            <a:spLocks noGrp="1"/>
          </p:cNvSpPr>
          <p:nvPr>
            <p:ph type="sldNum" sz="quarter" idx="5"/>
          </p:nvPr>
        </p:nvSpPr>
        <p:spPr/>
        <p:txBody>
          <a:bodyPr/>
          <a:lstStyle/>
          <a:p>
            <a:fld id="{C23E3B1A-C65E-4AB7-BDC1-0D2D1AB89E7A}" type="slidenum">
              <a:rPr lang="fr-FR" smtClean="0"/>
              <a:t>33</a:t>
            </a:fld>
            <a:endParaRPr lang="fr-FR"/>
          </a:p>
        </p:txBody>
      </p:sp>
    </p:spTree>
    <p:extLst>
      <p:ext uri="{BB962C8B-B14F-4D97-AF65-F5344CB8AC3E}">
        <p14:creationId xmlns:p14="http://schemas.microsoft.com/office/powerpoint/2010/main" val="3468849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6553F-AB7F-D9A4-00EF-CB955E8500A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1AA566-2093-258F-8EE7-7CC92D893C9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717806C-909C-3868-B392-A03DCBF89328}"/>
              </a:ext>
            </a:extLst>
          </p:cNvPr>
          <p:cNvSpPr>
            <a:spLocks noGrp="1"/>
          </p:cNvSpPr>
          <p:nvPr>
            <p:ph type="body" idx="1"/>
          </p:nvPr>
        </p:nvSpPr>
        <p:spPr/>
        <p:txBody>
          <a:bodyPr/>
          <a:lstStyle/>
          <a:p>
            <a:pPr marL="0" indent="0">
              <a:buFontTx/>
              <a:buNone/>
            </a:pPr>
            <a:r>
              <a:rPr lang="fr-FR" dirty="0"/>
              <a:t>- Contrôle les erreurs côté serveur, ou dans la configuration PHP</a:t>
            </a:r>
          </a:p>
        </p:txBody>
      </p:sp>
      <p:sp>
        <p:nvSpPr>
          <p:cNvPr id="4" name="Espace réservé du numéro de diapositive 3">
            <a:extLst>
              <a:ext uri="{FF2B5EF4-FFF2-40B4-BE49-F238E27FC236}">
                <a16:creationId xmlns:a16="http://schemas.microsoft.com/office/drawing/2014/main" id="{A91A98E5-333C-232B-E707-91FA0E47284C}"/>
              </a:ext>
            </a:extLst>
          </p:cNvPr>
          <p:cNvSpPr>
            <a:spLocks noGrp="1"/>
          </p:cNvSpPr>
          <p:nvPr>
            <p:ph type="sldNum" sz="quarter" idx="5"/>
          </p:nvPr>
        </p:nvSpPr>
        <p:spPr/>
        <p:txBody>
          <a:bodyPr/>
          <a:lstStyle/>
          <a:p>
            <a:fld id="{C23E3B1A-C65E-4AB7-BDC1-0D2D1AB89E7A}" type="slidenum">
              <a:rPr lang="fr-FR" smtClean="0"/>
              <a:t>34</a:t>
            </a:fld>
            <a:endParaRPr lang="fr-FR"/>
          </a:p>
        </p:txBody>
      </p:sp>
    </p:spTree>
    <p:extLst>
      <p:ext uri="{BB962C8B-B14F-4D97-AF65-F5344CB8AC3E}">
        <p14:creationId xmlns:p14="http://schemas.microsoft.com/office/powerpoint/2010/main" val="37034222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A671D-978E-13E5-4372-2EB32910E4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F8B8F3-E432-31A1-AD6C-59BAE912966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F530BC-B3AB-83CA-DB0F-35352B5158AD}"/>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20CD4AD2-EB33-1F2F-55FD-91AB482EFBE5}"/>
              </a:ext>
            </a:extLst>
          </p:cNvPr>
          <p:cNvSpPr>
            <a:spLocks noGrp="1"/>
          </p:cNvSpPr>
          <p:nvPr>
            <p:ph type="sldNum" sz="quarter" idx="5"/>
          </p:nvPr>
        </p:nvSpPr>
        <p:spPr/>
        <p:txBody>
          <a:bodyPr/>
          <a:lstStyle/>
          <a:p>
            <a:fld id="{C23E3B1A-C65E-4AB7-BDC1-0D2D1AB89E7A}" type="slidenum">
              <a:rPr lang="fr-FR" smtClean="0"/>
              <a:t>35</a:t>
            </a:fld>
            <a:endParaRPr lang="fr-FR"/>
          </a:p>
        </p:txBody>
      </p:sp>
    </p:spTree>
    <p:extLst>
      <p:ext uri="{BB962C8B-B14F-4D97-AF65-F5344CB8AC3E}">
        <p14:creationId xmlns:p14="http://schemas.microsoft.com/office/powerpoint/2010/main" val="41949847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065-EF49-4122-F287-217633F1CB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E3B3784-3A9F-64E3-22EE-EB1E4847488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57B977-6C81-F385-B30A-B2F8E09F14B4}"/>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0E6B9824-8E95-551A-E3CA-DEDBD93B6EFD}"/>
              </a:ext>
            </a:extLst>
          </p:cNvPr>
          <p:cNvSpPr>
            <a:spLocks noGrp="1"/>
          </p:cNvSpPr>
          <p:nvPr>
            <p:ph type="sldNum" sz="quarter" idx="5"/>
          </p:nvPr>
        </p:nvSpPr>
        <p:spPr/>
        <p:txBody>
          <a:bodyPr/>
          <a:lstStyle/>
          <a:p>
            <a:fld id="{C23E3B1A-C65E-4AB7-BDC1-0D2D1AB89E7A}" type="slidenum">
              <a:rPr lang="fr-FR" smtClean="0"/>
              <a:t>36</a:t>
            </a:fld>
            <a:endParaRPr lang="fr-FR"/>
          </a:p>
        </p:txBody>
      </p:sp>
    </p:spTree>
    <p:extLst>
      <p:ext uri="{BB962C8B-B14F-4D97-AF65-F5344CB8AC3E}">
        <p14:creationId xmlns:p14="http://schemas.microsoft.com/office/powerpoint/2010/main" val="25326871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9A468-8E6B-980B-DD72-4BBCA7654BA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9A0CE64-4E38-08CC-7987-97491300F50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88F62DC-F010-0343-AD60-79C9C4A0565F}"/>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7374A999-A2F6-70BF-222A-FAE9A93DDC3D}"/>
              </a:ext>
            </a:extLst>
          </p:cNvPr>
          <p:cNvSpPr>
            <a:spLocks noGrp="1"/>
          </p:cNvSpPr>
          <p:nvPr>
            <p:ph type="sldNum" sz="quarter" idx="5"/>
          </p:nvPr>
        </p:nvSpPr>
        <p:spPr/>
        <p:txBody>
          <a:bodyPr/>
          <a:lstStyle/>
          <a:p>
            <a:fld id="{C23E3B1A-C65E-4AB7-BDC1-0D2D1AB89E7A}" type="slidenum">
              <a:rPr lang="fr-FR" smtClean="0"/>
              <a:t>37</a:t>
            </a:fld>
            <a:endParaRPr lang="fr-FR"/>
          </a:p>
        </p:txBody>
      </p:sp>
    </p:spTree>
    <p:extLst>
      <p:ext uri="{BB962C8B-B14F-4D97-AF65-F5344CB8AC3E}">
        <p14:creationId xmlns:p14="http://schemas.microsoft.com/office/powerpoint/2010/main" val="22748226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DC517-5507-D2E5-1A21-66CE29D02A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7859AD-D3E1-828A-BAE2-8DE5B6A093A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D05BC86-77A8-8545-7BDD-B2B57499F902}"/>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239BDB31-A71E-3177-A9BA-A86F3285BD31}"/>
              </a:ext>
            </a:extLst>
          </p:cNvPr>
          <p:cNvSpPr>
            <a:spLocks noGrp="1"/>
          </p:cNvSpPr>
          <p:nvPr>
            <p:ph type="sldNum" sz="quarter" idx="5"/>
          </p:nvPr>
        </p:nvSpPr>
        <p:spPr/>
        <p:txBody>
          <a:bodyPr/>
          <a:lstStyle/>
          <a:p>
            <a:fld id="{C23E3B1A-C65E-4AB7-BDC1-0D2D1AB89E7A}" type="slidenum">
              <a:rPr lang="fr-FR" smtClean="0"/>
              <a:t>38</a:t>
            </a:fld>
            <a:endParaRPr lang="fr-FR"/>
          </a:p>
        </p:txBody>
      </p:sp>
    </p:spTree>
    <p:extLst>
      <p:ext uri="{BB962C8B-B14F-4D97-AF65-F5344CB8AC3E}">
        <p14:creationId xmlns:p14="http://schemas.microsoft.com/office/powerpoint/2010/main" val="9688552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D41FB-C761-3176-CF8F-8A072B75718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C4818E-CF67-8EDF-8070-6CD6350B0FE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7CD57BB-EF8E-F850-4812-0F1408AF186C}"/>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4218FD65-B2CA-6E37-5EEF-B60FE3A5DC99}"/>
              </a:ext>
            </a:extLst>
          </p:cNvPr>
          <p:cNvSpPr>
            <a:spLocks noGrp="1"/>
          </p:cNvSpPr>
          <p:nvPr>
            <p:ph type="sldNum" sz="quarter" idx="5"/>
          </p:nvPr>
        </p:nvSpPr>
        <p:spPr/>
        <p:txBody>
          <a:bodyPr/>
          <a:lstStyle/>
          <a:p>
            <a:fld id="{C23E3B1A-C65E-4AB7-BDC1-0D2D1AB89E7A}" type="slidenum">
              <a:rPr lang="fr-FR" smtClean="0"/>
              <a:t>39</a:t>
            </a:fld>
            <a:endParaRPr lang="fr-FR"/>
          </a:p>
        </p:txBody>
      </p:sp>
    </p:spTree>
    <p:extLst>
      <p:ext uri="{BB962C8B-B14F-4D97-AF65-F5344CB8AC3E}">
        <p14:creationId xmlns:p14="http://schemas.microsoft.com/office/powerpoint/2010/main" val="20544721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DBB26-B3A6-B881-EAF3-166B758F3C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777F4D-46F2-EA2A-1046-6055C425553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4055A1E-A62B-02F7-E7A9-72E73ECA4534}"/>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D97849DF-83E3-040F-9352-A06B41F5E246}"/>
              </a:ext>
            </a:extLst>
          </p:cNvPr>
          <p:cNvSpPr>
            <a:spLocks noGrp="1"/>
          </p:cNvSpPr>
          <p:nvPr>
            <p:ph type="sldNum" sz="quarter" idx="5"/>
          </p:nvPr>
        </p:nvSpPr>
        <p:spPr/>
        <p:txBody>
          <a:bodyPr/>
          <a:lstStyle/>
          <a:p>
            <a:fld id="{C23E3B1A-C65E-4AB7-BDC1-0D2D1AB89E7A}" type="slidenum">
              <a:rPr lang="fr-FR" smtClean="0"/>
              <a:t>40</a:t>
            </a:fld>
            <a:endParaRPr lang="fr-FR"/>
          </a:p>
        </p:txBody>
      </p:sp>
    </p:spTree>
    <p:extLst>
      <p:ext uri="{BB962C8B-B14F-4D97-AF65-F5344CB8AC3E}">
        <p14:creationId xmlns:p14="http://schemas.microsoft.com/office/powerpoint/2010/main" val="3137302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46DF7-C948-C477-A5A5-6FFAF367190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8A6395-3008-6844-CC4B-74F0D307D8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3CF151C-4BD6-E578-F355-490F0119A68A}"/>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3F5892F8-E891-93FD-867E-1DBAC7038B9D}"/>
              </a:ext>
            </a:extLst>
          </p:cNvPr>
          <p:cNvSpPr>
            <a:spLocks noGrp="1"/>
          </p:cNvSpPr>
          <p:nvPr>
            <p:ph type="sldNum" sz="quarter" idx="5"/>
          </p:nvPr>
        </p:nvSpPr>
        <p:spPr/>
        <p:txBody>
          <a:bodyPr/>
          <a:lstStyle/>
          <a:p>
            <a:fld id="{C23E3B1A-C65E-4AB7-BDC1-0D2D1AB89E7A}" type="slidenum">
              <a:rPr lang="fr-FR" smtClean="0"/>
              <a:t>41</a:t>
            </a:fld>
            <a:endParaRPr lang="fr-FR"/>
          </a:p>
        </p:txBody>
      </p:sp>
    </p:spTree>
    <p:extLst>
      <p:ext uri="{BB962C8B-B14F-4D97-AF65-F5344CB8AC3E}">
        <p14:creationId xmlns:p14="http://schemas.microsoft.com/office/powerpoint/2010/main" val="42717809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760A1-C4EA-55AE-BCFB-BC7AB1ED045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08E146-A8BD-1663-6787-1DB1312CAE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75FA65E-9489-BAAA-B057-D5E96A48FA49}"/>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F036D405-1AB7-F1ED-D46F-B38A55BEEC9D}"/>
              </a:ext>
            </a:extLst>
          </p:cNvPr>
          <p:cNvSpPr>
            <a:spLocks noGrp="1"/>
          </p:cNvSpPr>
          <p:nvPr>
            <p:ph type="sldNum" sz="quarter" idx="5"/>
          </p:nvPr>
        </p:nvSpPr>
        <p:spPr/>
        <p:txBody>
          <a:bodyPr/>
          <a:lstStyle/>
          <a:p>
            <a:fld id="{C23E3B1A-C65E-4AB7-BDC1-0D2D1AB89E7A}" type="slidenum">
              <a:rPr lang="fr-FR" smtClean="0"/>
              <a:t>42</a:t>
            </a:fld>
            <a:endParaRPr lang="fr-FR"/>
          </a:p>
        </p:txBody>
      </p:sp>
    </p:spTree>
    <p:extLst>
      <p:ext uri="{BB962C8B-B14F-4D97-AF65-F5344CB8AC3E}">
        <p14:creationId xmlns:p14="http://schemas.microsoft.com/office/powerpoint/2010/main" val="17301949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E941D-ED0E-C82D-9BE4-E3A784C808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E32FDA-E99B-D4D5-3E1D-03266424362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2966816-6E01-9344-1215-92AF93311D0A}"/>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B94AA40C-2848-90D1-ED14-EED8038EB8FB}"/>
              </a:ext>
            </a:extLst>
          </p:cNvPr>
          <p:cNvSpPr>
            <a:spLocks noGrp="1"/>
          </p:cNvSpPr>
          <p:nvPr>
            <p:ph type="sldNum" sz="quarter" idx="5"/>
          </p:nvPr>
        </p:nvSpPr>
        <p:spPr/>
        <p:txBody>
          <a:bodyPr/>
          <a:lstStyle/>
          <a:p>
            <a:fld id="{C23E3B1A-C65E-4AB7-BDC1-0D2D1AB89E7A}" type="slidenum">
              <a:rPr lang="fr-FR" smtClean="0"/>
              <a:t>43</a:t>
            </a:fld>
            <a:endParaRPr lang="fr-FR"/>
          </a:p>
        </p:txBody>
      </p:sp>
    </p:spTree>
    <p:extLst>
      <p:ext uri="{BB962C8B-B14F-4D97-AF65-F5344CB8AC3E}">
        <p14:creationId xmlns:p14="http://schemas.microsoft.com/office/powerpoint/2010/main" val="37235956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C600C-298E-E2B2-AF1B-7A99D07F90A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6F95C0-E926-87BD-8E61-F7C1D4ACDB1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1D7072D-15A8-A061-5F13-A8F5168AC0EE}"/>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5935380D-5473-C0D8-EE0D-C48EFF0ECDCE}"/>
              </a:ext>
            </a:extLst>
          </p:cNvPr>
          <p:cNvSpPr>
            <a:spLocks noGrp="1"/>
          </p:cNvSpPr>
          <p:nvPr>
            <p:ph type="sldNum" sz="quarter" idx="5"/>
          </p:nvPr>
        </p:nvSpPr>
        <p:spPr/>
        <p:txBody>
          <a:bodyPr/>
          <a:lstStyle/>
          <a:p>
            <a:fld id="{C23E3B1A-C65E-4AB7-BDC1-0D2D1AB89E7A}" type="slidenum">
              <a:rPr lang="fr-FR" smtClean="0"/>
              <a:t>44</a:t>
            </a:fld>
            <a:endParaRPr lang="fr-FR"/>
          </a:p>
        </p:txBody>
      </p:sp>
    </p:spTree>
    <p:extLst>
      <p:ext uri="{BB962C8B-B14F-4D97-AF65-F5344CB8AC3E}">
        <p14:creationId xmlns:p14="http://schemas.microsoft.com/office/powerpoint/2010/main" val="36478200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07E4-2598-4014-B508-48E50CEAA16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D7FF62-5142-F461-BB0A-D148CFD91B8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B0F3F76-8E9B-DEFA-B7E0-610E49A2578F}"/>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8145834A-7E40-67A4-7332-DC15B15FDDA0}"/>
              </a:ext>
            </a:extLst>
          </p:cNvPr>
          <p:cNvSpPr>
            <a:spLocks noGrp="1"/>
          </p:cNvSpPr>
          <p:nvPr>
            <p:ph type="sldNum" sz="quarter" idx="5"/>
          </p:nvPr>
        </p:nvSpPr>
        <p:spPr/>
        <p:txBody>
          <a:bodyPr/>
          <a:lstStyle/>
          <a:p>
            <a:fld id="{C23E3B1A-C65E-4AB7-BDC1-0D2D1AB89E7A}" type="slidenum">
              <a:rPr lang="fr-FR" smtClean="0"/>
              <a:t>45</a:t>
            </a:fld>
            <a:endParaRPr lang="fr-FR"/>
          </a:p>
        </p:txBody>
      </p:sp>
    </p:spTree>
    <p:extLst>
      <p:ext uri="{BB962C8B-B14F-4D97-AF65-F5344CB8AC3E}">
        <p14:creationId xmlns:p14="http://schemas.microsoft.com/office/powerpoint/2010/main" val="2138035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4C911-4188-0527-103E-118B7585C17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7C3CA00-4E63-ED57-1F72-2EBC9086B68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B2D1F45-CDCE-501D-19E6-84D700FEB16C}"/>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B50F5805-D6E6-61EA-F94D-2D3A314A4E9B}"/>
              </a:ext>
            </a:extLst>
          </p:cNvPr>
          <p:cNvSpPr>
            <a:spLocks noGrp="1"/>
          </p:cNvSpPr>
          <p:nvPr>
            <p:ph type="sldNum" sz="quarter" idx="5"/>
          </p:nvPr>
        </p:nvSpPr>
        <p:spPr/>
        <p:txBody>
          <a:bodyPr/>
          <a:lstStyle/>
          <a:p>
            <a:fld id="{C23E3B1A-C65E-4AB7-BDC1-0D2D1AB89E7A}" type="slidenum">
              <a:rPr lang="fr-FR" smtClean="0"/>
              <a:t>46</a:t>
            </a:fld>
            <a:endParaRPr lang="fr-FR"/>
          </a:p>
        </p:txBody>
      </p:sp>
    </p:spTree>
    <p:extLst>
      <p:ext uri="{BB962C8B-B14F-4D97-AF65-F5344CB8AC3E}">
        <p14:creationId xmlns:p14="http://schemas.microsoft.com/office/powerpoint/2010/main" val="31188288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7E090-8530-E26D-3D37-76BB335C45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911E6E7-D6C8-C67B-0029-B5F0B8FFD4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B0046BE-E1AA-F209-D61D-683F2F64461A}"/>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A1AD32AF-691D-B200-54A7-2162C497B19F}"/>
              </a:ext>
            </a:extLst>
          </p:cNvPr>
          <p:cNvSpPr>
            <a:spLocks noGrp="1"/>
          </p:cNvSpPr>
          <p:nvPr>
            <p:ph type="sldNum" sz="quarter" idx="5"/>
          </p:nvPr>
        </p:nvSpPr>
        <p:spPr/>
        <p:txBody>
          <a:bodyPr/>
          <a:lstStyle/>
          <a:p>
            <a:fld id="{C23E3B1A-C65E-4AB7-BDC1-0D2D1AB89E7A}" type="slidenum">
              <a:rPr lang="fr-FR" smtClean="0"/>
              <a:t>47</a:t>
            </a:fld>
            <a:endParaRPr lang="fr-FR"/>
          </a:p>
        </p:txBody>
      </p:sp>
    </p:spTree>
    <p:extLst>
      <p:ext uri="{BB962C8B-B14F-4D97-AF65-F5344CB8AC3E}">
        <p14:creationId xmlns:p14="http://schemas.microsoft.com/office/powerpoint/2010/main" val="16993828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C0244-7D2A-E586-D055-A0E8D45F03F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DDE896-CF6F-D256-5D84-3431F5D5F87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DA3B717-A9E6-870A-3749-7A8CBDC5517F}"/>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1BC1BFAD-2606-1E20-4F9B-C56C2A057D98}"/>
              </a:ext>
            </a:extLst>
          </p:cNvPr>
          <p:cNvSpPr>
            <a:spLocks noGrp="1"/>
          </p:cNvSpPr>
          <p:nvPr>
            <p:ph type="sldNum" sz="quarter" idx="5"/>
          </p:nvPr>
        </p:nvSpPr>
        <p:spPr/>
        <p:txBody>
          <a:bodyPr/>
          <a:lstStyle/>
          <a:p>
            <a:fld id="{C23E3B1A-C65E-4AB7-BDC1-0D2D1AB89E7A}" type="slidenum">
              <a:rPr lang="fr-FR" smtClean="0"/>
              <a:t>48</a:t>
            </a:fld>
            <a:endParaRPr lang="fr-FR"/>
          </a:p>
        </p:txBody>
      </p:sp>
    </p:spTree>
    <p:extLst>
      <p:ext uri="{BB962C8B-B14F-4D97-AF65-F5344CB8AC3E}">
        <p14:creationId xmlns:p14="http://schemas.microsoft.com/office/powerpoint/2010/main" val="31293998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BB0A6-087E-318E-D8B2-42872ACC1C6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57A0E13-4367-4A00-8E67-39E3C6F8F13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80966E-FB27-FD64-50F9-3EEEBC091D57}"/>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442E9349-F2D4-A1DA-96CF-0D8E030945A8}"/>
              </a:ext>
            </a:extLst>
          </p:cNvPr>
          <p:cNvSpPr>
            <a:spLocks noGrp="1"/>
          </p:cNvSpPr>
          <p:nvPr>
            <p:ph type="sldNum" sz="quarter" idx="5"/>
          </p:nvPr>
        </p:nvSpPr>
        <p:spPr/>
        <p:txBody>
          <a:bodyPr/>
          <a:lstStyle/>
          <a:p>
            <a:fld id="{C23E3B1A-C65E-4AB7-BDC1-0D2D1AB89E7A}" type="slidenum">
              <a:rPr lang="fr-FR" smtClean="0"/>
              <a:t>49</a:t>
            </a:fld>
            <a:endParaRPr lang="fr-FR"/>
          </a:p>
        </p:txBody>
      </p:sp>
    </p:spTree>
    <p:extLst>
      <p:ext uri="{BB962C8B-B14F-4D97-AF65-F5344CB8AC3E}">
        <p14:creationId xmlns:p14="http://schemas.microsoft.com/office/powerpoint/2010/main" val="687451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C99C7-730A-E2BE-DDF4-BF177B683E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807D31-351F-0952-78D8-E1CCFD3EEA7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8ECCAD1-AC28-1E1D-E157-349D582A4348}"/>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0C3C58DD-2A83-3ABE-0AF0-821282BB39E8}"/>
              </a:ext>
            </a:extLst>
          </p:cNvPr>
          <p:cNvSpPr>
            <a:spLocks noGrp="1"/>
          </p:cNvSpPr>
          <p:nvPr>
            <p:ph type="sldNum" sz="quarter" idx="5"/>
          </p:nvPr>
        </p:nvSpPr>
        <p:spPr/>
        <p:txBody>
          <a:bodyPr/>
          <a:lstStyle/>
          <a:p>
            <a:fld id="{C23E3B1A-C65E-4AB7-BDC1-0D2D1AB89E7A}" type="slidenum">
              <a:rPr lang="fr-FR" smtClean="0"/>
              <a:t>50</a:t>
            </a:fld>
            <a:endParaRPr lang="fr-FR"/>
          </a:p>
        </p:txBody>
      </p:sp>
    </p:spTree>
    <p:extLst>
      <p:ext uri="{BB962C8B-B14F-4D97-AF65-F5344CB8AC3E}">
        <p14:creationId xmlns:p14="http://schemas.microsoft.com/office/powerpoint/2010/main" val="25042607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128B-F3FC-A087-9711-18D8153F25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31134A-5E38-5AEB-F060-0CDB3761D4D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2C3EF71-768D-5F27-70D3-8D72DFA5C2E6}"/>
              </a:ext>
            </a:extLst>
          </p:cNvPr>
          <p:cNvSpPr>
            <a:spLocks noGrp="1"/>
          </p:cNvSpPr>
          <p:nvPr>
            <p:ph type="body" idx="1"/>
          </p:nvPr>
        </p:nvSpPr>
        <p:spPr/>
        <p:txBody>
          <a:bodyPr/>
          <a:lstStyle/>
          <a:p>
            <a:pPr marL="0" indent="0">
              <a:buFontTx/>
              <a:buNone/>
            </a:pPr>
            <a:r>
              <a:rPr lang="fr-FR" dirty="0"/>
              <a:t>Les interventions ne se font pas niveau code, mais en configuration et en surveillance plutôt qu’en correction ponctuelle</a:t>
            </a:r>
          </a:p>
        </p:txBody>
      </p:sp>
      <p:sp>
        <p:nvSpPr>
          <p:cNvPr id="4" name="Espace réservé du numéro de diapositive 3">
            <a:extLst>
              <a:ext uri="{FF2B5EF4-FFF2-40B4-BE49-F238E27FC236}">
                <a16:creationId xmlns:a16="http://schemas.microsoft.com/office/drawing/2014/main" id="{2B45AADB-B393-E984-9B8A-9FC962D8CC7F}"/>
              </a:ext>
            </a:extLst>
          </p:cNvPr>
          <p:cNvSpPr>
            <a:spLocks noGrp="1"/>
          </p:cNvSpPr>
          <p:nvPr>
            <p:ph type="sldNum" sz="quarter" idx="5"/>
          </p:nvPr>
        </p:nvSpPr>
        <p:spPr/>
        <p:txBody>
          <a:bodyPr/>
          <a:lstStyle/>
          <a:p>
            <a:fld id="{C23E3B1A-C65E-4AB7-BDC1-0D2D1AB89E7A}" type="slidenum">
              <a:rPr lang="fr-FR" smtClean="0"/>
              <a:t>51</a:t>
            </a:fld>
            <a:endParaRPr lang="fr-FR"/>
          </a:p>
        </p:txBody>
      </p:sp>
    </p:spTree>
    <p:extLst>
      <p:ext uri="{BB962C8B-B14F-4D97-AF65-F5344CB8AC3E}">
        <p14:creationId xmlns:p14="http://schemas.microsoft.com/office/powerpoint/2010/main" val="15695728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9AED3-BC1A-4EB7-961C-2816671F82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FDD103-0A4A-24D3-DA4D-CFD21518490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52485D-DD43-107C-7377-4787F2B73593}"/>
              </a:ext>
            </a:extLst>
          </p:cNvPr>
          <p:cNvSpPr>
            <a:spLocks noGrp="1"/>
          </p:cNvSpPr>
          <p:nvPr>
            <p:ph type="body" idx="1"/>
          </p:nvPr>
        </p:nvSpPr>
        <p:spPr/>
        <p:txBody>
          <a:bodyPr/>
          <a:lstStyle/>
          <a:p>
            <a:pPr marL="0" indent="0">
              <a:buFontTx/>
              <a:buNone/>
            </a:pPr>
            <a:r>
              <a:rPr lang="fr-FR" dirty="0"/>
              <a:t>- </a:t>
            </a:r>
            <a:r>
              <a:rPr lang="fr-FR" dirty="0" err="1"/>
              <a:t>Credential</a:t>
            </a:r>
            <a:r>
              <a:rPr lang="fr-FR" dirty="0"/>
              <a:t> </a:t>
            </a:r>
            <a:r>
              <a:rPr lang="fr-FR" dirty="0" err="1"/>
              <a:t>stuffing</a:t>
            </a:r>
            <a:r>
              <a:rPr lang="fr-FR" dirty="0"/>
              <a:t> est très courant</a:t>
            </a:r>
          </a:p>
        </p:txBody>
      </p:sp>
      <p:sp>
        <p:nvSpPr>
          <p:cNvPr id="4" name="Espace réservé du numéro de diapositive 3">
            <a:extLst>
              <a:ext uri="{FF2B5EF4-FFF2-40B4-BE49-F238E27FC236}">
                <a16:creationId xmlns:a16="http://schemas.microsoft.com/office/drawing/2014/main" id="{09B6FC7E-3F28-D27B-8560-2D4DD6E030F5}"/>
              </a:ext>
            </a:extLst>
          </p:cNvPr>
          <p:cNvSpPr>
            <a:spLocks noGrp="1"/>
          </p:cNvSpPr>
          <p:nvPr>
            <p:ph type="sldNum" sz="quarter" idx="5"/>
          </p:nvPr>
        </p:nvSpPr>
        <p:spPr/>
        <p:txBody>
          <a:bodyPr/>
          <a:lstStyle/>
          <a:p>
            <a:fld id="{C23E3B1A-C65E-4AB7-BDC1-0D2D1AB89E7A}" type="slidenum">
              <a:rPr lang="fr-FR" smtClean="0"/>
              <a:t>52</a:t>
            </a:fld>
            <a:endParaRPr lang="fr-FR"/>
          </a:p>
        </p:txBody>
      </p:sp>
    </p:spTree>
    <p:extLst>
      <p:ext uri="{BB962C8B-B14F-4D97-AF65-F5344CB8AC3E}">
        <p14:creationId xmlns:p14="http://schemas.microsoft.com/office/powerpoint/2010/main" val="1967959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F7C61-C044-51F9-8BEE-CB445E57502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7AA14B-CE06-47F4-CBB5-1EE9CAC006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B8DDB0-FCB8-8014-B669-A24C2F28C13C}"/>
              </a:ext>
            </a:extLst>
          </p:cNvPr>
          <p:cNvSpPr>
            <a:spLocks noGrp="1"/>
          </p:cNvSpPr>
          <p:nvPr>
            <p:ph type="body" idx="1"/>
          </p:nvPr>
        </p:nvSpPr>
        <p:spPr/>
        <p:txBody>
          <a:bodyPr/>
          <a:lstStyle/>
          <a:p>
            <a:pPr marL="0" indent="0">
              <a:buFontTx/>
              <a:buNone/>
            </a:pPr>
            <a:r>
              <a:rPr lang="fr-FR" dirty="0"/>
              <a:t>- Il est recommandé de forcer une réinitialisation de mot de passe sur les comptes ayant reçu un volume élevé d’échecs, même si aucune connexion n’a réussi</a:t>
            </a:r>
          </a:p>
        </p:txBody>
      </p:sp>
      <p:sp>
        <p:nvSpPr>
          <p:cNvPr id="4" name="Espace réservé du numéro de diapositive 3">
            <a:extLst>
              <a:ext uri="{FF2B5EF4-FFF2-40B4-BE49-F238E27FC236}">
                <a16:creationId xmlns:a16="http://schemas.microsoft.com/office/drawing/2014/main" id="{5C94B65E-D25B-49E9-BFFB-49B74F663AE5}"/>
              </a:ext>
            </a:extLst>
          </p:cNvPr>
          <p:cNvSpPr>
            <a:spLocks noGrp="1"/>
          </p:cNvSpPr>
          <p:nvPr>
            <p:ph type="sldNum" sz="quarter" idx="5"/>
          </p:nvPr>
        </p:nvSpPr>
        <p:spPr/>
        <p:txBody>
          <a:bodyPr/>
          <a:lstStyle/>
          <a:p>
            <a:fld id="{C23E3B1A-C65E-4AB7-BDC1-0D2D1AB89E7A}" type="slidenum">
              <a:rPr lang="fr-FR" smtClean="0"/>
              <a:t>53</a:t>
            </a:fld>
            <a:endParaRPr lang="fr-FR"/>
          </a:p>
        </p:txBody>
      </p:sp>
    </p:spTree>
    <p:extLst>
      <p:ext uri="{BB962C8B-B14F-4D97-AF65-F5344CB8AC3E}">
        <p14:creationId xmlns:p14="http://schemas.microsoft.com/office/powerpoint/2010/main" val="41732312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F36E2-3AAE-53BD-6311-84CB9E1A00A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6849A79-94C1-918C-B0E9-887F08C5BCE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1C4EA6E-A030-8B33-D9B7-9A72C997ED18}"/>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FE7262C8-A9FF-E378-28A3-6BA17F76194B}"/>
              </a:ext>
            </a:extLst>
          </p:cNvPr>
          <p:cNvSpPr>
            <a:spLocks noGrp="1"/>
          </p:cNvSpPr>
          <p:nvPr>
            <p:ph type="sldNum" sz="quarter" idx="5"/>
          </p:nvPr>
        </p:nvSpPr>
        <p:spPr/>
        <p:txBody>
          <a:bodyPr/>
          <a:lstStyle/>
          <a:p>
            <a:fld id="{C23E3B1A-C65E-4AB7-BDC1-0D2D1AB89E7A}" type="slidenum">
              <a:rPr lang="fr-FR" smtClean="0"/>
              <a:t>54</a:t>
            </a:fld>
            <a:endParaRPr lang="fr-FR"/>
          </a:p>
        </p:txBody>
      </p:sp>
    </p:spTree>
    <p:extLst>
      <p:ext uri="{BB962C8B-B14F-4D97-AF65-F5344CB8AC3E}">
        <p14:creationId xmlns:p14="http://schemas.microsoft.com/office/powerpoint/2010/main" val="33514837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E7200-90FB-9968-36F8-D8B312D36A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3DB9B36-FE82-B3BB-67AD-6100526FB85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75757BD-741D-620A-00CF-CBB1B10C9FEE}"/>
              </a:ext>
            </a:extLst>
          </p:cNvPr>
          <p:cNvSpPr>
            <a:spLocks noGrp="1"/>
          </p:cNvSpPr>
          <p:nvPr>
            <p:ph type="body" idx="1"/>
          </p:nvPr>
        </p:nvSpPr>
        <p:spPr/>
        <p:txBody>
          <a:bodyPr/>
          <a:lstStyle/>
          <a:p>
            <a:pPr marL="171450" indent="-171450">
              <a:buFontTx/>
              <a:buChar char="-"/>
            </a:pPr>
            <a:r>
              <a:rPr lang="fr-FR" dirty="0" err="1"/>
              <a:t>EventListener</a:t>
            </a:r>
            <a:r>
              <a:rPr lang="fr-FR" dirty="0"/>
              <a:t> : moins précis, difficile d’appliquer les règles différentes selon la ressource ciblée</a:t>
            </a:r>
          </a:p>
          <a:p>
            <a:pPr marL="171450" indent="-171450">
              <a:buFontTx/>
              <a:buChar char="-"/>
            </a:pPr>
            <a:r>
              <a:rPr lang="fr-FR" dirty="0" err="1"/>
              <a:t>ProviderInterface</a:t>
            </a:r>
            <a:r>
              <a:rPr lang="fr-FR" dirty="0"/>
              <a:t> : à appliquer sur la ressource au cas par cas, via l’attribut ‘provider’ de </a:t>
            </a:r>
            <a:r>
              <a:rPr lang="fr-FR" dirty="0" err="1"/>
              <a:t>ApiResource</a:t>
            </a:r>
            <a:endParaRPr lang="fr-FR" dirty="0"/>
          </a:p>
        </p:txBody>
      </p:sp>
      <p:sp>
        <p:nvSpPr>
          <p:cNvPr id="4" name="Espace réservé du numéro de diapositive 3">
            <a:extLst>
              <a:ext uri="{FF2B5EF4-FFF2-40B4-BE49-F238E27FC236}">
                <a16:creationId xmlns:a16="http://schemas.microsoft.com/office/drawing/2014/main" id="{2627C789-A693-40F2-9406-571F41612E42}"/>
              </a:ext>
            </a:extLst>
          </p:cNvPr>
          <p:cNvSpPr>
            <a:spLocks noGrp="1"/>
          </p:cNvSpPr>
          <p:nvPr>
            <p:ph type="sldNum" sz="quarter" idx="5"/>
          </p:nvPr>
        </p:nvSpPr>
        <p:spPr/>
        <p:txBody>
          <a:bodyPr/>
          <a:lstStyle/>
          <a:p>
            <a:fld id="{C23E3B1A-C65E-4AB7-BDC1-0D2D1AB89E7A}" type="slidenum">
              <a:rPr lang="fr-FR" smtClean="0"/>
              <a:t>55</a:t>
            </a:fld>
            <a:endParaRPr lang="fr-FR"/>
          </a:p>
        </p:txBody>
      </p:sp>
    </p:spTree>
    <p:extLst>
      <p:ext uri="{BB962C8B-B14F-4D97-AF65-F5344CB8AC3E}">
        <p14:creationId xmlns:p14="http://schemas.microsoft.com/office/powerpoint/2010/main" val="22511490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2AF4-D527-0D12-6CAE-525FAA7587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20BEFC-85A5-4163-7ECF-88F17DAF83F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9EC554-1870-1F76-8C05-556289A8E327}"/>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575A8A34-5D4F-B2F4-31FD-D951A6E85963}"/>
              </a:ext>
            </a:extLst>
          </p:cNvPr>
          <p:cNvSpPr>
            <a:spLocks noGrp="1"/>
          </p:cNvSpPr>
          <p:nvPr>
            <p:ph type="sldNum" sz="quarter" idx="5"/>
          </p:nvPr>
        </p:nvSpPr>
        <p:spPr/>
        <p:txBody>
          <a:bodyPr/>
          <a:lstStyle/>
          <a:p>
            <a:fld id="{C23E3B1A-C65E-4AB7-BDC1-0D2D1AB89E7A}" type="slidenum">
              <a:rPr lang="fr-FR" smtClean="0"/>
              <a:t>56</a:t>
            </a:fld>
            <a:endParaRPr lang="fr-FR"/>
          </a:p>
        </p:txBody>
      </p:sp>
    </p:spTree>
    <p:extLst>
      <p:ext uri="{BB962C8B-B14F-4D97-AF65-F5344CB8AC3E}">
        <p14:creationId xmlns:p14="http://schemas.microsoft.com/office/powerpoint/2010/main" val="15176434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3DF78-FC78-599B-1A24-6930F179AC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2D667A-28B6-05CD-2A7B-AFAF48AD97D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31A160-84BF-B006-44DE-D40E95309744}"/>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68AA78CA-10A2-3328-3485-2157BA1A4EC0}"/>
              </a:ext>
            </a:extLst>
          </p:cNvPr>
          <p:cNvSpPr>
            <a:spLocks noGrp="1"/>
          </p:cNvSpPr>
          <p:nvPr>
            <p:ph type="sldNum" sz="quarter" idx="5"/>
          </p:nvPr>
        </p:nvSpPr>
        <p:spPr/>
        <p:txBody>
          <a:bodyPr/>
          <a:lstStyle/>
          <a:p>
            <a:fld id="{C23E3B1A-C65E-4AB7-BDC1-0D2D1AB89E7A}" type="slidenum">
              <a:rPr lang="fr-FR" smtClean="0"/>
              <a:t>57</a:t>
            </a:fld>
            <a:endParaRPr lang="fr-FR"/>
          </a:p>
        </p:txBody>
      </p:sp>
    </p:spTree>
    <p:extLst>
      <p:ext uri="{BB962C8B-B14F-4D97-AF65-F5344CB8AC3E}">
        <p14:creationId xmlns:p14="http://schemas.microsoft.com/office/powerpoint/2010/main" val="1414835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1746873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455035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2893192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0043125-C940-446E-AA95-4CC6C20D457E}" type="datetimeFigureOut">
              <a:rPr lang="fr-FR" smtClean="0"/>
              <a:t>18/09/2026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420756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0043125-C940-446E-AA95-4CC6C20D457E}" type="datetimeFigureOut">
              <a:rPr lang="fr-FR" smtClean="0"/>
              <a:t>18/09/2026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564872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30043125-C940-446E-AA95-4CC6C20D457E}" type="datetimeFigureOut">
              <a:rPr lang="fr-FR" smtClean="0"/>
              <a:t>18/09/2026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4180580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043125-C940-446E-AA95-4CC6C20D457E}" type="datetimeFigureOut">
              <a:rPr lang="fr-FR" smtClean="0"/>
              <a:t>18/09/2026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528868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0043125-C940-446E-AA95-4CC6C20D457E}" type="datetimeFigureOut">
              <a:rPr lang="fr-FR" smtClean="0"/>
              <a:t>18/09/2026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224958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0043125-C940-446E-AA95-4CC6C20D457E}" type="datetimeFigureOut">
              <a:rPr lang="fr-FR" smtClean="0"/>
              <a:t>18/09/2026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328890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3494952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15219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949293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75847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1597444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35133357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0043125-C940-446E-AA95-4CC6C20D457E}" type="datetimeFigureOut">
              <a:rPr lang="fr-FR" smtClean="0"/>
              <a:t>18/09/2026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A81F14B-05D4-4387-9797-4DBD544AFE3E}" type="slidenum">
              <a:rPr lang="fr-FR" smtClean="0"/>
              <a:t>‹N°›</a:t>
            </a:fld>
            <a:endParaRPr lang="fr-FR"/>
          </a:p>
        </p:txBody>
      </p:sp>
    </p:spTree>
    <p:extLst>
      <p:ext uri="{BB962C8B-B14F-4D97-AF65-F5344CB8AC3E}">
        <p14:creationId xmlns:p14="http://schemas.microsoft.com/office/powerpoint/2010/main" val="2471117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0043125-C940-446E-AA95-4CC6C20D457E}" type="datetimeFigureOut">
              <a:rPr lang="fr-FR" smtClean="0"/>
              <a:t>18/09/2026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A81F14B-05D4-4387-9797-4DBD544AFE3E}" type="slidenum">
              <a:rPr lang="fr-FR" smtClean="0"/>
              <a:t>‹N°›</a:t>
            </a:fld>
            <a:endParaRPr lang="fr-FR"/>
          </a:p>
        </p:txBody>
      </p:sp>
    </p:spTree>
    <p:extLst>
      <p:ext uri="{BB962C8B-B14F-4D97-AF65-F5344CB8AC3E}">
        <p14:creationId xmlns:p14="http://schemas.microsoft.com/office/powerpoint/2010/main" val="25090150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owasp.org/Top10/2025/"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symfony.com/doc/current/security/csrf.html" TargetMode="Externa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49A594-938C-DDE7-D0E9-C6BC160AD4A6}"/>
              </a:ext>
            </a:extLst>
          </p:cNvPr>
          <p:cNvSpPr>
            <a:spLocks noGrp="1"/>
          </p:cNvSpPr>
          <p:nvPr>
            <p:ph type="ctrTitle"/>
          </p:nvPr>
        </p:nvSpPr>
        <p:spPr/>
        <p:txBody>
          <a:bodyPr/>
          <a:lstStyle/>
          <a:p>
            <a:r>
              <a:rPr lang="fr-FR" dirty="0"/>
              <a:t>SÉCURITÉ WEB</a:t>
            </a:r>
          </a:p>
        </p:txBody>
      </p:sp>
      <p:sp>
        <p:nvSpPr>
          <p:cNvPr id="3" name="Sous-titre 2">
            <a:extLst>
              <a:ext uri="{FF2B5EF4-FFF2-40B4-BE49-F238E27FC236}">
                <a16:creationId xmlns:a16="http://schemas.microsoft.com/office/drawing/2014/main" id="{7FA261CD-7D3D-3ADD-0866-7451A9598E25}"/>
              </a:ext>
            </a:extLst>
          </p:cNvPr>
          <p:cNvSpPr>
            <a:spLocks noGrp="1"/>
          </p:cNvSpPr>
          <p:nvPr>
            <p:ph type="subTitle" idx="1"/>
          </p:nvPr>
        </p:nvSpPr>
        <p:spPr/>
        <p:txBody>
          <a:bodyPr/>
          <a:lstStyle/>
          <a:p>
            <a:endParaRPr lang="fr-FR" dirty="0"/>
          </a:p>
        </p:txBody>
      </p:sp>
    </p:spTree>
    <p:extLst>
      <p:ext uri="{BB962C8B-B14F-4D97-AF65-F5344CB8AC3E}">
        <p14:creationId xmlns:p14="http://schemas.microsoft.com/office/powerpoint/2010/main" val="1926434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3A299A-A239-77FF-5A43-2548F2B5CA00}"/>
              </a:ext>
            </a:extLst>
          </p:cNvPr>
          <p:cNvSpPr>
            <a:spLocks noGrp="1"/>
          </p:cNvSpPr>
          <p:nvPr>
            <p:ph type="title"/>
          </p:nvPr>
        </p:nvSpPr>
        <p:spPr>
          <a:xfrm>
            <a:off x="677334" y="609600"/>
            <a:ext cx="9177866" cy="1320800"/>
          </a:xfrm>
        </p:spPr>
        <p:txBody>
          <a:bodyPr/>
          <a:lstStyle/>
          <a:p>
            <a:r>
              <a:rPr lang="fr-FR" dirty="0"/>
              <a:t>INTRODUCTION</a:t>
            </a:r>
          </a:p>
        </p:txBody>
      </p:sp>
      <p:sp>
        <p:nvSpPr>
          <p:cNvPr id="3" name="Espace réservé du contenu 2">
            <a:extLst>
              <a:ext uri="{FF2B5EF4-FFF2-40B4-BE49-F238E27FC236}">
                <a16:creationId xmlns:a16="http://schemas.microsoft.com/office/drawing/2014/main" id="{68B1F752-EB6F-C034-46F2-0867FF869676}"/>
              </a:ext>
            </a:extLst>
          </p:cNvPr>
          <p:cNvSpPr>
            <a:spLocks noGrp="1"/>
          </p:cNvSpPr>
          <p:nvPr>
            <p:ph idx="1"/>
          </p:nvPr>
        </p:nvSpPr>
        <p:spPr/>
        <p:txBody>
          <a:bodyPr/>
          <a:lstStyle/>
          <a:p>
            <a:r>
              <a:rPr lang="fr-FR" dirty="0"/>
              <a:t>Pourquoi parler de </a:t>
            </a:r>
            <a:r>
              <a:rPr lang="fr-FR" b="1" dirty="0"/>
              <a:t>sécurité</a:t>
            </a:r>
            <a:r>
              <a:rPr lang="fr-FR" dirty="0"/>
              <a:t> </a:t>
            </a:r>
            <a:r>
              <a:rPr lang="fr-FR" b="1" dirty="0"/>
              <a:t>aujourd'hui</a:t>
            </a:r>
            <a:r>
              <a:rPr lang="fr-FR" dirty="0"/>
              <a:t> ?</a:t>
            </a:r>
          </a:p>
          <a:p>
            <a:endParaRPr lang="fr-FR" dirty="0"/>
          </a:p>
          <a:p>
            <a:r>
              <a:rPr lang="fr-FR" dirty="0"/>
              <a:t>Un sujet qui nous concerne directement, </a:t>
            </a:r>
            <a:r>
              <a:rPr lang="fr-FR" b="1" dirty="0"/>
              <a:t>développeurs Symfony/PHP</a:t>
            </a:r>
          </a:p>
        </p:txBody>
      </p:sp>
    </p:spTree>
    <p:extLst>
      <p:ext uri="{BB962C8B-B14F-4D97-AF65-F5344CB8AC3E}">
        <p14:creationId xmlns:p14="http://schemas.microsoft.com/office/powerpoint/2010/main" val="1940176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F4538-51E8-841E-B15B-C8EFA06B008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112361-8EB4-A568-00CB-EDEC94589910}"/>
              </a:ext>
            </a:extLst>
          </p:cNvPr>
          <p:cNvSpPr>
            <a:spLocks noGrp="1"/>
          </p:cNvSpPr>
          <p:nvPr>
            <p:ph type="title"/>
          </p:nvPr>
        </p:nvSpPr>
        <p:spPr>
          <a:xfrm>
            <a:off x="677334" y="609600"/>
            <a:ext cx="9177866" cy="1320800"/>
          </a:xfrm>
        </p:spPr>
        <p:txBody>
          <a:bodyPr/>
          <a:lstStyle/>
          <a:p>
            <a:r>
              <a:rPr lang="fr-FR" dirty="0"/>
              <a:t>CE QUI PEUT ARRIVER</a:t>
            </a:r>
          </a:p>
        </p:txBody>
      </p:sp>
      <p:graphicFrame>
        <p:nvGraphicFramePr>
          <p:cNvPr id="7" name="Espace réservé du contenu 2">
            <a:extLst>
              <a:ext uri="{FF2B5EF4-FFF2-40B4-BE49-F238E27FC236}">
                <a16:creationId xmlns:a16="http://schemas.microsoft.com/office/drawing/2014/main" id="{2BC5629B-C825-D86D-B5BB-8B8B06590C40}"/>
              </a:ext>
            </a:extLst>
          </p:cNvPr>
          <p:cNvGraphicFramePr>
            <a:graphicFrameLocks noGrp="1"/>
          </p:cNvGraphicFramePr>
          <p:nvPr>
            <p:ph idx="1"/>
          </p:nvPr>
        </p:nvGraphicFramePr>
        <p:xfrm>
          <a:off x="677334" y="2168404"/>
          <a:ext cx="8596668"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17587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70AE52-A10D-B999-22ED-888E1B4126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378D1EB-6657-B35D-B681-0171CAD2367E}"/>
              </a:ext>
            </a:extLst>
          </p:cNvPr>
          <p:cNvSpPr>
            <a:spLocks noGrp="1"/>
          </p:cNvSpPr>
          <p:nvPr>
            <p:ph type="title"/>
          </p:nvPr>
        </p:nvSpPr>
        <p:spPr>
          <a:xfrm>
            <a:off x="1333502" y="609600"/>
            <a:ext cx="8596668" cy="1320800"/>
          </a:xfrm>
        </p:spPr>
        <p:txBody>
          <a:bodyPr>
            <a:normAutofit/>
          </a:bodyPr>
          <a:lstStyle/>
          <a:p>
            <a:r>
              <a:rPr lang="fr-FR" dirty="0"/>
              <a:t>LA SÉCURITÉ, UN CYCLE</a:t>
            </a: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Espace réservé du contenu 2">
            <a:extLst>
              <a:ext uri="{FF2B5EF4-FFF2-40B4-BE49-F238E27FC236}">
                <a16:creationId xmlns:a16="http://schemas.microsoft.com/office/drawing/2014/main" id="{FD483B63-91FF-D623-0A70-D88B8B380398}"/>
              </a:ext>
            </a:extLst>
          </p:cNvPr>
          <p:cNvSpPr>
            <a:spLocks noGrp="1"/>
          </p:cNvSpPr>
          <p:nvPr>
            <p:ph idx="1"/>
          </p:nvPr>
        </p:nvSpPr>
        <p:spPr>
          <a:xfrm>
            <a:off x="1333502" y="2160589"/>
            <a:ext cx="8596668" cy="3880773"/>
          </a:xfrm>
        </p:spPr>
        <p:txBody>
          <a:bodyPr>
            <a:normAutofit/>
          </a:bodyPr>
          <a:lstStyle/>
          <a:p>
            <a:r>
              <a:rPr lang="fr-FR" b="1" dirty="0"/>
              <a:t>Conception</a:t>
            </a:r>
            <a:r>
              <a:rPr lang="fr-FR" dirty="0"/>
              <a:t> : anticiper qui accède à quoi</a:t>
            </a:r>
          </a:p>
          <a:p>
            <a:endParaRPr lang="fr-FR" dirty="0"/>
          </a:p>
          <a:p>
            <a:r>
              <a:rPr lang="fr-FR" b="1" dirty="0"/>
              <a:t>Développement</a:t>
            </a:r>
            <a:r>
              <a:rPr lang="fr-FR" dirty="0"/>
              <a:t> : bonnes pratiques, revue de code (</a:t>
            </a:r>
            <a:r>
              <a:rPr lang="fr-FR" b="1" dirty="0"/>
              <a:t>CS Fixer</a:t>
            </a:r>
            <a:r>
              <a:rPr lang="fr-FR" dirty="0"/>
              <a:t>/</a:t>
            </a:r>
            <a:r>
              <a:rPr lang="fr-FR" b="1" dirty="0" err="1"/>
              <a:t>PHPStan</a:t>
            </a:r>
            <a:r>
              <a:rPr lang="fr-FR" dirty="0"/>
              <a:t>)</a:t>
            </a:r>
          </a:p>
          <a:p>
            <a:endParaRPr lang="fr-FR" dirty="0"/>
          </a:p>
          <a:p>
            <a:r>
              <a:rPr lang="fr-FR" b="1" dirty="0"/>
              <a:t>Maintenance</a:t>
            </a:r>
            <a:r>
              <a:rPr lang="fr-FR" dirty="0"/>
              <a:t> : mises à jour, audits (</a:t>
            </a:r>
            <a:r>
              <a:rPr lang="fr-FR" b="1" dirty="0" err="1"/>
              <a:t>Dependabot</a:t>
            </a:r>
            <a:r>
              <a:rPr lang="fr-FR" b="1" dirty="0"/>
              <a:t>/composer audit</a:t>
            </a:r>
            <a:r>
              <a:rPr lang="fr-FR" dirty="0"/>
              <a:t>)</a:t>
            </a: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49069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9CCFDA-2645-041F-A99B-F4C9E67B7B00}"/>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7456B8A-F340-EBD0-1EF7-C3B617A2F36F}"/>
              </a:ext>
            </a:extLst>
          </p:cNvPr>
          <p:cNvSpPr>
            <a:spLocks noGrp="1"/>
          </p:cNvSpPr>
          <p:nvPr>
            <p:ph type="title"/>
          </p:nvPr>
        </p:nvSpPr>
        <p:spPr>
          <a:xfrm>
            <a:off x="1333502" y="609600"/>
            <a:ext cx="8596668" cy="1320800"/>
          </a:xfrm>
        </p:spPr>
        <p:txBody>
          <a:bodyPr>
            <a:normAutofit/>
          </a:bodyPr>
          <a:lstStyle/>
          <a:p>
            <a:r>
              <a:rPr lang="fr-FR" dirty="0"/>
              <a:t>LES GRANDES FAMILLES DE RISQUES ACTUELS</a:t>
            </a:r>
          </a:p>
        </p:txBody>
      </p:sp>
      <p:sp>
        <p:nvSpPr>
          <p:cNvPr id="21" name="Isosceles Triangle 20">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Isosceles Triangle 22">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25" name="Straight Connector 24">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Espace réservé du contenu 2">
            <a:extLst>
              <a:ext uri="{FF2B5EF4-FFF2-40B4-BE49-F238E27FC236}">
                <a16:creationId xmlns:a16="http://schemas.microsoft.com/office/drawing/2014/main" id="{609FD19A-19D4-71DC-3198-A4C39BDDF9C5}"/>
              </a:ext>
            </a:extLst>
          </p:cNvPr>
          <p:cNvSpPr>
            <a:spLocks noGrp="1"/>
          </p:cNvSpPr>
          <p:nvPr>
            <p:ph idx="1"/>
          </p:nvPr>
        </p:nvSpPr>
        <p:spPr>
          <a:xfrm>
            <a:off x="1333502" y="2160590"/>
            <a:ext cx="8470898" cy="3429260"/>
          </a:xfrm>
        </p:spPr>
        <p:txBody>
          <a:bodyPr>
            <a:normAutofit/>
          </a:bodyPr>
          <a:lstStyle/>
          <a:p>
            <a:pPr>
              <a:lnSpc>
                <a:spcPct val="90000"/>
              </a:lnSpc>
            </a:pPr>
            <a:r>
              <a:rPr lang="fr-FR" b="1" dirty="0"/>
              <a:t>Classement OWASP Top 10:2025</a:t>
            </a:r>
          </a:p>
          <a:p>
            <a:pPr>
              <a:lnSpc>
                <a:spcPct val="90000"/>
              </a:lnSpc>
            </a:pPr>
            <a:endParaRPr lang="fr-FR" dirty="0"/>
          </a:p>
          <a:p>
            <a:pPr>
              <a:lnSpc>
                <a:spcPct val="90000"/>
              </a:lnSpc>
            </a:pPr>
            <a:r>
              <a:rPr lang="fr-FR" dirty="0"/>
              <a:t>Accès </a:t>
            </a:r>
            <a:r>
              <a:rPr lang="fr-FR" b="1" dirty="0"/>
              <a:t>(A01)</a:t>
            </a:r>
          </a:p>
          <a:p>
            <a:pPr>
              <a:lnSpc>
                <a:spcPct val="90000"/>
              </a:lnSpc>
            </a:pPr>
            <a:endParaRPr lang="fr-FR" dirty="0"/>
          </a:p>
          <a:p>
            <a:pPr>
              <a:lnSpc>
                <a:spcPct val="90000"/>
              </a:lnSpc>
            </a:pPr>
            <a:r>
              <a:rPr lang="fr-FR" dirty="0"/>
              <a:t>Configuration </a:t>
            </a:r>
            <a:r>
              <a:rPr lang="fr-FR" b="1" dirty="0"/>
              <a:t>(A02)</a:t>
            </a:r>
          </a:p>
          <a:p>
            <a:pPr>
              <a:lnSpc>
                <a:spcPct val="90000"/>
              </a:lnSpc>
            </a:pPr>
            <a:endParaRPr lang="fr-FR" dirty="0"/>
          </a:p>
          <a:p>
            <a:pPr>
              <a:lnSpc>
                <a:spcPct val="90000"/>
              </a:lnSpc>
            </a:pPr>
            <a:r>
              <a:rPr lang="fr-FR" dirty="0"/>
              <a:t>Chaîne d'approvisionnement </a:t>
            </a:r>
            <a:r>
              <a:rPr lang="fr-FR" b="1" dirty="0"/>
              <a:t>(A03)</a:t>
            </a:r>
          </a:p>
          <a:p>
            <a:pPr>
              <a:lnSpc>
                <a:spcPct val="90000"/>
              </a:lnSpc>
            </a:pPr>
            <a:endParaRPr lang="fr-FR" dirty="0"/>
          </a:p>
          <a:p>
            <a:pPr marL="0" indent="0">
              <a:lnSpc>
                <a:spcPct val="90000"/>
              </a:lnSpc>
              <a:buNone/>
            </a:pPr>
            <a:r>
              <a:rPr lang="fr-FR" sz="1400" b="1" i="1" dirty="0"/>
              <a:t>Source</a:t>
            </a:r>
            <a:r>
              <a:rPr lang="fr-FR" sz="1400" i="1" dirty="0"/>
              <a:t> : </a:t>
            </a:r>
            <a:r>
              <a:rPr lang="fr-FR" sz="1400" i="1" dirty="0">
                <a:hlinkClick r:id="rId3"/>
              </a:rPr>
              <a:t>https://owasp.org/Top10/2025/</a:t>
            </a:r>
            <a:endParaRPr lang="fr-FR" sz="1400" i="1" dirty="0"/>
          </a:p>
        </p:txBody>
      </p:sp>
      <p:sp>
        <p:nvSpPr>
          <p:cNvPr id="29"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4252771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967FB3-AE7E-94A8-D6FA-2306CB9EF63A}"/>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C86163EA-7D08-1960-4EB3-3EF0CB8F1A9C}"/>
              </a:ext>
            </a:extLst>
          </p:cNvPr>
          <p:cNvSpPr>
            <a:spLocks noGrp="1"/>
          </p:cNvSpPr>
          <p:nvPr>
            <p:ph type="title"/>
          </p:nvPr>
        </p:nvSpPr>
        <p:spPr>
          <a:xfrm>
            <a:off x="643467" y="816638"/>
            <a:ext cx="3367359" cy="5224724"/>
          </a:xfrm>
        </p:spPr>
        <p:txBody>
          <a:bodyPr anchor="ctr">
            <a:normAutofit/>
          </a:bodyPr>
          <a:lstStyle/>
          <a:p>
            <a:r>
              <a:rPr lang="fr-FR" dirty="0"/>
              <a:t>LES PAGES WEB ET XSS</a:t>
            </a:r>
          </a:p>
        </p:txBody>
      </p:sp>
      <p:sp>
        <p:nvSpPr>
          <p:cNvPr id="3" name="Espace réservé du contenu 2">
            <a:extLst>
              <a:ext uri="{FF2B5EF4-FFF2-40B4-BE49-F238E27FC236}">
                <a16:creationId xmlns:a16="http://schemas.microsoft.com/office/drawing/2014/main" id="{840F61B8-8917-2B3D-24EB-E64017D4F9C0}"/>
              </a:ext>
            </a:extLst>
          </p:cNvPr>
          <p:cNvSpPr>
            <a:spLocks noGrp="1"/>
          </p:cNvSpPr>
          <p:nvPr>
            <p:ph idx="1"/>
          </p:nvPr>
        </p:nvSpPr>
        <p:spPr>
          <a:xfrm>
            <a:off x="4654295" y="816638"/>
            <a:ext cx="4619706" cy="5224724"/>
          </a:xfrm>
        </p:spPr>
        <p:txBody>
          <a:bodyPr anchor="ctr">
            <a:normAutofit/>
          </a:bodyPr>
          <a:lstStyle/>
          <a:p>
            <a:pPr marL="0" indent="0">
              <a:buNone/>
            </a:pPr>
            <a:r>
              <a:rPr lang="fr-FR" b="1" dirty="0"/>
              <a:t>Sommaire &amp; thématiques abordées</a:t>
            </a:r>
          </a:p>
          <a:p>
            <a:pPr marL="0" indent="0">
              <a:buNone/>
            </a:pPr>
            <a:endParaRPr lang="fr-FR" dirty="0"/>
          </a:p>
          <a:p>
            <a:r>
              <a:rPr lang="fr-FR" b="1" dirty="0"/>
              <a:t>XSS</a:t>
            </a:r>
            <a:r>
              <a:rPr lang="fr-FR" dirty="0"/>
              <a:t> : principe et protections</a:t>
            </a:r>
          </a:p>
          <a:p>
            <a:endParaRPr lang="fr-FR" dirty="0"/>
          </a:p>
          <a:p>
            <a:r>
              <a:rPr lang="fr-FR" b="1" dirty="0"/>
              <a:t>CSRF</a:t>
            </a:r>
            <a:r>
              <a:rPr lang="fr-FR" dirty="0"/>
              <a:t> : principe et contre-mesures</a:t>
            </a:r>
          </a:p>
          <a:p>
            <a:endParaRPr lang="fr-FR" dirty="0"/>
          </a:p>
          <a:p>
            <a:r>
              <a:rPr lang="fr-FR" b="1" dirty="0"/>
              <a:t>Formulaires</a:t>
            </a:r>
            <a:r>
              <a:rPr lang="fr-FR" dirty="0"/>
              <a:t> : failles de validation et </a:t>
            </a:r>
            <a:r>
              <a:rPr lang="fr-FR" dirty="0" err="1"/>
              <a:t>upload</a:t>
            </a:r>
            <a:endParaRPr lang="fr-FR" dirty="0"/>
          </a:p>
          <a:p>
            <a:endParaRPr lang="fr-FR" dirty="0"/>
          </a:p>
          <a:p>
            <a:r>
              <a:rPr lang="fr-FR" b="1" dirty="0"/>
              <a:t>Cookies et sessions </a:t>
            </a:r>
            <a:r>
              <a:rPr lang="fr-FR" dirty="0"/>
              <a:t>: risques et bonnes pratiques Symfony</a:t>
            </a:r>
          </a:p>
        </p:txBody>
      </p:sp>
    </p:spTree>
    <p:extLst>
      <p:ext uri="{BB962C8B-B14F-4D97-AF65-F5344CB8AC3E}">
        <p14:creationId xmlns:p14="http://schemas.microsoft.com/office/powerpoint/2010/main" val="1214275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CE6B5A-D9B5-9BDA-2163-AF0E3A16604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C2A5C5E-8B4D-1A3B-73B9-93594B1818C3}"/>
              </a:ext>
            </a:extLst>
          </p:cNvPr>
          <p:cNvSpPr>
            <a:spLocks noGrp="1"/>
          </p:cNvSpPr>
          <p:nvPr>
            <p:ph type="title"/>
          </p:nvPr>
        </p:nvSpPr>
        <p:spPr>
          <a:xfrm>
            <a:off x="1333502" y="609600"/>
            <a:ext cx="8596668" cy="1320800"/>
          </a:xfrm>
        </p:spPr>
        <p:txBody>
          <a:bodyPr>
            <a:normAutofit/>
          </a:bodyPr>
          <a:lstStyle/>
          <a:p>
            <a:r>
              <a:rPr lang="fr-FR" dirty="0"/>
              <a:t>XSS, C'EST QUOI</a:t>
            </a: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Espace réservé du contenu 2">
            <a:extLst>
              <a:ext uri="{FF2B5EF4-FFF2-40B4-BE49-F238E27FC236}">
                <a16:creationId xmlns:a16="http://schemas.microsoft.com/office/drawing/2014/main" id="{2BE8A416-E0A2-1D47-BAAB-5FFB2613D32F}"/>
              </a:ext>
            </a:extLst>
          </p:cNvPr>
          <p:cNvSpPr>
            <a:spLocks noGrp="1"/>
          </p:cNvSpPr>
          <p:nvPr>
            <p:ph idx="1"/>
          </p:nvPr>
        </p:nvSpPr>
        <p:spPr>
          <a:xfrm>
            <a:off x="1333502" y="2160589"/>
            <a:ext cx="8596668" cy="3880773"/>
          </a:xfrm>
        </p:spPr>
        <p:txBody>
          <a:bodyPr>
            <a:normAutofit/>
          </a:bodyPr>
          <a:lstStyle/>
          <a:p>
            <a:r>
              <a:rPr lang="fr-FR" b="1" dirty="0"/>
              <a:t>Cross-Site Scripting</a:t>
            </a:r>
          </a:p>
          <a:p>
            <a:endParaRPr lang="fr-FR" dirty="0"/>
          </a:p>
          <a:p>
            <a:pPr lvl="1"/>
            <a:r>
              <a:rPr lang="fr-FR" dirty="0"/>
              <a:t>Injection de code malveillant (souvent JavaScript) dans une page web</a:t>
            </a:r>
          </a:p>
          <a:p>
            <a:endParaRPr lang="fr-FR" dirty="0"/>
          </a:p>
          <a:p>
            <a:pPr lvl="1"/>
            <a:r>
              <a:rPr lang="fr-FR" dirty="0"/>
              <a:t>Exécuté dans le navigateur d'une victime, pas sur le serveur</a:t>
            </a:r>
          </a:p>
          <a:p>
            <a:endParaRPr lang="fr-FR" dirty="0"/>
          </a:p>
          <a:p>
            <a:r>
              <a:rPr lang="fr-FR" dirty="0"/>
              <a:t>3 types : </a:t>
            </a:r>
            <a:r>
              <a:rPr lang="fr-FR" b="1" dirty="0"/>
              <a:t>Stocké</a:t>
            </a:r>
            <a:r>
              <a:rPr lang="fr-FR" dirty="0"/>
              <a:t>, </a:t>
            </a:r>
            <a:r>
              <a:rPr lang="fr-FR" b="1" dirty="0"/>
              <a:t>Réfléchi</a:t>
            </a:r>
            <a:r>
              <a:rPr lang="fr-FR" dirty="0"/>
              <a:t>, </a:t>
            </a:r>
            <a:r>
              <a:rPr lang="fr-FR" b="1" dirty="0"/>
              <a:t>DOM-</a:t>
            </a:r>
            <a:r>
              <a:rPr lang="fr-FR" b="1" dirty="0" err="1"/>
              <a:t>based</a:t>
            </a:r>
            <a:endParaRPr lang="fr-FR" b="1" dirty="0"/>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13069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6BCEDD-3D5E-B9A6-15E0-9F1938A81C3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243E51-2642-B31C-3E9B-CD1DEAA70FC1}"/>
              </a:ext>
            </a:extLst>
          </p:cNvPr>
          <p:cNvSpPr>
            <a:spLocks noGrp="1"/>
          </p:cNvSpPr>
          <p:nvPr>
            <p:ph type="title"/>
          </p:nvPr>
        </p:nvSpPr>
        <p:spPr>
          <a:xfrm>
            <a:off x="677334" y="609600"/>
            <a:ext cx="8596668" cy="1320800"/>
          </a:xfrm>
        </p:spPr>
        <p:txBody>
          <a:bodyPr>
            <a:normAutofit/>
          </a:bodyPr>
          <a:lstStyle/>
          <a:p>
            <a:r>
              <a:rPr lang="fr-FR" dirty="0"/>
              <a:t>SYMFONY PROTÈGE DÉJÀ, EN PARTIE !</a:t>
            </a:r>
          </a:p>
        </p:txBody>
      </p:sp>
      <p:graphicFrame>
        <p:nvGraphicFramePr>
          <p:cNvPr id="5" name="Espace réservé du contenu 2">
            <a:extLst>
              <a:ext uri="{FF2B5EF4-FFF2-40B4-BE49-F238E27FC236}">
                <a16:creationId xmlns:a16="http://schemas.microsoft.com/office/drawing/2014/main" id="{A4B8D176-F319-5838-4BED-98E8C3A404D0}"/>
              </a:ext>
            </a:extLst>
          </p:cNvPr>
          <p:cNvGraphicFramePr>
            <a:graphicFrameLocks noGrp="1"/>
          </p:cNvGraphicFramePr>
          <p:nvPr>
            <p:ph idx="1"/>
            <p:extLst>
              <p:ext uri="{D42A27DB-BD31-4B8C-83A1-F6EECF244321}">
                <p14:modId xmlns:p14="http://schemas.microsoft.com/office/powerpoint/2010/main" val="3423729345"/>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30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F6B2C0-28AE-0C21-3BDE-17C986D6AC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0585B61-C8CF-5841-5D5D-6ECB4BBBF21B}"/>
              </a:ext>
            </a:extLst>
          </p:cNvPr>
          <p:cNvSpPr>
            <a:spLocks noGrp="1"/>
          </p:cNvSpPr>
          <p:nvPr>
            <p:ph type="title"/>
          </p:nvPr>
        </p:nvSpPr>
        <p:spPr>
          <a:xfrm>
            <a:off x="2849562" y="609600"/>
            <a:ext cx="6424440" cy="1320800"/>
          </a:xfrm>
        </p:spPr>
        <p:txBody>
          <a:bodyPr>
            <a:normAutofit/>
          </a:bodyPr>
          <a:lstStyle/>
          <a:p>
            <a:r>
              <a:rPr lang="fr-FR" dirty="0"/>
              <a:t>LES ZONES À RISQUE MALGRÉ TWIG</a:t>
            </a:r>
          </a:p>
        </p:txBody>
      </p:sp>
      <p:pic>
        <p:nvPicPr>
          <p:cNvPr id="5" name="Picture 4" descr="Script informatique sur un écran">
            <a:extLst>
              <a:ext uri="{FF2B5EF4-FFF2-40B4-BE49-F238E27FC236}">
                <a16:creationId xmlns:a16="http://schemas.microsoft.com/office/drawing/2014/main" id="{41B94D8C-BCEC-0BA9-D15D-6D5CCFA00428}"/>
              </a:ext>
            </a:extLst>
          </p:cNvPr>
          <p:cNvPicPr>
            <a:picLocks noChangeAspect="1"/>
          </p:cNvPicPr>
          <p:nvPr/>
        </p:nvPicPr>
        <p:blipFill>
          <a:blip r:embed="rId3"/>
          <a:srcRect l="20197" t="141" r="53268"/>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24" name="Isosceles Triangle 23">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Espace réservé du contenu 2">
            <a:extLst>
              <a:ext uri="{FF2B5EF4-FFF2-40B4-BE49-F238E27FC236}">
                <a16:creationId xmlns:a16="http://schemas.microsoft.com/office/drawing/2014/main" id="{50A74015-02BD-80B4-0A7D-BF3B9026A197}"/>
              </a:ext>
            </a:extLst>
          </p:cNvPr>
          <p:cNvSpPr>
            <a:spLocks noGrp="1"/>
          </p:cNvSpPr>
          <p:nvPr>
            <p:ph idx="1"/>
          </p:nvPr>
        </p:nvSpPr>
        <p:spPr>
          <a:xfrm>
            <a:off x="2849562" y="2160589"/>
            <a:ext cx="6729336" cy="3880773"/>
          </a:xfrm>
        </p:spPr>
        <p:txBody>
          <a:bodyPr>
            <a:normAutofit/>
          </a:bodyPr>
          <a:lstStyle/>
          <a:p>
            <a:r>
              <a:rPr lang="fr-FR" dirty="0"/>
              <a:t>Contenu </a:t>
            </a:r>
            <a:r>
              <a:rPr lang="fr-FR" b="1" dirty="0"/>
              <a:t>WYSIWYG</a:t>
            </a:r>
            <a:r>
              <a:rPr lang="fr-FR" dirty="0"/>
              <a:t> / éditeur riche </a:t>
            </a:r>
            <a:r>
              <a:rPr lang="fr-FR" b="1" dirty="0"/>
              <a:t>(</a:t>
            </a:r>
            <a:r>
              <a:rPr lang="fr-FR" b="1" dirty="0" err="1"/>
              <a:t>article.content|raw</a:t>
            </a:r>
            <a:r>
              <a:rPr lang="fr-FR" b="1" dirty="0"/>
              <a:t>)</a:t>
            </a:r>
          </a:p>
          <a:p>
            <a:endParaRPr lang="fr-FR" dirty="0"/>
          </a:p>
          <a:p>
            <a:r>
              <a:rPr lang="fr-FR" b="1" dirty="0"/>
              <a:t>JavaScript</a:t>
            </a:r>
            <a:r>
              <a:rPr lang="fr-FR" dirty="0"/>
              <a:t> </a:t>
            </a:r>
            <a:r>
              <a:rPr lang="fr-FR" dirty="0" err="1"/>
              <a:t>inline</a:t>
            </a:r>
            <a:r>
              <a:rPr lang="fr-FR" dirty="0"/>
              <a:t> avec variables non échappées pour ce contexte</a:t>
            </a:r>
          </a:p>
          <a:p>
            <a:endParaRPr lang="fr-FR" dirty="0"/>
          </a:p>
          <a:p>
            <a:r>
              <a:rPr lang="fr-FR" b="1" dirty="0"/>
              <a:t>Attributs HTML dynamiques</a:t>
            </a:r>
          </a:p>
        </p:txBody>
      </p:sp>
    </p:spTree>
    <p:extLst>
      <p:ext uri="{BB962C8B-B14F-4D97-AF65-F5344CB8AC3E}">
        <p14:creationId xmlns:p14="http://schemas.microsoft.com/office/powerpoint/2010/main" val="4005000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BBBC2C-54CE-8E0D-E7DD-D32C2FBAE3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DE42491-CE3E-FDB5-914B-0F825398BE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BFE7026-ACFC-DA62-BC0C-33C86A678606}"/>
              </a:ext>
            </a:extLst>
          </p:cNvPr>
          <p:cNvSpPr>
            <a:spLocks noGrp="1"/>
          </p:cNvSpPr>
          <p:nvPr>
            <p:ph type="title"/>
          </p:nvPr>
        </p:nvSpPr>
        <p:spPr>
          <a:xfrm>
            <a:off x="1333502" y="609600"/>
            <a:ext cx="8596668" cy="1320800"/>
          </a:xfrm>
        </p:spPr>
        <p:txBody>
          <a:bodyPr>
            <a:normAutofit/>
          </a:bodyPr>
          <a:lstStyle/>
          <a:p>
            <a:r>
              <a:rPr lang="fr-FR" dirty="0"/>
              <a:t>LE XSS STOCKÉ</a:t>
            </a:r>
          </a:p>
        </p:txBody>
      </p:sp>
      <p:sp>
        <p:nvSpPr>
          <p:cNvPr id="10" name="Isosceles Triangle 9">
            <a:extLst>
              <a:ext uri="{FF2B5EF4-FFF2-40B4-BE49-F238E27FC236}">
                <a16:creationId xmlns:a16="http://schemas.microsoft.com/office/drawing/2014/main" id="{49FE789C-84B1-6604-7AAB-4A7A59AEF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AD3C8051-F7D7-D032-0875-A6E3028006E8}"/>
              </a:ext>
            </a:extLst>
          </p:cNvPr>
          <p:cNvSpPr>
            <a:spLocks noGrp="1"/>
          </p:cNvSpPr>
          <p:nvPr>
            <p:ph idx="1"/>
          </p:nvPr>
        </p:nvSpPr>
        <p:spPr>
          <a:xfrm>
            <a:off x="1333502" y="2160589"/>
            <a:ext cx="8596668" cy="3880773"/>
          </a:xfrm>
        </p:spPr>
        <p:txBody>
          <a:bodyPr>
            <a:normAutofit lnSpcReduction="10000"/>
          </a:bodyPr>
          <a:lstStyle/>
          <a:p>
            <a:r>
              <a:rPr lang="fr-FR" dirty="0"/>
              <a:t>Le </a:t>
            </a:r>
            <a:r>
              <a:rPr lang="fr-FR" dirty="0" err="1"/>
              <a:t>payload</a:t>
            </a:r>
            <a:r>
              <a:rPr lang="fr-FR" dirty="0"/>
              <a:t> malveillant n'est pas envoyé directement à la victime, il est stocké en base</a:t>
            </a:r>
          </a:p>
          <a:p>
            <a:endParaRPr lang="fr-FR" dirty="0"/>
          </a:p>
          <a:p>
            <a:r>
              <a:rPr lang="fr-FR" dirty="0"/>
              <a:t>Toute personne qui consulte la donnée exécute le script, sans avoir rien cliqué</a:t>
            </a:r>
          </a:p>
          <a:p>
            <a:pPr lvl="1"/>
            <a:r>
              <a:rPr lang="fr-FR" b="1" dirty="0"/>
              <a:t>Visiter la page suffit</a:t>
            </a:r>
            <a:r>
              <a:rPr lang="fr-FR" dirty="0"/>
              <a:t>,</a:t>
            </a:r>
            <a:r>
              <a:rPr lang="fr-FR" b="1" dirty="0"/>
              <a:t> </a:t>
            </a:r>
            <a:r>
              <a:rPr lang="fr-FR" dirty="0"/>
              <a:t>son effet se propage automatiquement à toute visite sur la page infectée</a:t>
            </a:r>
          </a:p>
          <a:p>
            <a:pPr lvl="1"/>
            <a:r>
              <a:rPr lang="fr-FR" dirty="0"/>
              <a:t>Chaque visiteur exécute le script, y compris des administrateurs</a:t>
            </a:r>
          </a:p>
          <a:p>
            <a:endParaRPr lang="fr-FR" dirty="0"/>
          </a:p>
          <a:p>
            <a:r>
              <a:rPr lang="fr-FR" dirty="0"/>
              <a:t>Le vecteur classique : commentaire, avis client, profil utilisateur, message de contact</a:t>
            </a:r>
          </a:p>
          <a:p>
            <a:pPr lvl="1"/>
            <a:r>
              <a:rPr lang="fr-FR" dirty="0"/>
              <a:t>traiter toute donnée venant de la base comme non fiable à l'affichage</a:t>
            </a:r>
          </a:p>
          <a:p>
            <a:endParaRPr lang="fr-FR" dirty="0"/>
          </a:p>
        </p:txBody>
      </p:sp>
      <p:sp>
        <p:nvSpPr>
          <p:cNvPr id="12" name="Isosceles Triangle 11">
            <a:extLst>
              <a:ext uri="{FF2B5EF4-FFF2-40B4-BE49-F238E27FC236}">
                <a16:creationId xmlns:a16="http://schemas.microsoft.com/office/drawing/2014/main" id="{1B579C1C-CF58-9E97-1AE8-99E6F9DCE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95728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461A67-3DDB-B84E-B093-CDD7B32A0353}"/>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68F380F-E7E9-F777-1AD6-86E7D7582A71}"/>
              </a:ext>
            </a:extLst>
          </p:cNvPr>
          <p:cNvSpPr>
            <a:spLocks noGrp="1"/>
          </p:cNvSpPr>
          <p:nvPr>
            <p:ph type="title"/>
          </p:nvPr>
        </p:nvSpPr>
        <p:spPr>
          <a:xfrm>
            <a:off x="1333502" y="609600"/>
            <a:ext cx="8596668" cy="1320800"/>
          </a:xfrm>
        </p:spPr>
        <p:txBody>
          <a:bodyPr>
            <a:normAutofit/>
          </a:bodyPr>
          <a:lstStyle/>
          <a:p>
            <a:r>
              <a:rPr lang="fr-FR" dirty="0"/>
              <a:t>CONTENT SECURITY POLICY (CSP)</a:t>
            </a:r>
          </a:p>
        </p:txBody>
      </p:sp>
      <p:sp>
        <p:nvSpPr>
          <p:cNvPr id="21"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Espace réservé du contenu 2">
            <a:extLst>
              <a:ext uri="{FF2B5EF4-FFF2-40B4-BE49-F238E27FC236}">
                <a16:creationId xmlns:a16="http://schemas.microsoft.com/office/drawing/2014/main" id="{2FB6B833-E7D6-CB6F-4561-3AAB166B10C8}"/>
              </a:ext>
            </a:extLst>
          </p:cNvPr>
          <p:cNvSpPr>
            <a:spLocks noGrp="1"/>
          </p:cNvSpPr>
          <p:nvPr>
            <p:ph idx="1"/>
          </p:nvPr>
        </p:nvSpPr>
        <p:spPr>
          <a:xfrm>
            <a:off x="1333502" y="2160589"/>
            <a:ext cx="8596668" cy="3880773"/>
          </a:xfrm>
        </p:spPr>
        <p:txBody>
          <a:bodyPr>
            <a:normAutofit/>
          </a:bodyPr>
          <a:lstStyle/>
          <a:p>
            <a:r>
              <a:rPr lang="fr-FR" dirty="0"/>
              <a:t>Une couche de défense supplémentaire, indépendante du code</a:t>
            </a:r>
          </a:p>
          <a:p>
            <a:endParaRPr lang="fr-FR" dirty="0"/>
          </a:p>
          <a:p>
            <a:r>
              <a:rPr lang="fr-FR" dirty="0"/>
              <a:t>Le navigateur bloque les scripts non autorisés, même si un XSS a été injecté</a:t>
            </a:r>
          </a:p>
          <a:p>
            <a:endParaRPr lang="fr-FR" dirty="0"/>
          </a:p>
          <a:p>
            <a:r>
              <a:rPr lang="fr-FR" dirty="0"/>
              <a:t>Configurable dans Symfony !</a:t>
            </a:r>
            <a:endParaRPr lang="fr-FR" b="1" dirty="0"/>
          </a:p>
        </p:txBody>
      </p:sp>
      <p:sp>
        <p:nvSpPr>
          <p:cNvPr id="2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115296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7E81DB-D44B-71FC-4B2E-EEC89531683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6D9D698-AC79-F79E-FF7B-BC00F8387C42}"/>
              </a:ext>
            </a:extLst>
          </p:cNvPr>
          <p:cNvSpPr>
            <a:spLocks noGrp="1"/>
          </p:cNvSpPr>
          <p:nvPr>
            <p:ph type="title"/>
          </p:nvPr>
        </p:nvSpPr>
        <p:spPr>
          <a:xfrm>
            <a:off x="1043950" y="1179151"/>
            <a:ext cx="3300646" cy="4463889"/>
          </a:xfrm>
        </p:spPr>
        <p:txBody>
          <a:bodyPr anchor="ctr">
            <a:normAutofit/>
          </a:bodyPr>
          <a:lstStyle/>
          <a:p>
            <a:r>
              <a:rPr lang="fr-FR" dirty="0"/>
              <a:t>CSRF, C'EST QUOI</a:t>
            </a:r>
          </a:p>
        </p:txBody>
      </p:sp>
      <p:sp>
        <p:nvSpPr>
          <p:cNvPr id="10" name="Isosceles Triangle 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12" name="Straight Connector 1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FD813C24-C321-49ED-255A-74B8C037C2F1}"/>
              </a:ext>
            </a:extLst>
          </p:cNvPr>
          <p:cNvSpPr>
            <a:spLocks noGrp="1"/>
          </p:cNvSpPr>
          <p:nvPr>
            <p:ph idx="1"/>
          </p:nvPr>
        </p:nvSpPr>
        <p:spPr>
          <a:xfrm>
            <a:off x="4978918" y="1109145"/>
            <a:ext cx="6341016" cy="4603900"/>
          </a:xfrm>
        </p:spPr>
        <p:txBody>
          <a:bodyPr anchor="ctr">
            <a:normAutofit/>
          </a:bodyPr>
          <a:lstStyle/>
          <a:p>
            <a:r>
              <a:rPr lang="fr-FR" b="1" u="sng" dirty="0"/>
              <a:t>C</a:t>
            </a:r>
            <a:r>
              <a:rPr lang="fr-FR" b="1" dirty="0"/>
              <a:t>ross-</a:t>
            </a:r>
            <a:r>
              <a:rPr lang="fr-FR" b="1" u="sng" dirty="0"/>
              <a:t>s</a:t>
            </a:r>
            <a:r>
              <a:rPr lang="fr-FR" b="1" dirty="0"/>
              <a:t>ite </a:t>
            </a:r>
            <a:r>
              <a:rPr lang="fr-FR" b="1" u="sng" dirty="0" err="1"/>
              <a:t>R</a:t>
            </a:r>
            <a:r>
              <a:rPr lang="fr-FR" b="1" dirty="0" err="1"/>
              <a:t>equest</a:t>
            </a:r>
            <a:r>
              <a:rPr lang="fr-FR" b="1" dirty="0"/>
              <a:t> </a:t>
            </a:r>
            <a:r>
              <a:rPr lang="fr-FR" b="1" u="sng" dirty="0" err="1"/>
              <a:t>F</a:t>
            </a:r>
            <a:r>
              <a:rPr lang="fr-FR" b="1" dirty="0" err="1"/>
              <a:t>orgery</a:t>
            </a:r>
            <a:endParaRPr lang="fr-FR" b="1" dirty="0"/>
          </a:p>
          <a:p>
            <a:endParaRPr lang="fr-FR" dirty="0"/>
          </a:p>
          <a:p>
            <a:r>
              <a:rPr lang="fr-FR" dirty="0"/>
              <a:t>L'attaquant fait exécuter une action à votre place, sans que vous vous en rendiez compte</a:t>
            </a:r>
          </a:p>
          <a:p>
            <a:endParaRPr lang="fr-FR" dirty="0"/>
          </a:p>
          <a:p>
            <a:r>
              <a:rPr lang="fr-FR" dirty="0"/>
              <a:t>Exploite le fait que le navigateur envoie automatiquement les cookies de session</a:t>
            </a:r>
          </a:p>
          <a:p>
            <a:endParaRPr lang="fr-FR" dirty="0"/>
          </a:p>
          <a:p>
            <a:r>
              <a:rPr lang="fr-FR" dirty="0"/>
              <a:t>Scénario type : virement bancaire, changement de mot de passe, suppression de compte</a:t>
            </a:r>
          </a:p>
        </p:txBody>
      </p:sp>
      <p:sp>
        <p:nvSpPr>
          <p:cNvPr id="14" name="Isosceles Triangle 1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92525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52DF83-D5C2-A801-AA47-6910970B96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FFFC407-F10C-DDCA-13C7-373A23AC7165}"/>
              </a:ext>
            </a:extLst>
          </p:cNvPr>
          <p:cNvSpPr>
            <a:spLocks noGrp="1"/>
          </p:cNvSpPr>
          <p:nvPr>
            <p:ph type="title"/>
          </p:nvPr>
        </p:nvSpPr>
        <p:spPr>
          <a:xfrm>
            <a:off x="1333502" y="609600"/>
            <a:ext cx="8596668" cy="1320800"/>
          </a:xfrm>
        </p:spPr>
        <p:txBody>
          <a:bodyPr>
            <a:normAutofit/>
          </a:bodyPr>
          <a:lstStyle/>
          <a:p>
            <a:r>
              <a:rPr lang="fr-FR" dirty="0"/>
              <a:t>ERREURS SUR LE GET</a:t>
            </a:r>
          </a:p>
        </p:txBody>
      </p:sp>
      <p:sp>
        <p:nvSpPr>
          <p:cNvPr id="10" name="Isosceles Triangle 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2" name="Isosceles Triangle 1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14" name="Straight Connector 1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Espace réservé du contenu 2">
            <a:extLst>
              <a:ext uri="{FF2B5EF4-FFF2-40B4-BE49-F238E27FC236}">
                <a16:creationId xmlns:a16="http://schemas.microsoft.com/office/drawing/2014/main" id="{D7E1A831-4127-9EA0-6747-37A14FC13416}"/>
              </a:ext>
            </a:extLst>
          </p:cNvPr>
          <p:cNvSpPr>
            <a:spLocks noGrp="1"/>
          </p:cNvSpPr>
          <p:nvPr>
            <p:ph idx="1"/>
          </p:nvPr>
        </p:nvSpPr>
        <p:spPr>
          <a:xfrm>
            <a:off x="1333502" y="2160590"/>
            <a:ext cx="8470898" cy="3429260"/>
          </a:xfrm>
        </p:spPr>
        <p:txBody>
          <a:bodyPr>
            <a:normAutofit/>
          </a:bodyPr>
          <a:lstStyle/>
          <a:p>
            <a:r>
              <a:rPr lang="fr-FR" dirty="0"/>
              <a:t>Erreur classique : une action sensible déclenchée par une </a:t>
            </a:r>
            <a:r>
              <a:rPr lang="fr-FR" b="1" dirty="0"/>
              <a:t>requête</a:t>
            </a:r>
            <a:r>
              <a:rPr lang="fr-FR" dirty="0"/>
              <a:t> </a:t>
            </a:r>
            <a:r>
              <a:rPr lang="fr-FR" b="1" dirty="0"/>
              <a:t>GET</a:t>
            </a:r>
          </a:p>
          <a:p>
            <a:endParaRPr lang="fr-FR" dirty="0"/>
          </a:p>
          <a:p>
            <a:r>
              <a:rPr lang="fr-FR" dirty="0"/>
              <a:t>Un simple lien ou une image peut suffire à déclencher l'attaque !</a:t>
            </a:r>
          </a:p>
          <a:p>
            <a:endParaRPr lang="fr-FR" dirty="0"/>
          </a:p>
          <a:p>
            <a:r>
              <a:rPr lang="fr-FR" dirty="0"/>
              <a:t>Règle : toute action qui modifie une donnée doit être en </a:t>
            </a:r>
            <a:r>
              <a:rPr lang="fr-FR" b="1" dirty="0"/>
              <a:t>POST/PUT/DELETE</a:t>
            </a:r>
            <a:r>
              <a:rPr lang="fr-FR" dirty="0"/>
              <a:t>, jamais en GET</a:t>
            </a:r>
          </a:p>
        </p:txBody>
      </p:sp>
      <p:sp>
        <p:nvSpPr>
          <p:cNvPr id="1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232792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13ECF-152A-42CA-AC06-0CCD93E1DA6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488D69-839F-3818-CA81-AF8E0A748156}"/>
              </a:ext>
            </a:extLst>
          </p:cNvPr>
          <p:cNvSpPr>
            <a:spLocks noGrp="1"/>
          </p:cNvSpPr>
          <p:nvPr>
            <p:ph type="title"/>
          </p:nvPr>
        </p:nvSpPr>
        <p:spPr>
          <a:xfrm>
            <a:off x="1333502" y="609600"/>
            <a:ext cx="8596668" cy="1320800"/>
          </a:xfrm>
        </p:spPr>
        <p:txBody>
          <a:bodyPr>
            <a:normAutofit/>
          </a:bodyPr>
          <a:lstStyle/>
          <a:p>
            <a:r>
              <a:rPr lang="fr-FR" dirty="0"/>
              <a:t>LE TOKEN CSRF, SON RÔLE</a:t>
            </a:r>
          </a:p>
        </p:txBody>
      </p:sp>
      <p:graphicFrame>
        <p:nvGraphicFramePr>
          <p:cNvPr id="5" name="Espace réservé du contenu 2">
            <a:extLst>
              <a:ext uri="{FF2B5EF4-FFF2-40B4-BE49-F238E27FC236}">
                <a16:creationId xmlns:a16="http://schemas.microsoft.com/office/drawing/2014/main" id="{1704FC5E-D291-F541-8AFB-329EBDB74AC2}"/>
              </a:ext>
            </a:extLst>
          </p:cNvPr>
          <p:cNvGraphicFramePr>
            <a:graphicFrameLocks noGrp="1"/>
          </p:cNvGraphicFramePr>
          <p:nvPr>
            <p:ph idx="1"/>
            <p:extLst>
              <p:ext uri="{D42A27DB-BD31-4B8C-83A1-F6EECF244321}">
                <p14:modId xmlns:p14="http://schemas.microsoft.com/office/powerpoint/2010/main" val="972866629"/>
              </p:ext>
            </p:extLst>
          </p:nvPr>
        </p:nvGraphicFramePr>
        <p:xfrm>
          <a:off x="228599" y="1930400"/>
          <a:ext cx="10372725"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ZoneTexte 5">
            <a:extLst>
              <a:ext uri="{FF2B5EF4-FFF2-40B4-BE49-F238E27FC236}">
                <a16:creationId xmlns:a16="http://schemas.microsoft.com/office/drawing/2014/main" id="{61368F07-6FB4-4982-F3CC-E4C677B907D6}"/>
              </a:ext>
            </a:extLst>
          </p:cNvPr>
          <p:cNvSpPr txBox="1"/>
          <p:nvPr/>
        </p:nvSpPr>
        <p:spPr>
          <a:xfrm>
            <a:off x="997002" y="6166188"/>
            <a:ext cx="6710083" cy="307777"/>
          </a:xfrm>
          <a:prstGeom prst="rect">
            <a:avLst/>
          </a:prstGeom>
          <a:noFill/>
        </p:spPr>
        <p:txBody>
          <a:bodyPr wrap="square">
            <a:spAutoFit/>
          </a:bodyPr>
          <a:lstStyle/>
          <a:p>
            <a:r>
              <a:rPr lang="fr-FR" sz="1400" b="1" i="1" dirty="0"/>
              <a:t>Source : </a:t>
            </a:r>
            <a:r>
              <a:rPr lang="fr-FR" sz="1400" i="1" dirty="0">
                <a:hlinkClick r:id="rId8"/>
              </a:rPr>
              <a:t>https://symfony.com/doc/current/security/csrf.html</a:t>
            </a:r>
            <a:endParaRPr lang="fr-FR" sz="1400" i="1" dirty="0"/>
          </a:p>
        </p:txBody>
      </p:sp>
    </p:spTree>
    <p:extLst>
      <p:ext uri="{BB962C8B-B14F-4D97-AF65-F5344CB8AC3E}">
        <p14:creationId xmlns:p14="http://schemas.microsoft.com/office/powerpoint/2010/main" val="2256799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F9039B-A08E-341C-1AF1-C88086F3EDC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9A6974A-D80D-BF33-A2A9-D263E01C19CF}"/>
              </a:ext>
            </a:extLst>
          </p:cNvPr>
          <p:cNvSpPr>
            <a:spLocks noGrp="1"/>
          </p:cNvSpPr>
          <p:nvPr>
            <p:ph type="title"/>
          </p:nvPr>
        </p:nvSpPr>
        <p:spPr>
          <a:xfrm>
            <a:off x="1286933" y="609600"/>
            <a:ext cx="10197494" cy="1099457"/>
          </a:xfrm>
        </p:spPr>
        <p:txBody>
          <a:bodyPr>
            <a:normAutofit/>
          </a:bodyPr>
          <a:lstStyle/>
          <a:p>
            <a:r>
              <a:rPr lang="fr-FR"/>
              <a:t>SOMMAIRE : COOKIES ET SESSIONS</a:t>
            </a:r>
          </a:p>
        </p:txBody>
      </p:sp>
      <p:sp>
        <p:nvSpPr>
          <p:cNvPr id="39" name="Isosceles Triangle 38">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1" name="Isosceles Triangle 40">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aphicFrame>
        <p:nvGraphicFramePr>
          <p:cNvPr id="32" name="Espace réservé du contenu 2">
            <a:extLst>
              <a:ext uri="{FF2B5EF4-FFF2-40B4-BE49-F238E27FC236}">
                <a16:creationId xmlns:a16="http://schemas.microsoft.com/office/drawing/2014/main" id="{F19D2396-01EB-720D-B35F-CFA7C8D3C206}"/>
              </a:ext>
            </a:extLst>
          </p:cNvPr>
          <p:cNvGraphicFramePr>
            <a:graphicFrameLocks noGrp="1"/>
          </p:cNvGraphicFramePr>
          <p:nvPr>
            <p:ph idx="1"/>
            <p:extLst>
              <p:ext uri="{D42A27DB-BD31-4B8C-83A1-F6EECF244321}">
                <p14:modId xmlns:p14="http://schemas.microsoft.com/office/powerpoint/2010/main" val="1802388319"/>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6738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A5401-4107-DBFA-82B2-F0CA13D23CF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9923078-3B54-1E87-DAEC-7697A881CC57}"/>
              </a:ext>
            </a:extLst>
          </p:cNvPr>
          <p:cNvSpPr>
            <a:spLocks noGrp="1"/>
          </p:cNvSpPr>
          <p:nvPr>
            <p:ph type="title"/>
          </p:nvPr>
        </p:nvSpPr>
        <p:spPr>
          <a:xfrm>
            <a:off x="1333502" y="609600"/>
            <a:ext cx="8596668" cy="1320800"/>
          </a:xfrm>
        </p:spPr>
        <p:txBody>
          <a:bodyPr>
            <a:normAutofit/>
          </a:bodyPr>
          <a:lstStyle/>
          <a:p>
            <a:r>
              <a:rPr lang="fr-FR" dirty="0"/>
              <a:t>PROTÉGER LES COOKIES</a:t>
            </a:r>
          </a:p>
        </p:txBody>
      </p:sp>
      <p:sp>
        <p:nvSpPr>
          <p:cNvPr id="9" name="Espace réservé du contenu 2">
            <a:extLst>
              <a:ext uri="{FF2B5EF4-FFF2-40B4-BE49-F238E27FC236}">
                <a16:creationId xmlns:a16="http://schemas.microsoft.com/office/drawing/2014/main" id="{0651C37B-D1B8-4948-F6F4-A8A44BFEA3AB}"/>
              </a:ext>
            </a:extLst>
          </p:cNvPr>
          <p:cNvSpPr>
            <a:spLocks noGrp="1"/>
          </p:cNvSpPr>
          <p:nvPr>
            <p:ph idx="1"/>
          </p:nvPr>
        </p:nvSpPr>
        <p:spPr>
          <a:xfrm>
            <a:off x="1333502" y="2160589"/>
            <a:ext cx="8596668" cy="3880773"/>
          </a:xfrm>
        </p:spPr>
        <p:txBody>
          <a:bodyPr>
            <a:normAutofit/>
          </a:bodyPr>
          <a:lstStyle/>
          <a:p>
            <a:r>
              <a:rPr lang="fr-FR" dirty="0"/>
              <a:t>Sans attribut, un cookie est lisible en JavaScript et transmissible en clair</a:t>
            </a:r>
          </a:p>
          <a:p>
            <a:pPr marL="0" indent="0">
              <a:buNone/>
            </a:pPr>
            <a:endParaRPr lang="fr-FR" dirty="0"/>
          </a:p>
          <a:p>
            <a:r>
              <a:rPr lang="fr-FR" dirty="0"/>
              <a:t>3 attributs à connaître : </a:t>
            </a:r>
          </a:p>
          <a:p>
            <a:pPr lvl="1"/>
            <a:r>
              <a:rPr lang="fr-FR" b="1" dirty="0" err="1"/>
              <a:t>HttpOnly</a:t>
            </a:r>
            <a:r>
              <a:rPr lang="fr-FR" b="1" dirty="0"/>
              <a:t> : </a:t>
            </a:r>
            <a:r>
              <a:rPr lang="fr-FR" dirty="0"/>
              <a:t>empêche </a:t>
            </a:r>
            <a:r>
              <a:rPr lang="fr-FR" b="1" dirty="0" err="1"/>
              <a:t>document.cookie</a:t>
            </a:r>
            <a:r>
              <a:rPr lang="fr-FR" dirty="0"/>
              <a:t> de lire le cookie en JavaScript</a:t>
            </a:r>
            <a:endParaRPr lang="fr-FR" b="1" dirty="0"/>
          </a:p>
          <a:p>
            <a:pPr lvl="1"/>
            <a:r>
              <a:rPr lang="fr-FR" b="1" dirty="0"/>
              <a:t>Secure : </a:t>
            </a:r>
            <a:r>
              <a:rPr lang="fr-FR" dirty="0"/>
              <a:t>interdit l'envoi du cookie sur une connexion HTTP non chiffrée</a:t>
            </a:r>
            <a:endParaRPr lang="fr-FR" b="1" dirty="0"/>
          </a:p>
          <a:p>
            <a:pPr lvl="1"/>
            <a:r>
              <a:rPr lang="fr-FR" b="1" dirty="0" err="1"/>
              <a:t>SameSite</a:t>
            </a:r>
            <a:r>
              <a:rPr lang="fr-FR" b="1" dirty="0"/>
              <a:t> : </a:t>
            </a:r>
            <a:r>
              <a:rPr lang="fr-FR" dirty="0"/>
              <a:t>contrôle l'envoi du cookie dans les requêtes cross-site</a:t>
            </a:r>
            <a:endParaRPr lang="fr-FR" b="1" dirty="0"/>
          </a:p>
          <a:p>
            <a:pPr marL="0" indent="0">
              <a:buNone/>
            </a:pPr>
            <a:endParaRPr lang="fr-FR" dirty="0"/>
          </a:p>
          <a:p>
            <a:r>
              <a:rPr lang="fr-FR" dirty="0"/>
              <a:t>Chacun bloque un vecteur d'attaque différent</a:t>
            </a:r>
          </a:p>
        </p:txBody>
      </p:sp>
    </p:spTree>
    <p:extLst>
      <p:ext uri="{BB962C8B-B14F-4D97-AF65-F5344CB8AC3E}">
        <p14:creationId xmlns:p14="http://schemas.microsoft.com/office/powerpoint/2010/main" val="1310342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634F79-B3C1-FBC7-7D22-44B049F6CC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869C25A-289F-BD48-40F3-22CF7B2BE632}"/>
              </a:ext>
            </a:extLst>
          </p:cNvPr>
          <p:cNvSpPr>
            <a:spLocks noGrp="1"/>
          </p:cNvSpPr>
          <p:nvPr>
            <p:ph type="title"/>
          </p:nvPr>
        </p:nvSpPr>
        <p:spPr>
          <a:xfrm>
            <a:off x="1333502" y="609600"/>
            <a:ext cx="8596668" cy="1320800"/>
          </a:xfrm>
        </p:spPr>
        <p:txBody>
          <a:bodyPr>
            <a:normAutofit/>
          </a:bodyPr>
          <a:lstStyle/>
          <a:p>
            <a:r>
              <a:rPr lang="fr-FR" dirty="0"/>
              <a:t>HEADER HTTP : « Set-Cookie »</a:t>
            </a: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A58F33EF-FF1E-44F7-AEF5-F403776BD82B}"/>
              </a:ext>
            </a:extLst>
          </p:cNvPr>
          <p:cNvSpPr>
            <a:spLocks noGrp="1"/>
          </p:cNvSpPr>
          <p:nvPr>
            <p:ph idx="1"/>
          </p:nvPr>
        </p:nvSpPr>
        <p:spPr>
          <a:xfrm>
            <a:off x="1333502" y="2160589"/>
            <a:ext cx="8596668" cy="3880773"/>
          </a:xfrm>
        </p:spPr>
        <p:txBody>
          <a:bodyPr>
            <a:normAutofit/>
          </a:bodyPr>
          <a:lstStyle/>
          <a:p>
            <a:r>
              <a:rPr lang="fr-FR" dirty="0"/>
              <a:t>Utilisation du « </a:t>
            </a:r>
            <a:r>
              <a:rPr lang="fr-FR" b="1" dirty="0"/>
              <a:t>Set-Cookie</a:t>
            </a:r>
            <a:r>
              <a:rPr lang="fr-FR" dirty="0"/>
              <a:t> »</a:t>
            </a:r>
          </a:p>
          <a:p>
            <a:pPr lvl="1"/>
            <a:r>
              <a:rPr lang="fr-FR" dirty="0"/>
              <a:t>En-tête de réponse HTTP envoyé par le serveur au navigateur</a:t>
            </a:r>
          </a:p>
          <a:p>
            <a:pPr lvl="1"/>
            <a:r>
              <a:rPr lang="fr-FR" dirty="0"/>
              <a:t>Information mémorisée par le navigateur, un ID de session, qui sera renvoyé à chaque requête afin de savoir qui est connecté</a:t>
            </a:r>
          </a:p>
          <a:p>
            <a:pPr lvl="1"/>
            <a:r>
              <a:rPr lang="fr-FR" dirty="0"/>
              <a:t>C’est ici que va circuler « </a:t>
            </a:r>
            <a:r>
              <a:rPr lang="fr-FR" b="1" dirty="0"/>
              <a:t>_</a:t>
            </a:r>
            <a:r>
              <a:rPr lang="fr-FR" b="1" dirty="0" err="1"/>
              <a:t>security_main</a:t>
            </a:r>
            <a:r>
              <a:rPr lang="fr-FR" b="1" dirty="0"/>
              <a:t> », </a:t>
            </a:r>
            <a:r>
              <a:rPr lang="fr-FR" dirty="0"/>
              <a:t>l’ID de session de connexion de Symfony</a:t>
            </a:r>
          </a:p>
          <a:p>
            <a:pPr lvl="1"/>
            <a:endParaRPr lang="fr-FR" dirty="0"/>
          </a:p>
          <a:p>
            <a:pPr lvl="1"/>
            <a:endParaRPr lang="fr-FR" dirty="0"/>
          </a:p>
          <a:p>
            <a:pPr lvl="1"/>
            <a:endParaRPr lang="fr-FR" dirty="0"/>
          </a:p>
          <a:p>
            <a:pPr lvl="1"/>
            <a:endParaRPr lang="fr-FR" dirty="0"/>
          </a:p>
          <a:p>
            <a:pPr marL="0" indent="0">
              <a:buNone/>
            </a:pPr>
            <a:endParaRPr lang="fr-FR" sz="1400" i="1" dirty="0"/>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 name="ZoneTexte 3">
            <a:extLst>
              <a:ext uri="{FF2B5EF4-FFF2-40B4-BE49-F238E27FC236}">
                <a16:creationId xmlns:a16="http://schemas.microsoft.com/office/drawing/2014/main" id="{FD1CFAFB-7F42-13AC-C5A1-42D51BEA8C0A}"/>
              </a:ext>
            </a:extLst>
          </p:cNvPr>
          <p:cNvSpPr txBox="1"/>
          <p:nvPr/>
        </p:nvSpPr>
        <p:spPr>
          <a:xfrm>
            <a:off x="1648005" y="4512270"/>
            <a:ext cx="7967662" cy="923330"/>
          </a:xfrm>
          <a:prstGeom prst="rect">
            <a:avLst/>
          </a:prstGeom>
          <a:solidFill>
            <a:schemeClr val="bg2"/>
          </a:solidFill>
          <a:ln>
            <a:solidFill>
              <a:schemeClr val="tx1"/>
            </a:solidFill>
          </a:ln>
        </p:spPr>
        <p:txBody>
          <a:bodyPr wrap="square">
            <a:spAutoFit/>
          </a:bodyPr>
          <a:lstStyle/>
          <a:p>
            <a:pPr algn="ctr"/>
            <a:endParaRPr lang="fr-FR" dirty="0"/>
          </a:p>
          <a:p>
            <a:pPr algn="ctr"/>
            <a:r>
              <a:rPr lang="fr-FR" dirty="0"/>
              <a:t>Set-Cookie: _</a:t>
            </a:r>
            <a:r>
              <a:rPr lang="fr-FR" dirty="0" err="1"/>
              <a:t>security_main</a:t>
            </a:r>
            <a:r>
              <a:rPr lang="fr-FR" dirty="0"/>
              <a:t>=abc123; Secure; </a:t>
            </a:r>
            <a:r>
              <a:rPr lang="fr-FR" dirty="0" err="1"/>
              <a:t>HttpOnly</a:t>
            </a:r>
            <a:r>
              <a:rPr lang="fr-FR" dirty="0"/>
              <a:t>; </a:t>
            </a:r>
            <a:r>
              <a:rPr lang="fr-FR" dirty="0" err="1"/>
              <a:t>SameSite</a:t>
            </a:r>
            <a:r>
              <a:rPr lang="fr-FR" dirty="0"/>
              <a:t>=Lax</a:t>
            </a:r>
          </a:p>
          <a:p>
            <a:pPr algn="ctr"/>
            <a:endParaRPr lang="fr-FR" dirty="0"/>
          </a:p>
        </p:txBody>
      </p:sp>
    </p:spTree>
    <p:extLst>
      <p:ext uri="{BB962C8B-B14F-4D97-AF65-F5344CB8AC3E}">
        <p14:creationId xmlns:p14="http://schemas.microsoft.com/office/powerpoint/2010/main" val="328097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F28B17-A83F-F777-EC27-AB542E65DD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E32EFF6-C1D9-EA2C-97F9-A9B2143FB72B}"/>
              </a:ext>
            </a:extLst>
          </p:cNvPr>
          <p:cNvSpPr>
            <a:spLocks noGrp="1"/>
          </p:cNvSpPr>
          <p:nvPr>
            <p:ph type="title"/>
          </p:nvPr>
        </p:nvSpPr>
        <p:spPr>
          <a:xfrm>
            <a:off x="2786047" y="609600"/>
            <a:ext cx="6487955" cy="1320800"/>
          </a:xfrm>
        </p:spPr>
        <p:txBody>
          <a:bodyPr>
            <a:normAutofit/>
          </a:bodyPr>
          <a:lstStyle/>
          <a:p>
            <a:r>
              <a:rPr lang="fr-FR" dirty="0"/>
              <a:t>LA SESSION</a:t>
            </a:r>
          </a:p>
        </p:txBody>
      </p:sp>
      <p:pic>
        <p:nvPicPr>
          <p:cNvPr id="11" name="Picture 10" descr="Vue de dessus des cubes reliés par des lignes noires">
            <a:extLst>
              <a:ext uri="{FF2B5EF4-FFF2-40B4-BE49-F238E27FC236}">
                <a16:creationId xmlns:a16="http://schemas.microsoft.com/office/drawing/2014/main" id="{DFA5E450-8454-DD5A-744A-FF06AD19FAD9}"/>
              </a:ext>
            </a:extLst>
          </p:cNvPr>
          <p:cNvPicPr>
            <a:picLocks noChangeAspect="1"/>
          </p:cNvPicPr>
          <p:nvPr/>
        </p:nvPicPr>
        <p:blipFill>
          <a:blip r:embed="rId3">
            <a:duotone>
              <a:prstClr val="black"/>
              <a:schemeClr val="tx2">
                <a:tint val="45000"/>
                <a:satMod val="400000"/>
              </a:schemeClr>
            </a:duotone>
          </a:blip>
          <a:srcRect l="40051" r="30129"/>
          <a:stretch>
            <a:fillRect/>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5" name="Isosceles Triangle 14">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D43BD22D-328F-4310-6258-CEFD7072E0D8}"/>
              </a:ext>
            </a:extLst>
          </p:cNvPr>
          <p:cNvSpPr>
            <a:spLocks noGrp="1"/>
          </p:cNvSpPr>
          <p:nvPr>
            <p:ph idx="1"/>
          </p:nvPr>
        </p:nvSpPr>
        <p:spPr>
          <a:xfrm>
            <a:off x="2786047" y="2160589"/>
            <a:ext cx="6487955" cy="3880773"/>
          </a:xfrm>
        </p:spPr>
        <p:txBody>
          <a:bodyPr>
            <a:normAutofit/>
          </a:bodyPr>
          <a:lstStyle/>
          <a:p>
            <a:r>
              <a:rPr lang="fr-FR" dirty="0"/>
              <a:t>Après connexion, </a:t>
            </a:r>
            <a:r>
              <a:rPr lang="fr-FR" u="sng" dirty="0"/>
              <a:t>le serveur crée une session</a:t>
            </a:r>
            <a:r>
              <a:rPr lang="fr-FR" dirty="0"/>
              <a:t> contenant le </a:t>
            </a:r>
            <a:r>
              <a:rPr lang="fr-FR" b="1" dirty="0" err="1"/>
              <a:t>UsernamePasswordToken</a:t>
            </a:r>
            <a:r>
              <a:rPr lang="fr-FR" b="1" dirty="0"/>
              <a:t> </a:t>
            </a:r>
            <a:r>
              <a:rPr lang="fr-FR" dirty="0"/>
              <a:t>sérialisé</a:t>
            </a:r>
          </a:p>
          <a:p>
            <a:pPr lvl="1"/>
            <a:r>
              <a:rPr lang="fr-FR" dirty="0"/>
              <a:t>Session « </a:t>
            </a:r>
            <a:r>
              <a:rPr lang="fr-FR" b="1" dirty="0"/>
              <a:t>_</a:t>
            </a:r>
            <a:r>
              <a:rPr lang="fr-FR" b="1" dirty="0" err="1"/>
              <a:t>security_main</a:t>
            </a:r>
            <a:r>
              <a:rPr lang="fr-FR" b="1" dirty="0"/>
              <a:t> </a:t>
            </a:r>
            <a:r>
              <a:rPr lang="fr-FR" dirty="0"/>
              <a:t>», où main est le nom du firewall dans le </a:t>
            </a:r>
            <a:r>
              <a:rPr lang="fr-FR" b="1" dirty="0" err="1"/>
              <a:t>security.yaml</a:t>
            </a:r>
            <a:endParaRPr lang="fr-FR" b="1" dirty="0"/>
          </a:p>
          <a:p>
            <a:pPr marL="0" indent="0">
              <a:buNone/>
            </a:pPr>
            <a:endParaRPr lang="fr-FR" dirty="0"/>
          </a:p>
          <a:p>
            <a:r>
              <a:rPr lang="fr-FR" dirty="0"/>
              <a:t>Ce </a:t>
            </a:r>
            <a:r>
              <a:rPr lang="fr-FR" dirty="0" err="1"/>
              <a:t>token</a:t>
            </a:r>
            <a:r>
              <a:rPr lang="fr-FR" dirty="0"/>
              <a:t> est l’utilisateur pour toutes les requêtes suivantes</a:t>
            </a:r>
          </a:p>
          <a:p>
            <a:pPr marL="0" indent="0">
              <a:buNone/>
            </a:pPr>
            <a:endParaRPr lang="fr-FR" dirty="0"/>
          </a:p>
          <a:p>
            <a:r>
              <a:rPr lang="fr-FR" dirty="0"/>
              <a:t>Le voler, c’est usurper l’identité sans avoir besoin du mot de passe</a:t>
            </a:r>
          </a:p>
          <a:p>
            <a:pPr lvl="1"/>
            <a:r>
              <a:rPr lang="fr-FR" dirty="0"/>
              <a:t>Inutile de casser un mot de passe si on peut voler ce </a:t>
            </a:r>
            <a:r>
              <a:rPr lang="fr-FR" dirty="0" err="1"/>
              <a:t>token</a:t>
            </a:r>
            <a:endParaRPr lang="fr-FR" dirty="0"/>
          </a:p>
        </p:txBody>
      </p:sp>
    </p:spTree>
    <p:extLst>
      <p:ext uri="{BB962C8B-B14F-4D97-AF65-F5344CB8AC3E}">
        <p14:creationId xmlns:p14="http://schemas.microsoft.com/office/powerpoint/2010/main" val="49116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AACC6E-9BA8-EC2E-2B95-D192B084A4F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545F90C-7F9F-12C7-EDF9-BAEFEF3635B2}"/>
              </a:ext>
            </a:extLst>
          </p:cNvPr>
          <p:cNvSpPr>
            <a:spLocks noGrp="1"/>
          </p:cNvSpPr>
          <p:nvPr>
            <p:ph type="title"/>
          </p:nvPr>
        </p:nvSpPr>
        <p:spPr>
          <a:xfrm>
            <a:off x="1333502" y="609600"/>
            <a:ext cx="8596668" cy="1320800"/>
          </a:xfrm>
        </p:spPr>
        <p:txBody>
          <a:bodyPr>
            <a:normAutofit/>
          </a:bodyPr>
          <a:lstStyle/>
          <a:p>
            <a:r>
              <a:rPr lang="fr-FR" dirty="0"/>
              <a:t>TRANSPORTER UN TOKEN D’AUTHENTIFICATION</a:t>
            </a:r>
          </a:p>
        </p:txBody>
      </p:sp>
      <p:sp>
        <p:nvSpPr>
          <p:cNvPr id="16" name="Isosceles Triangle 15">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81BCC1A5-2E5F-1A3D-F417-7BA12506907D}"/>
              </a:ext>
            </a:extLst>
          </p:cNvPr>
          <p:cNvSpPr>
            <a:spLocks noGrp="1"/>
          </p:cNvSpPr>
          <p:nvPr>
            <p:ph idx="1"/>
          </p:nvPr>
        </p:nvSpPr>
        <p:spPr>
          <a:xfrm>
            <a:off x="1333502" y="2160589"/>
            <a:ext cx="8596668" cy="3880773"/>
          </a:xfrm>
        </p:spPr>
        <p:txBody>
          <a:bodyPr>
            <a:normAutofit lnSpcReduction="10000"/>
          </a:bodyPr>
          <a:lstStyle/>
          <a:p>
            <a:r>
              <a:rPr lang="fr-FR" sz="1700" dirty="0"/>
              <a:t>Mode cookie : le navigateur envoie le </a:t>
            </a:r>
            <a:r>
              <a:rPr lang="fr-FR" sz="1700" dirty="0" err="1"/>
              <a:t>token</a:t>
            </a:r>
            <a:r>
              <a:rPr lang="fr-FR" sz="1700" dirty="0"/>
              <a:t> automatiquement à chaque requête</a:t>
            </a:r>
          </a:p>
          <a:p>
            <a:pPr lvl="1"/>
            <a:r>
              <a:rPr lang="fr-FR" sz="1700" dirty="0"/>
              <a:t>Adapté à une application web classique avec rendu serveur (</a:t>
            </a:r>
            <a:r>
              <a:rPr lang="fr-FR" sz="1700" b="1" dirty="0"/>
              <a:t>Symfony/Twig</a:t>
            </a:r>
            <a:r>
              <a:rPr lang="fr-FR" sz="1700" dirty="0"/>
              <a:t>)</a:t>
            </a:r>
          </a:p>
          <a:p>
            <a:pPr lvl="1"/>
            <a:r>
              <a:rPr lang="fr-FR" sz="1700" dirty="0"/>
              <a:t>C’est le navigateur qui gère l’envoi, avec les protections </a:t>
            </a:r>
            <a:r>
              <a:rPr lang="fr-FR" sz="1700" b="1" dirty="0" err="1"/>
              <a:t>HttpOnly</a:t>
            </a:r>
            <a:r>
              <a:rPr lang="fr-FR" sz="1700" dirty="0"/>
              <a:t>, </a:t>
            </a:r>
            <a:r>
              <a:rPr lang="fr-FR" sz="1700" b="1" dirty="0"/>
              <a:t>Secure</a:t>
            </a:r>
            <a:r>
              <a:rPr lang="fr-FR" sz="1700" dirty="0"/>
              <a:t> et </a:t>
            </a:r>
            <a:r>
              <a:rPr lang="fr-FR" sz="1700" b="1" dirty="0" err="1"/>
              <a:t>SameSite</a:t>
            </a:r>
            <a:endParaRPr lang="fr-FR" sz="1700" b="1" dirty="0"/>
          </a:p>
          <a:p>
            <a:pPr marL="0" indent="0">
              <a:buNone/>
            </a:pPr>
            <a:endParaRPr lang="fr-FR" sz="1700" dirty="0"/>
          </a:p>
          <a:p>
            <a:r>
              <a:rPr lang="fr-FR" sz="1700" dirty="0"/>
              <a:t>Mode header : le client doit explicitement joindre le </a:t>
            </a:r>
            <a:r>
              <a:rPr lang="fr-FR" sz="1700" dirty="0" err="1"/>
              <a:t>token</a:t>
            </a:r>
            <a:r>
              <a:rPr lang="fr-FR" sz="1700" dirty="0"/>
              <a:t> (ex : « </a:t>
            </a:r>
            <a:r>
              <a:rPr lang="fr-FR" sz="1700" b="1" dirty="0" err="1"/>
              <a:t>Authorization</a:t>
            </a:r>
            <a:r>
              <a:rPr lang="fr-FR" sz="1700" b="1" dirty="0"/>
              <a:t>: </a:t>
            </a:r>
            <a:r>
              <a:rPr lang="fr-FR" sz="1700" b="1" dirty="0" err="1"/>
              <a:t>bearer</a:t>
            </a:r>
            <a:r>
              <a:rPr lang="fr-FR" sz="1700" dirty="0"/>
              <a:t> »)</a:t>
            </a:r>
          </a:p>
          <a:p>
            <a:pPr lvl="1"/>
            <a:r>
              <a:rPr lang="fr-FR" sz="1700" dirty="0"/>
              <a:t>Adapté à une API (frontend + backend)</a:t>
            </a:r>
          </a:p>
          <a:p>
            <a:pPr lvl="1"/>
            <a:r>
              <a:rPr lang="fr-FR" sz="1700" b="1" dirty="0" err="1"/>
              <a:t>localstorage</a:t>
            </a:r>
            <a:r>
              <a:rPr lang="fr-FR" sz="1700" b="1" dirty="0"/>
              <a:t> / cookie</a:t>
            </a:r>
          </a:p>
          <a:p>
            <a:pPr marL="0" indent="0">
              <a:buNone/>
            </a:pPr>
            <a:endParaRPr lang="fr-FR" sz="1700" dirty="0"/>
          </a:p>
          <a:p>
            <a:r>
              <a:rPr lang="fr-FR" sz="1700" dirty="0"/>
              <a:t>Le choix dépend du type d’application</a:t>
            </a:r>
          </a:p>
        </p:txBody>
      </p:sp>
      <p:sp>
        <p:nvSpPr>
          <p:cNvPr id="18" name="Isosceles Triangle 17">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98754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141196-2280-94B1-8398-73810D4FD9A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2C2BDFA-6695-50C7-0B7B-EAD9E58F808C}"/>
              </a:ext>
            </a:extLst>
          </p:cNvPr>
          <p:cNvSpPr>
            <a:spLocks noGrp="1"/>
          </p:cNvSpPr>
          <p:nvPr>
            <p:ph type="title"/>
          </p:nvPr>
        </p:nvSpPr>
        <p:spPr>
          <a:xfrm>
            <a:off x="1333502" y="609600"/>
            <a:ext cx="8596668" cy="1320800"/>
          </a:xfrm>
        </p:spPr>
        <p:txBody>
          <a:bodyPr>
            <a:normAutofit/>
          </a:bodyPr>
          <a:lstStyle/>
          <a:p>
            <a:r>
              <a:rPr lang="fr-FR" dirty="0"/>
              <a:t>VOLER UN TOKEN DE SESSION</a:t>
            </a:r>
          </a:p>
        </p:txBody>
      </p:sp>
      <p:sp>
        <p:nvSpPr>
          <p:cNvPr id="16" name="Isosceles Triangle 15">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8" name="Isosceles Triangle 17">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20" name="Straight Connector 19">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9" name="Espace réservé du contenu 2">
            <a:extLst>
              <a:ext uri="{FF2B5EF4-FFF2-40B4-BE49-F238E27FC236}">
                <a16:creationId xmlns:a16="http://schemas.microsoft.com/office/drawing/2014/main" id="{60224960-2C1A-4200-6EFA-0CB51B953F82}"/>
              </a:ext>
            </a:extLst>
          </p:cNvPr>
          <p:cNvSpPr>
            <a:spLocks noGrp="1"/>
          </p:cNvSpPr>
          <p:nvPr>
            <p:ph idx="1"/>
          </p:nvPr>
        </p:nvSpPr>
        <p:spPr>
          <a:xfrm>
            <a:off x="1333502" y="2160590"/>
            <a:ext cx="8470898" cy="3429260"/>
          </a:xfrm>
        </p:spPr>
        <p:txBody>
          <a:bodyPr>
            <a:normAutofit/>
          </a:bodyPr>
          <a:lstStyle/>
          <a:p>
            <a:pPr>
              <a:lnSpc>
                <a:spcPct val="90000"/>
              </a:lnSpc>
            </a:pPr>
            <a:r>
              <a:rPr lang="fr-FR" sz="1500" dirty="0"/>
              <a:t>Via XSS : lecture du cookie non protégé en Javascript </a:t>
            </a:r>
          </a:p>
          <a:p>
            <a:pPr lvl="1">
              <a:lnSpc>
                <a:spcPct val="90000"/>
              </a:lnSpc>
            </a:pPr>
            <a:r>
              <a:rPr lang="fr-FR" sz="1500" dirty="0"/>
              <a:t>Injecté via </a:t>
            </a:r>
            <a:r>
              <a:rPr lang="fr-FR" sz="1500" b="1" dirty="0" err="1"/>
              <a:t>document.cookie</a:t>
            </a:r>
            <a:r>
              <a:rPr lang="fr-FR" sz="1500" b="1" dirty="0"/>
              <a:t>, </a:t>
            </a:r>
            <a:r>
              <a:rPr lang="fr-FR" sz="1500" dirty="0"/>
              <a:t>le </a:t>
            </a:r>
            <a:r>
              <a:rPr lang="fr-FR" sz="1500" dirty="0" err="1"/>
              <a:t>token</a:t>
            </a:r>
            <a:r>
              <a:rPr lang="fr-FR" sz="1500" dirty="0"/>
              <a:t> est envoyé vers un serveur connu de l’attaquant</a:t>
            </a:r>
          </a:p>
          <a:p>
            <a:pPr lvl="1">
              <a:lnSpc>
                <a:spcPct val="90000"/>
              </a:lnSpc>
            </a:pPr>
            <a:r>
              <a:rPr lang="fr-FR" sz="1500" b="1" dirty="0" err="1"/>
              <a:t>HttpOnly</a:t>
            </a:r>
            <a:r>
              <a:rPr lang="fr-FR" sz="1500" b="1" dirty="0"/>
              <a:t> </a:t>
            </a:r>
            <a:r>
              <a:rPr lang="fr-FR" sz="1500" dirty="0"/>
              <a:t>bloque cette attaque</a:t>
            </a:r>
            <a:endParaRPr lang="fr-FR" sz="1500" b="1" dirty="0"/>
          </a:p>
          <a:p>
            <a:pPr marL="0" indent="0">
              <a:lnSpc>
                <a:spcPct val="90000"/>
              </a:lnSpc>
              <a:buNone/>
            </a:pPr>
            <a:endParaRPr lang="fr-FR" sz="1500" dirty="0"/>
          </a:p>
          <a:p>
            <a:pPr>
              <a:lnSpc>
                <a:spcPct val="90000"/>
              </a:lnSpc>
            </a:pPr>
            <a:r>
              <a:rPr lang="fr-FR" sz="1500" dirty="0"/>
              <a:t>Vol via </a:t>
            </a:r>
            <a:r>
              <a:rPr lang="fr-FR" sz="1500" dirty="0" err="1"/>
              <a:t>snifing</a:t>
            </a:r>
            <a:r>
              <a:rPr lang="fr-FR" sz="1500" dirty="0"/>
              <a:t> du réseau : connexion non chiffrée (sans HTTPS)</a:t>
            </a:r>
          </a:p>
          <a:p>
            <a:pPr lvl="1">
              <a:lnSpc>
                <a:spcPct val="90000"/>
              </a:lnSpc>
            </a:pPr>
            <a:r>
              <a:rPr lang="fr-FR" sz="1500" dirty="0"/>
              <a:t>Un attaquant sur le même réseau intercepte le </a:t>
            </a:r>
            <a:r>
              <a:rPr lang="fr-FR" sz="1500" dirty="0" err="1"/>
              <a:t>token</a:t>
            </a:r>
            <a:r>
              <a:rPr lang="fr-FR" sz="1500" dirty="0"/>
              <a:t> en clair</a:t>
            </a:r>
          </a:p>
          <a:p>
            <a:pPr lvl="1">
              <a:lnSpc>
                <a:spcPct val="90000"/>
              </a:lnSpc>
            </a:pPr>
            <a:r>
              <a:rPr lang="fr-FR" sz="1500" b="1" dirty="0"/>
              <a:t>Secure</a:t>
            </a:r>
            <a:r>
              <a:rPr lang="fr-FR" sz="1500" dirty="0"/>
              <a:t> bloque cette attaque</a:t>
            </a:r>
          </a:p>
          <a:p>
            <a:pPr marL="0" indent="0">
              <a:lnSpc>
                <a:spcPct val="90000"/>
              </a:lnSpc>
              <a:buNone/>
            </a:pPr>
            <a:endParaRPr lang="fr-FR" sz="1500" dirty="0"/>
          </a:p>
          <a:p>
            <a:pPr>
              <a:lnSpc>
                <a:spcPct val="90000"/>
              </a:lnSpc>
            </a:pPr>
            <a:r>
              <a:rPr lang="fr-FR" sz="1500" dirty="0"/>
              <a:t>Fixation de session : imposer un ID de session connu à la victime avant sa connexion</a:t>
            </a:r>
          </a:p>
          <a:p>
            <a:pPr lvl="1">
              <a:lnSpc>
                <a:spcPct val="90000"/>
              </a:lnSpc>
            </a:pPr>
            <a:r>
              <a:rPr lang="fr-FR" sz="1500" dirty="0"/>
              <a:t>Via URL piégée, une fois l’utilisateur connecté on récupère le </a:t>
            </a:r>
            <a:r>
              <a:rPr lang="fr-FR" sz="1500" dirty="0" err="1"/>
              <a:t>token</a:t>
            </a:r>
            <a:endParaRPr lang="fr-FR" sz="1500" dirty="0"/>
          </a:p>
          <a:p>
            <a:pPr lvl="1">
              <a:lnSpc>
                <a:spcPct val="90000"/>
              </a:lnSpc>
            </a:pPr>
            <a:endParaRPr lang="fr-FR" sz="1500" dirty="0"/>
          </a:p>
          <a:p>
            <a:pPr lvl="1">
              <a:lnSpc>
                <a:spcPct val="90000"/>
              </a:lnSpc>
            </a:pPr>
            <a:endParaRPr lang="fr-FR" sz="1500" dirty="0"/>
          </a:p>
        </p:txBody>
      </p:sp>
      <p:sp>
        <p:nvSpPr>
          <p:cNvPr id="24"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35493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02A616-6EC5-DE21-51B0-15A44D46DD51}"/>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961B9CD-39B5-5232-BD38-417DE29C9814}"/>
              </a:ext>
            </a:extLst>
          </p:cNvPr>
          <p:cNvSpPr>
            <a:spLocks noGrp="1"/>
          </p:cNvSpPr>
          <p:nvPr>
            <p:ph type="title"/>
          </p:nvPr>
        </p:nvSpPr>
        <p:spPr>
          <a:xfrm>
            <a:off x="1043950" y="1179151"/>
            <a:ext cx="3300646" cy="4463889"/>
          </a:xfrm>
        </p:spPr>
        <p:txBody>
          <a:bodyPr anchor="ctr">
            <a:normAutofit/>
          </a:bodyPr>
          <a:lstStyle/>
          <a:p>
            <a:r>
              <a:rPr lang="fr-FR" sz="2800" dirty="0"/>
              <a:t>SYMFONY : FRAMEWORK.YAML</a:t>
            </a:r>
          </a:p>
        </p:txBody>
      </p:sp>
      <p:sp>
        <p:nvSpPr>
          <p:cNvPr id="31" name="Isosceles Triangle 30">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33" name="Straight Connector 32">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9" name="Espace réservé du contenu 2">
            <a:extLst>
              <a:ext uri="{FF2B5EF4-FFF2-40B4-BE49-F238E27FC236}">
                <a16:creationId xmlns:a16="http://schemas.microsoft.com/office/drawing/2014/main" id="{E69850B3-46FB-0363-7DD4-F081F2D26B34}"/>
              </a:ext>
            </a:extLst>
          </p:cNvPr>
          <p:cNvSpPr>
            <a:spLocks noGrp="1"/>
          </p:cNvSpPr>
          <p:nvPr>
            <p:ph idx="1"/>
          </p:nvPr>
        </p:nvSpPr>
        <p:spPr>
          <a:xfrm>
            <a:off x="4978918" y="1109145"/>
            <a:ext cx="6341016" cy="4603900"/>
          </a:xfrm>
        </p:spPr>
        <p:txBody>
          <a:bodyPr anchor="ctr">
            <a:normAutofit/>
          </a:bodyPr>
          <a:lstStyle/>
          <a:p>
            <a:r>
              <a:rPr lang="fr-FR" dirty="0"/>
              <a:t>Protections mises en place</a:t>
            </a:r>
          </a:p>
          <a:p>
            <a:pPr lvl="1"/>
            <a:endParaRPr lang="fr-FR" dirty="0"/>
          </a:p>
        </p:txBody>
      </p:sp>
      <p:sp>
        <p:nvSpPr>
          <p:cNvPr id="35" name="Isosceles Triangle 34">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431837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4E10A-BB2B-7BDC-B869-28D2F14542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651EE87-AA6E-874D-EFB8-1650777A493A}"/>
              </a:ext>
            </a:extLst>
          </p:cNvPr>
          <p:cNvSpPr>
            <a:spLocks noGrp="1"/>
          </p:cNvSpPr>
          <p:nvPr>
            <p:ph type="title"/>
          </p:nvPr>
        </p:nvSpPr>
        <p:spPr>
          <a:xfrm>
            <a:off x="1333502" y="609600"/>
            <a:ext cx="8596668" cy="1320800"/>
          </a:xfrm>
        </p:spPr>
        <p:txBody>
          <a:bodyPr>
            <a:normAutofit/>
          </a:bodyPr>
          <a:lstStyle/>
          <a:p>
            <a:r>
              <a:rPr lang="fr-FR" dirty="0"/>
              <a:t>SYMFONY : FRAMEWORK.YAML</a:t>
            </a:r>
          </a:p>
        </p:txBody>
      </p:sp>
      <p:sp>
        <p:nvSpPr>
          <p:cNvPr id="9" name="Espace réservé du contenu 2">
            <a:extLst>
              <a:ext uri="{FF2B5EF4-FFF2-40B4-BE49-F238E27FC236}">
                <a16:creationId xmlns:a16="http://schemas.microsoft.com/office/drawing/2014/main" id="{6FB33915-5481-A50E-6ADA-23A924D7ACE5}"/>
              </a:ext>
            </a:extLst>
          </p:cNvPr>
          <p:cNvSpPr>
            <a:spLocks noGrp="1"/>
          </p:cNvSpPr>
          <p:nvPr>
            <p:ph idx="1"/>
          </p:nvPr>
        </p:nvSpPr>
        <p:spPr>
          <a:xfrm>
            <a:off x="1333502" y="2160590"/>
            <a:ext cx="8470898" cy="3429260"/>
          </a:xfrm>
        </p:spPr>
        <p:txBody>
          <a:bodyPr>
            <a:normAutofit/>
          </a:bodyPr>
          <a:lstStyle/>
          <a:p>
            <a:pPr>
              <a:lnSpc>
                <a:spcPct val="90000"/>
              </a:lnSpc>
            </a:pPr>
            <a:r>
              <a:rPr lang="fr-FR" sz="1700" dirty="0"/>
              <a:t>Par défaut Symfony utilise la valeur «</a:t>
            </a:r>
            <a:r>
              <a:rPr lang="fr-FR" sz="1700" b="1" dirty="0"/>
              <a:t> session: </a:t>
            </a:r>
            <a:r>
              <a:rPr lang="fr-FR" sz="1700" b="1" dirty="0" err="1"/>
              <a:t>true</a:t>
            </a:r>
            <a:r>
              <a:rPr lang="fr-FR" sz="1700" b="1" dirty="0"/>
              <a:t> </a:t>
            </a:r>
            <a:r>
              <a:rPr lang="fr-FR" sz="1700" dirty="0"/>
              <a:t>», qui ne rend pas visible la politique de sécurité appliquée au cookie. Elle prend les valeurs suivantes :</a:t>
            </a:r>
          </a:p>
          <a:p>
            <a:pPr lvl="1">
              <a:lnSpc>
                <a:spcPct val="90000"/>
              </a:lnSpc>
            </a:pPr>
            <a:r>
              <a:rPr lang="fr-FR" sz="1500" b="1" dirty="0" err="1"/>
              <a:t>HttpOnly</a:t>
            </a:r>
            <a:r>
              <a:rPr lang="fr-FR" sz="1500" b="1" dirty="0"/>
              <a:t>: </a:t>
            </a:r>
            <a:r>
              <a:rPr lang="fr-FR" sz="1500" b="1" dirty="0" err="1"/>
              <a:t>true</a:t>
            </a:r>
            <a:endParaRPr lang="fr-FR" sz="1500" b="1" dirty="0"/>
          </a:p>
          <a:p>
            <a:pPr lvl="1">
              <a:lnSpc>
                <a:spcPct val="90000"/>
              </a:lnSpc>
            </a:pPr>
            <a:r>
              <a:rPr lang="fr-FR" sz="1500" b="1" dirty="0"/>
              <a:t>Secure</a:t>
            </a:r>
            <a:r>
              <a:rPr lang="fr-FR" sz="1500" dirty="0"/>
              <a:t> : dépends de la version et du php.ini, souvent « </a:t>
            </a:r>
            <a:r>
              <a:rPr lang="fr-FR" sz="1500" b="1" dirty="0"/>
              <a:t>auto</a:t>
            </a:r>
            <a:r>
              <a:rPr lang="fr-FR" sz="1500" dirty="0"/>
              <a:t> » </a:t>
            </a:r>
          </a:p>
          <a:p>
            <a:pPr lvl="1">
              <a:lnSpc>
                <a:spcPct val="90000"/>
              </a:lnSpc>
            </a:pPr>
            <a:r>
              <a:rPr lang="fr-FR" sz="1500" b="1" dirty="0" err="1"/>
              <a:t>SameSite</a:t>
            </a:r>
            <a:r>
              <a:rPr lang="fr-FR" sz="1500" dirty="0"/>
              <a:t> : généralement </a:t>
            </a:r>
            <a:r>
              <a:rPr lang="fr-FR" sz="1500" b="1" dirty="0" err="1"/>
              <a:t>lax</a:t>
            </a:r>
            <a:endParaRPr lang="fr-FR" sz="1500" b="1" dirty="0"/>
          </a:p>
          <a:p>
            <a:pPr>
              <a:lnSpc>
                <a:spcPct val="90000"/>
              </a:lnSpc>
            </a:pPr>
            <a:endParaRPr lang="fr-FR" sz="1700" dirty="0"/>
          </a:p>
          <a:p>
            <a:pPr>
              <a:lnSpc>
                <a:spcPct val="90000"/>
              </a:lnSpc>
            </a:pPr>
            <a:r>
              <a:rPr lang="fr-FR" sz="1700" dirty="0"/>
              <a:t>On peut aussi expliciter les comportements explicitement :</a:t>
            </a:r>
          </a:p>
          <a:p>
            <a:pPr lvl="1">
              <a:lnSpc>
                <a:spcPct val="90000"/>
              </a:lnSpc>
            </a:pPr>
            <a:endParaRPr lang="fr-FR" sz="1500" dirty="0"/>
          </a:p>
        </p:txBody>
      </p:sp>
      <p:sp>
        <p:nvSpPr>
          <p:cNvPr id="4" name="ZoneTexte 3">
            <a:extLst>
              <a:ext uri="{FF2B5EF4-FFF2-40B4-BE49-F238E27FC236}">
                <a16:creationId xmlns:a16="http://schemas.microsoft.com/office/drawing/2014/main" id="{C6F4BC20-A9AD-8C00-9A45-221415DBCB5C}"/>
              </a:ext>
            </a:extLst>
          </p:cNvPr>
          <p:cNvSpPr txBox="1"/>
          <p:nvPr/>
        </p:nvSpPr>
        <p:spPr>
          <a:xfrm>
            <a:off x="8512288" y="2914730"/>
            <a:ext cx="2123055" cy="646331"/>
          </a:xfrm>
          <a:prstGeom prst="rect">
            <a:avLst/>
          </a:prstGeom>
          <a:solidFill>
            <a:schemeClr val="bg1"/>
          </a:solidFill>
          <a:ln>
            <a:solidFill>
              <a:schemeClr val="tx2"/>
            </a:solidFill>
          </a:ln>
        </p:spPr>
        <p:txBody>
          <a:bodyPr wrap="square">
            <a:spAutoFit/>
          </a:bodyPr>
          <a:lstStyle/>
          <a:p>
            <a:pPr>
              <a:buNone/>
            </a:pPr>
            <a:r>
              <a:rPr lang="fr-FR" dirty="0" err="1">
                <a:solidFill>
                  <a:srgbClr val="0070C0"/>
                </a:solidFill>
                <a:effectLst/>
                <a:latin typeface="+mn-lt"/>
              </a:rPr>
              <a:t>framework</a:t>
            </a:r>
            <a:r>
              <a:rPr lang="fr-FR" dirty="0">
                <a:solidFill>
                  <a:schemeClr val="tx1"/>
                </a:solidFill>
                <a:effectLst/>
                <a:latin typeface="+mn-lt"/>
              </a:rPr>
              <a:t>:</a:t>
            </a:r>
            <a:br>
              <a:rPr lang="fr-FR" i="1" dirty="0">
                <a:solidFill>
                  <a:schemeClr val="tx1"/>
                </a:solidFill>
                <a:effectLst/>
                <a:latin typeface="+mn-lt"/>
              </a:rPr>
            </a:br>
            <a:r>
              <a:rPr lang="fr-FR" i="1" dirty="0">
                <a:solidFill>
                  <a:schemeClr val="tx1"/>
                </a:solidFill>
                <a:effectLst/>
                <a:latin typeface="+mn-lt"/>
              </a:rPr>
              <a:t>    </a:t>
            </a:r>
            <a:r>
              <a:rPr lang="fr-FR" dirty="0">
                <a:solidFill>
                  <a:srgbClr val="0070C0"/>
                </a:solidFill>
                <a:effectLst/>
                <a:latin typeface="+mn-lt"/>
              </a:rPr>
              <a:t>session</a:t>
            </a:r>
            <a:r>
              <a:rPr lang="fr-FR" dirty="0">
                <a:solidFill>
                  <a:schemeClr val="tx1"/>
                </a:solidFill>
                <a:effectLst/>
                <a:latin typeface="+mn-lt"/>
              </a:rPr>
              <a:t>: </a:t>
            </a:r>
            <a:r>
              <a:rPr lang="fr-FR" dirty="0" err="1">
                <a:solidFill>
                  <a:schemeClr val="tx1"/>
                </a:solidFill>
                <a:effectLst/>
                <a:latin typeface="+mn-lt"/>
              </a:rPr>
              <a:t>true</a:t>
            </a:r>
            <a:endParaRPr lang="fr-FR" dirty="0">
              <a:solidFill>
                <a:srgbClr val="080808"/>
              </a:solidFill>
              <a:effectLst/>
              <a:latin typeface="JetBrains Mono"/>
            </a:endParaRPr>
          </a:p>
        </p:txBody>
      </p:sp>
      <p:sp>
        <p:nvSpPr>
          <p:cNvPr id="6" name="ZoneTexte 5">
            <a:extLst>
              <a:ext uri="{FF2B5EF4-FFF2-40B4-BE49-F238E27FC236}">
                <a16:creationId xmlns:a16="http://schemas.microsoft.com/office/drawing/2014/main" id="{FAA240FC-5850-91D4-20A0-240351C0C4E8}"/>
              </a:ext>
            </a:extLst>
          </p:cNvPr>
          <p:cNvSpPr txBox="1"/>
          <p:nvPr/>
        </p:nvSpPr>
        <p:spPr>
          <a:xfrm>
            <a:off x="4147153" y="4693093"/>
            <a:ext cx="2835729" cy="1477328"/>
          </a:xfrm>
          <a:prstGeom prst="rect">
            <a:avLst/>
          </a:prstGeom>
          <a:solidFill>
            <a:schemeClr val="bg1"/>
          </a:solidFill>
          <a:ln>
            <a:solidFill>
              <a:schemeClr val="tx1"/>
            </a:solidFill>
          </a:ln>
        </p:spPr>
        <p:txBody>
          <a:bodyPr wrap="square">
            <a:spAutoFit/>
          </a:bodyPr>
          <a:lstStyle/>
          <a:p>
            <a:r>
              <a:rPr lang="fr-FR" dirty="0" err="1">
                <a:solidFill>
                  <a:srgbClr val="0070C0"/>
                </a:solidFill>
              </a:rPr>
              <a:t>framework</a:t>
            </a:r>
            <a:r>
              <a:rPr lang="fr-FR" dirty="0"/>
              <a:t>:</a:t>
            </a:r>
          </a:p>
          <a:p>
            <a:r>
              <a:rPr lang="fr-FR" dirty="0"/>
              <a:t>  </a:t>
            </a:r>
            <a:r>
              <a:rPr lang="fr-FR" dirty="0">
                <a:solidFill>
                  <a:srgbClr val="0070C0"/>
                </a:solidFill>
              </a:rPr>
              <a:t>session</a:t>
            </a:r>
            <a:r>
              <a:rPr lang="fr-FR" dirty="0"/>
              <a:t>:</a:t>
            </a:r>
          </a:p>
          <a:p>
            <a:r>
              <a:rPr lang="fr-FR" dirty="0"/>
              <a:t>    </a:t>
            </a:r>
            <a:r>
              <a:rPr lang="fr-FR" dirty="0" err="1">
                <a:solidFill>
                  <a:srgbClr val="0070C0"/>
                </a:solidFill>
              </a:rPr>
              <a:t>cookie_secure</a:t>
            </a:r>
            <a:r>
              <a:rPr lang="fr-FR" dirty="0"/>
              <a:t>: </a:t>
            </a:r>
            <a:r>
              <a:rPr lang="fr-FR" dirty="0" err="1"/>
              <a:t>true</a:t>
            </a:r>
            <a:endParaRPr lang="fr-FR" dirty="0"/>
          </a:p>
          <a:p>
            <a:r>
              <a:rPr lang="fr-FR" dirty="0"/>
              <a:t>    </a:t>
            </a:r>
            <a:r>
              <a:rPr lang="fr-FR" dirty="0" err="1">
                <a:solidFill>
                  <a:srgbClr val="0070C0"/>
                </a:solidFill>
              </a:rPr>
              <a:t>cookie_httponly</a:t>
            </a:r>
            <a:r>
              <a:rPr lang="fr-FR" dirty="0"/>
              <a:t>: </a:t>
            </a:r>
            <a:r>
              <a:rPr lang="fr-FR" dirty="0" err="1"/>
              <a:t>true</a:t>
            </a:r>
            <a:endParaRPr lang="fr-FR" dirty="0"/>
          </a:p>
          <a:p>
            <a:r>
              <a:rPr lang="fr-FR" dirty="0"/>
              <a:t>    </a:t>
            </a:r>
            <a:r>
              <a:rPr lang="fr-FR" dirty="0" err="1">
                <a:solidFill>
                  <a:srgbClr val="0070C0"/>
                </a:solidFill>
              </a:rPr>
              <a:t>cookie_samesite</a:t>
            </a:r>
            <a:r>
              <a:rPr lang="fr-FR" dirty="0"/>
              <a:t>: </a:t>
            </a:r>
            <a:r>
              <a:rPr lang="fr-FR" dirty="0" err="1"/>
              <a:t>lax</a:t>
            </a:r>
            <a:endParaRPr lang="fr-FR" dirty="0"/>
          </a:p>
        </p:txBody>
      </p:sp>
    </p:spTree>
    <p:extLst>
      <p:ext uri="{BB962C8B-B14F-4D97-AF65-F5344CB8AC3E}">
        <p14:creationId xmlns:p14="http://schemas.microsoft.com/office/powerpoint/2010/main" val="3635730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EC55A3-3AAA-E199-0CAD-4A2B41BC66F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55FCC6E-440F-F0CA-21DC-AB9CA4EFFD6A}"/>
              </a:ext>
            </a:extLst>
          </p:cNvPr>
          <p:cNvSpPr>
            <a:spLocks noGrp="1"/>
          </p:cNvSpPr>
          <p:nvPr>
            <p:ph type="title"/>
          </p:nvPr>
        </p:nvSpPr>
        <p:spPr>
          <a:xfrm>
            <a:off x="1286933" y="609600"/>
            <a:ext cx="10197494" cy="1099457"/>
          </a:xfrm>
        </p:spPr>
        <p:txBody>
          <a:bodyPr>
            <a:normAutofit/>
          </a:bodyPr>
          <a:lstStyle/>
          <a:p>
            <a:r>
              <a:rPr lang="fr-FR" dirty="0"/>
              <a:t>SYMFONY : REMEMBER ME</a:t>
            </a:r>
          </a:p>
        </p:txBody>
      </p:sp>
      <p:sp>
        <p:nvSpPr>
          <p:cNvPr id="17" name="Isosceles Triangle 16">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aphicFrame>
        <p:nvGraphicFramePr>
          <p:cNvPr id="11" name="Espace réservé du contenu 2">
            <a:extLst>
              <a:ext uri="{FF2B5EF4-FFF2-40B4-BE49-F238E27FC236}">
                <a16:creationId xmlns:a16="http://schemas.microsoft.com/office/drawing/2014/main" id="{E6779E1A-2EB4-12F0-9B58-801501AFAA82}"/>
              </a:ext>
            </a:extLst>
          </p:cNvPr>
          <p:cNvGraphicFramePr>
            <a:graphicFrameLocks noGrp="1"/>
          </p:cNvGraphicFramePr>
          <p:nvPr>
            <p:ph idx="1"/>
            <p:extLst>
              <p:ext uri="{D42A27DB-BD31-4B8C-83A1-F6EECF244321}">
                <p14:modId xmlns:p14="http://schemas.microsoft.com/office/powerpoint/2010/main" val="2513715748"/>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5518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3866DB-502A-75C6-139D-1DE06E9020B7}"/>
            </a:ext>
          </a:extLst>
        </p:cNvPr>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D4956B7B-02AC-BE62-FD33-D8685C70B3E3}"/>
              </a:ext>
            </a:extLst>
          </p:cNvPr>
          <p:cNvSpPr>
            <a:spLocks noGrp="1"/>
          </p:cNvSpPr>
          <p:nvPr>
            <p:ph type="title"/>
          </p:nvPr>
        </p:nvSpPr>
        <p:spPr>
          <a:xfrm>
            <a:off x="643467" y="816638"/>
            <a:ext cx="3367359" cy="5224724"/>
          </a:xfrm>
        </p:spPr>
        <p:txBody>
          <a:bodyPr anchor="ctr">
            <a:normAutofit/>
          </a:bodyPr>
          <a:lstStyle/>
          <a:p>
            <a:r>
              <a:rPr lang="fr-FR" dirty="0"/>
              <a:t>BROKEN ACCESS CONTROL</a:t>
            </a:r>
          </a:p>
        </p:txBody>
      </p:sp>
      <p:sp>
        <p:nvSpPr>
          <p:cNvPr id="9" name="Espace réservé du contenu 2">
            <a:extLst>
              <a:ext uri="{FF2B5EF4-FFF2-40B4-BE49-F238E27FC236}">
                <a16:creationId xmlns:a16="http://schemas.microsoft.com/office/drawing/2014/main" id="{204276DD-9DA8-D7B9-B486-2D6F77258E40}"/>
              </a:ext>
            </a:extLst>
          </p:cNvPr>
          <p:cNvSpPr>
            <a:spLocks noGrp="1"/>
          </p:cNvSpPr>
          <p:nvPr>
            <p:ph idx="1"/>
          </p:nvPr>
        </p:nvSpPr>
        <p:spPr>
          <a:xfrm>
            <a:off x="4654295" y="816638"/>
            <a:ext cx="5026734" cy="5224724"/>
          </a:xfrm>
        </p:spPr>
        <p:txBody>
          <a:bodyPr anchor="ctr">
            <a:normAutofit/>
          </a:bodyPr>
          <a:lstStyle/>
          <a:p>
            <a:pPr>
              <a:lnSpc>
                <a:spcPct val="90000"/>
              </a:lnSpc>
            </a:pPr>
            <a:r>
              <a:rPr lang="fr-FR" sz="1400" dirty="0"/>
              <a:t>Principe : l’application vérifie qu’on est authentifié, mais pas qu’on a le droit d’accéder à </a:t>
            </a:r>
            <a:r>
              <a:rPr lang="fr-FR" sz="1400" b="1" dirty="0"/>
              <a:t>CETTE</a:t>
            </a:r>
            <a:r>
              <a:rPr lang="fr-FR" sz="1400" dirty="0"/>
              <a:t> </a:t>
            </a:r>
            <a:r>
              <a:rPr lang="fr-FR" sz="1400" b="1" dirty="0"/>
              <a:t>ressource</a:t>
            </a:r>
            <a:r>
              <a:rPr lang="fr-FR" sz="1400" dirty="0"/>
              <a:t> </a:t>
            </a:r>
            <a:r>
              <a:rPr lang="fr-FR" sz="1400" b="1" dirty="0"/>
              <a:t>précise</a:t>
            </a:r>
          </a:p>
          <a:p>
            <a:pPr>
              <a:lnSpc>
                <a:spcPct val="90000"/>
              </a:lnSpc>
            </a:pPr>
            <a:endParaRPr lang="fr-FR" sz="1400" dirty="0"/>
          </a:p>
          <a:p>
            <a:pPr>
              <a:lnSpc>
                <a:spcPct val="90000"/>
              </a:lnSpc>
            </a:pPr>
            <a:r>
              <a:rPr lang="fr-FR" sz="1400" dirty="0"/>
              <a:t>Classement </a:t>
            </a:r>
            <a:r>
              <a:rPr lang="fr-FR" sz="1400" b="1" dirty="0"/>
              <a:t>OWASP A01:2025</a:t>
            </a:r>
            <a:r>
              <a:rPr lang="fr-FR" sz="1400" dirty="0"/>
              <a:t> : première cause de vulnérabilité, devant les injections</a:t>
            </a:r>
          </a:p>
          <a:p>
            <a:pPr>
              <a:lnSpc>
                <a:spcPct val="90000"/>
              </a:lnSpc>
            </a:pPr>
            <a:endParaRPr lang="fr-FR" sz="1400" dirty="0"/>
          </a:p>
          <a:p>
            <a:pPr>
              <a:lnSpc>
                <a:spcPct val="90000"/>
              </a:lnSpc>
            </a:pPr>
            <a:r>
              <a:rPr lang="fr-FR" sz="1400" b="1" dirty="0"/>
              <a:t>IDOR</a:t>
            </a:r>
            <a:r>
              <a:rPr lang="fr-FR" sz="1400" dirty="0"/>
              <a:t> (</a:t>
            </a:r>
            <a:r>
              <a:rPr lang="fr-FR" sz="1400" b="1" u="sng" dirty="0" err="1"/>
              <a:t>I</a:t>
            </a:r>
            <a:r>
              <a:rPr lang="fr-FR" sz="1400" dirty="0" err="1"/>
              <a:t>nsecure</a:t>
            </a:r>
            <a:r>
              <a:rPr lang="fr-FR" sz="1400" dirty="0"/>
              <a:t> </a:t>
            </a:r>
            <a:r>
              <a:rPr lang="fr-FR" sz="1400" b="1" u="sng" dirty="0"/>
              <a:t>D</a:t>
            </a:r>
            <a:r>
              <a:rPr lang="fr-FR" sz="1400" dirty="0"/>
              <a:t>irect </a:t>
            </a:r>
            <a:r>
              <a:rPr lang="fr-FR" sz="1400" b="1" u="sng" dirty="0"/>
              <a:t>O</a:t>
            </a:r>
            <a:r>
              <a:rPr lang="fr-FR" sz="1400" dirty="0"/>
              <a:t>bject </a:t>
            </a:r>
            <a:r>
              <a:rPr lang="fr-FR" sz="1400" b="1" u="sng" dirty="0"/>
              <a:t>R</a:t>
            </a:r>
            <a:r>
              <a:rPr lang="fr-FR" sz="1400" dirty="0"/>
              <a:t>eference) : la forme la plus fréquente et la plus simple à exploiter</a:t>
            </a:r>
          </a:p>
          <a:p>
            <a:pPr lvl="1">
              <a:lnSpc>
                <a:spcPct val="90000"/>
              </a:lnSpc>
            </a:pPr>
            <a:r>
              <a:rPr lang="fr-FR" sz="1400" dirty="0"/>
              <a:t>Il faut distinguer la différence entre l’authentification (qui vous êtes) et l’autorisation (avez-vous le droit d’accès à cette ressource)</a:t>
            </a:r>
          </a:p>
          <a:p>
            <a:pPr lvl="1">
              <a:lnSpc>
                <a:spcPct val="90000"/>
              </a:lnSpc>
            </a:pPr>
            <a:r>
              <a:rPr lang="fr-FR" sz="1400" u="sng" dirty="0"/>
              <a:t>Exemple</a:t>
            </a:r>
            <a:r>
              <a:rPr lang="fr-FR" sz="1400" dirty="0"/>
              <a:t> : « </a:t>
            </a:r>
            <a:r>
              <a:rPr lang="fr-FR" sz="1400" b="1" dirty="0"/>
              <a:t>GET /api/</a:t>
            </a:r>
            <a:r>
              <a:rPr lang="fr-FR" sz="1400" b="1" dirty="0" err="1"/>
              <a:t>orders</a:t>
            </a:r>
            <a:r>
              <a:rPr lang="fr-FR" sz="1400" b="1" dirty="0"/>
              <a:t>/1234</a:t>
            </a:r>
            <a:r>
              <a:rPr lang="fr-FR" sz="1400" dirty="0"/>
              <a:t> » ; si on change l’ID passé en paramètre, ici « 123 », et qu’aucune vérification n’est faites sur cette route, alors on peut accéder à des données d’un autre client</a:t>
            </a:r>
          </a:p>
          <a:p>
            <a:pPr lvl="1">
              <a:lnSpc>
                <a:spcPct val="90000"/>
              </a:lnSpc>
            </a:pPr>
            <a:r>
              <a:rPr lang="fr-FR" sz="1400" u="sng" dirty="0"/>
              <a:t>Exemple</a:t>
            </a:r>
            <a:r>
              <a:rPr lang="fr-FR" sz="1400" dirty="0"/>
              <a:t> : « </a:t>
            </a:r>
            <a:r>
              <a:rPr lang="fr-FR" sz="1400" b="1" dirty="0"/>
              <a:t>?file=invoice_1000.pdf</a:t>
            </a:r>
            <a:r>
              <a:rPr lang="fr-FR" sz="1400" dirty="0"/>
              <a:t> » ; si on change le nom du fichier PDF, on peut accéder à un document d’un autre utilisateur</a:t>
            </a:r>
          </a:p>
          <a:p>
            <a:pPr lvl="1">
              <a:lnSpc>
                <a:spcPct val="90000"/>
              </a:lnSpc>
            </a:pPr>
            <a:endParaRPr lang="fr-FR" sz="1400" dirty="0"/>
          </a:p>
          <a:p>
            <a:pPr lvl="1">
              <a:lnSpc>
                <a:spcPct val="90000"/>
              </a:lnSpc>
            </a:pPr>
            <a:endParaRPr lang="fr-FR" sz="1400" dirty="0"/>
          </a:p>
        </p:txBody>
      </p:sp>
    </p:spTree>
    <p:extLst>
      <p:ext uri="{BB962C8B-B14F-4D97-AF65-F5344CB8AC3E}">
        <p14:creationId xmlns:p14="http://schemas.microsoft.com/office/powerpoint/2010/main" val="3490941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1B89B7-BEB4-6B36-4D31-AF479F7E7BA9}"/>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B8F3A94-BB3F-0919-872F-64B655760A9B}"/>
              </a:ext>
            </a:extLst>
          </p:cNvPr>
          <p:cNvSpPr>
            <a:spLocks noGrp="1"/>
          </p:cNvSpPr>
          <p:nvPr>
            <p:ph type="title"/>
          </p:nvPr>
        </p:nvSpPr>
        <p:spPr>
          <a:xfrm>
            <a:off x="1333502" y="609600"/>
            <a:ext cx="8596668" cy="1320800"/>
          </a:xfrm>
        </p:spPr>
        <p:txBody>
          <a:bodyPr>
            <a:normAutofit/>
          </a:bodyPr>
          <a:lstStyle/>
          <a:p>
            <a:r>
              <a:rPr lang="fr-FR" dirty="0"/>
              <a:t>VOTERS SYMFONY</a:t>
            </a:r>
          </a:p>
        </p:txBody>
      </p:sp>
      <p:sp>
        <p:nvSpPr>
          <p:cNvPr id="31" name="Isosceles Triangle 30">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B7A83F0A-0161-0DDF-DDD2-C1C3F0C93C6E}"/>
              </a:ext>
            </a:extLst>
          </p:cNvPr>
          <p:cNvSpPr>
            <a:spLocks noGrp="1"/>
          </p:cNvSpPr>
          <p:nvPr>
            <p:ph idx="1"/>
          </p:nvPr>
        </p:nvSpPr>
        <p:spPr>
          <a:xfrm>
            <a:off x="1333502" y="2160589"/>
            <a:ext cx="8596668" cy="3880773"/>
          </a:xfrm>
        </p:spPr>
        <p:txBody>
          <a:bodyPr>
            <a:normAutofit lnSpcReduction="10000"/>
          </a:bodyPr>
          <a:lstStyle/>
          <a:p>
            <a:r>
              <a:rPr lang="fr-FR" dirty="0"/>
              <a:t>Une classe dédiée par type de ressource, réutilisable partout dans l’application</a:t>
            </a:r>
          </a:p>
          <a:p>
            <a:pPr lvl="1"/>
            <a:r>
              <a:rPr lang="fr-FR" dirty="0" err="1"/>
              <a:t>Extends</a:t>
            </a:r>
            <a:r>
              <a:rPr lang="fr-FR" dirty="0"/>
              <a:t> « </a:t>
            </a:r>
            <a:r>
              <a:rPr lang="fr-FR" b="1" dirty="0"/>
              <a:t>Voter</a:t>
            </a:r>
            <a:r>
              <a:rPr lang="fr-FR" dirty="0"/>
              <a:t> »</a:t>
            </a:r>
          </a:p>
          <a:p>
            <a:pPr marL="0" indent="0">
              <a:buNone/>
            </a:pPr>
            <a:endParaRPr lang="fr-FR" dirty="0"/>
          </a:p>
          <a:p>
            <a:r>
              <a:rPr lang="fr-FR" dirty="0"/>
              <a:t>Appelé via « </a:t>
            </a:r>
            <a:r>
              <a:rPr lang="fr-FR" b="1" dirty="0" err="1"/>
              <a:t>isGranted</a:t>
            </a:r>
            <a:r>
              <a:rPr lang="fr-FR" b="1" dirty="0"/>
              <a:t>()</a:t>
            </a:r>
            <a:r>
              <a:rPr lang="fr-FR" dirty="0"/>
              <a:t> » ou « </a:t>
            </a:r>
            <a:r>
              <a:rPr lang="fr-FR" b="1" dirty="0" err="1"/>
              <a:t>denyAccessUnlessGranted</a:t>
            </a:r>
            <a:r>
              <a:rPr lang="fr-FR" b="1" dirty="0"/>
              <a:t>()</a:t>
            </a:r>
            <a:r>
              <a:rPr lang="fr-FR" dirty="0"/>
              <a:t> »</a:t>
            </a:r>
          </a:p>
          <a:p>
            <a:pPr lvl="1"/>
            <a:r>
              <a:rPr lang="fr-FR" dirty="0"/>
              <a:t>Utilisation d’attribut PHP « </a:t>
            </a:r>
            <a:r>
              <a:rPr lang="fr-FR" b="1" dirty="0"/>
              <a:t>#[IsGranted()] </a:t>
            </a:r>
            <a:r>
              <a:rPr lang="fr-FR" dirty="0"/>
              <a:t>» depuis Symfony 6.2</a:t>
            </a:r>
          </a:p>
          <a:p>
            <a:pPr lvl="1"/>
            <a:endParaRPr lang="fr-FR" dirty="0"/>
          </a:p>
          <a:p>
            <a:r>
              <a:rPr lang="fr-FR" dirty="0"/>
              <a:t>Lorsque l’on fait un « </a:t>
            </a:r>
            <a:r>
              <a:rPr lang="fr-FR" b="1" dirty="0" err="1"/>
              <a:t>isGranted</a:t>
            </a:r>
            <a:r>
              <a:rPr lang="fr-FR" b="1" dirty="0"/>
              <a:t>()</a:t>
            </a:r>
            <a:r>
              <a:rPr lang="fr-FR" dirty="0"/>
              <a:t> », tous les </a:t>
            </a:r>
            <a:r>
              <a:rPr lang="fr-FR" b="1" dirty="0" err="1"/>
              <a:t>Voters</a:t>
            </a:r>
            <a:r>
              <a:rPr lang="fr-FR" dirty="0"/>
              <a:t> enregistrés sont appelés un à un</a:t>
            </a:r>
          </a:p>
          <a:p>
            <a:pPr lvl="1"/>
            <a:r>
              <a:rPr lang="fr-FR" dirty="0"/>
              <a:t>« </a:t>
            </a:r>
            <a:r>
              <a:rPr lang="fr-FR" b="1" dirty="0"/>
              <a:t>supports()</a:t>
            </a:r>
            <a:r>
              <a:rPr lang="fr-FR" dirty="0"/>
              <a:t> » : «  Ce Voter doit-il se prononcer sur cette demande ? »</a:t>
            </a:r>
          </a:p>
          <a:p>
            <a:pPr lvl="1"/>
            <a:r>
              <a:rPr lang="fr-FR" dirty="0"/>
              <a:t>« </a:t>
            </a:r>
            <a:r>
              <a:rPr lang="fr-FR" b="1" dirty="0" err="1"/>
              <a:t>voteOnAttribute</a:t>
            </a:r>
            <a:r>
              <a:rPr lang="fr-FR" b="1" dirty="0"/>
              <a:t>()</a:t>
            </a:r>
            <a:r>
              <a:rPr lang="fr-FR" dirty="0"/>
              <a:t> » : appelé uniquement si « </a:t>
            </a:r>
            <a:r>
              <a:rPr lang="fr-FR" b="1" dirty="0"/>
              <a:t>supports()</a:t>
            </a:r>
            <a:r>
              <a:rPr lang="fr-FR" dirty="0"/>
              <a:t> » a retourné « </a:t>
            </a:r>
            <a:r>
              <a:rPr lang="fr-FR" b="1" dirty="0" err="1"/>
              <a:t>true</a:t>
            </a:r>
            <a:r>
              <a:rPr lang="fr-FR" dirty="0"/>
              <a:t> »</a:t>
            </a:r>
          </a:p>
          <a:p>
            <a:endParaRPr lang="fr-FR" dirty="0"/>
          </a:p>
        </p:txBody>
      </p:sp>
      <p:sp>
        <p:nvSpPr>
          <p:cNvPr id="33" name="Isosceles Triangle 32">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16284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6849FA-7D92-A23E-EA21-BB41536AE69C}"/>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1F9CF0D-1008-321E-29C6-DC6A83A14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C23B57C-0C55-CE2E-E5B9-4B57BAAB4FDA}"/>
              </a:ext>
            </a:extLst>
          </p:cNvPr>
          <p:cNvSpPr>
            <a:spLocks noGrp="1"/>
          </p:cNvSpPr>
          <p:nvPr>
            <p:ph type="title"/>
          </p:nvPr>
        </p:nvSpPr>
        <p:spPr>
          <a:xfrm>
            <a:off x="1333502" y="609600"/>
            <a:ext cx="8596668" cy="1320800"/>
          </a:xfrm>
        </p:spPr>
        <p:txBody>
          <a:bodyPr>
            <a:normAutofit/>
          </a:bodyPr>
          <a:lstStyle/>
          <a:p>
            <a:r>
              <a:rPr lang="fr-FR" dirty="0"/>
              <a:t>CRÉATION D’UN VOTER</a:t>
            </a:r>
          </a:p>
        </p:txBody>
      </p:sp>
      <p:sp>
        <p:nvSpPr>
          <p:cNvPr id="31" name="Isosceles Triangle 30">
            <a:extLst>
              <a:ext uri="{FF2B5EF4-FFF2-40B4-BE49-F238E27FC236}">
                <a16:creationId xmlns:a16="http://schemas.microsoft.com/office/drawing/2014/main" id="{153BABDB-9AF4-F03E-DCB3-EC6EF55B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3" name="Isosceles Triangle 32">
            <a:extLst>
              <a:ext uri="{FF2B5EF4-FFF2-40B4-BE49-F238E27FC236}">
                <a16:creationId xmlns:a16="http://schemas.microsoft.com/office/drawing/2014/main" id="{448DF545-2D23-8A3D-9B5F-019C94D2B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ZoneTexte 5">
            <a:extLst>
              <a:ext uri="{FF2B5EF4-FFF2-40B4-BE49-F238E27FC236}">
                <a16:creationId xmlns:a16="http://schemas.microsoft.com/office/drawing/2014/main" id="{12539099-71B4-DB7A-73AD-642BD8DE3A5E}"/>
              </a:ext>
            </a:extLst>
          </p:cNvPr>
          <p:cNvSpPr txBox="1"/>
          <p:nvPr/>
        </p:nvSpPr>
        <p:spPr>
          <a:xfrm>
            <a:off x="842597" y="1742281"/>
            <a:ext cx="10819119" cy="4524315"/>
          </a:xfrm>
          <a:prstGeom prst="rect">
            <a:avLst/>
          </a:prstGeom>
          <a:solidFill>
            <a:schemeClr val="bg2"/>
          </a:solidFill>
          <a:ln>
            <a:solidFill>
              <a:schemeClr val="tx1"/>
            </a:solidFill>
          </a:ln>
        </p:spPr>
        <p:txBody>
          <a:bodyPr wrap="square">
            <a:spAutoFit/>
          </a:bodyPr>
          <a:lstStyle/>
          <a:p>
            <a:r>
              <a:rPr lang="fr-FR" dirty="0"/>
              <a:t>class </a:t>
            </a:r>
            <a:r>
              <a:rPr lang="fr-FR" dirty="0" err="1"/>
              <a:t>OrderVoter</a:t>
            </a:r>
            <a:r>
              <a:rPr lang="fr-FR" dirty="0"/>
              <a:t> </a:t>
            </a:r>
            <a:r>
              <a:rPr lang="fr-FR" dirty="0" err="1"/>
              <a:t>extends</a:t>
            </a:r>
            <a:r>
              <a:rPr lang="fr-FR" dirty="0"/>
              <a:t> Voter</a:t>
            </a:r>
          </a:p>
          <a:p>
            <a:r>
              <a:rPr lang="fr-FR" dirty="0"/>
              <a:t>{</a:t>
            </a:r>
            <a:br>
              <a:rPr lang="fr-FR" dirty="0"/>
            </a:br>
            <a:endParaRPr lang="fr-FR" dirty="0"/>
          </a:p>
          <a:p>
            <a:r>
              <a:rPr lang="fr-FR" dirty="0"/>
              <a:t>    public </a:t>
            </a:r>
            <a:r>
              <a:rPr lang="fr-FR" dirty="0" err="1"/>
              <a:t>const</a:t>
            </a:r>
            <a:r>
              <a:rPr lang="fr-FR" dirty="0"/>
              <a:t> VIEW = 'VIEW';</a:t>
            </a:r>
            <a:br>
              <a:rPr lang="fr-FR" dirty="0"/>
            </a:br>
            <a:endParaRPr lang="fr-FR" dirty="0"/>
          </a:p>
          <a:p>
            <a:r>
              <a:rPr lang="fr-FR" dirty="0"/>
              <a:t>    </a:t>
            </a:r>
            <a:r>
              <a:rPr lang="fr-FR" dirty="0" err="1"/>
              <a:t>protected</a:t>
            </a:r>
            <a:r>
              <a:rPr lang="fr-FR" dirty="0"/>
              <a:t> </a:t>
            </a:r>
            <a:r>
              <a:rPr lang="fr-FR" dirty="0" err="1"/>
              <a:t>function</a:t>
            </a:r>
            <a:r>
              <a:rPr lang="fr-FR" dirty="0"/>
              <a:t> supports(string $</a:t>
            </a:r>
            <a:r>
              <a:rPr lang="fr-FR" dirty="0" err="1"/>
              <a:t>attribute</a:t>
            </a:r>
            <a:r>
              <a:rPr lang="fr-FR" dirty="0"/>
              <a:t>, mixed $</a:t>
            </a:r>
            <a:r>
              <a:rPr lang="fr-FR" dirty="0" err="1"/>
              <a:t>subject</a:t>
            </a:r>
            <a:r>
              <a:rPr lang="fr-FR" dirty="0"/>
              <a:t>): </a:t>
            </a:r>
            <a:r>
              <a:rPr lang="fr-FR" dirty="0" err="1"/>
              <a:t>bool</a:t>
            </a:r>
            <a:endParaRPr lang="fr-FR" dirty="0"/>
          </a:p>
          <a:p>
            <a:r>
              <a:rPr lang="fr-FR" dirty="0"/>
              <a:t>    {</a:t>
            </a:r>
          </a:p>
          <a:p>
            <a:r>
              <a:rPr lang="fr-FR" dirty="0"/>
              <a:t>        return $</a:t>
            </a:r>
            <a:r>
              <a:rPr lang="fr-FR" dirty="0" err="1"/>
              <a:t>attribute</a:t>
            </a:r>
            <a:r>
              <a:rPr lang="fr-FR" dirty="0"/>
              <a:t> === self::VIEW &amp;&amp; $</a:t>
            </a:r>
            <a:r>
              <a:rPr lang="fr-FR" dirty="0" err="1"/>
              <a:t>subject</a:t>
            </a:r>
            <a:r>
              <a:rPr lang="fr-FR" dirty="0"/>
              <a:t> </a:t>
            </a:r>
            <a:r>
              <a:rPr lang="fr-FR" dirty="0" err="1"/>
              <a:t>instanceof</a:t>
            </a:r>
            <a:r>
              <a:rPr lang="fr-FR" dirty="0"/>
              <a:t> </a:t>
            </a:r>
            <a:r>
              <a:rPr lang="fr-FR" dirty="0" err="1"/>
              <a:t>Order</a:t>
            </a:r>
            <a:r>
              <a:rPr lang="fr-FR" dirty="0"/>
              <a:t>;</a:t>
            </a:r>
          </a:p>
          <a:p>
            <a:r>
              <a:rPr lang="fr-FR" dirty="0"/>
              <a:t>    }</a:t>
            </a:r>
          </a:p>
          <a:p>
            <a:endParaRPr lang="fr-FR" dirty="0"/>
          </a:p>
          <a:p>
            <a:r>
              <a:rPr lang="fr-FR" dirty="0"/>
              <a:t>    </a:t>
            </a:r>
            <a:r>
              <a:rPr lang="fr-FR" dirty="0" err="1"/>
              <a:t>protected</a:t>
            </a:r>
            <a:r>
              <a:rPr lang="fr-FR" dirty="0"/>
              <a:t> </a:t>
            </a:r>
            <a:r>
              <a:rPr lang="fr-FR" dirty="0" err="1"/>
              <a:t>function</a:t>
            </a:r>
            <a:r>
              <a:rPr lang="fr-FR" dirty="0"/>
              <a:t> </a:t>
            </a:r>
            <a:r>
              <a:rPr lang="fr-FR" dirty="0" err="1"/>
              <a:t>voteOnAttribute</a:t>
            </a:r>
            <a:r>
              <a:rPr lang="fr-FR" dirty="0"/>
              <a:t>(string $</a:t>
            </a:r>
            <a:r>
              <a:rPr lang="fr-FR" dirty="0" err="1"/>
              <a:t>attribute</a:t>
            </a:r>
            <a:r>
              <a:rPr lang="fr-FR" dirty="0"/>
              <a:t>, mixed $</a:t>
            </a:r>
            <a:r>
              <a:rPr lang="fr-FR" dirty="0" err="1"/>
              <a:t>subject</a:t>
            </a:r>
            <a:r>
              <a:rPr lang="fr-FR" dirty="0"/>
              <a:t>, </a:t>
            </a:r>
            <a:r>
              <a:rPr lang="fr-FR" dirty="0" err="1"/>
              <a:t>TokenInterface</a:t>
            </a:r>
            <a:r>
              <a:rPr lang="fr-FR" dirty="0"/>
              <a:t> $</a:t>
            </a:r>
            <a:r>
              <a:rPr lang="fr-FR" dirty="0" err="1"/>
              <a:t>token</a:t>
            </a:r>
            <a:r>
              <a:rPr lang="fr-FR" dirty="0"/>
              <a:t>): </a:t>
            </a:r>
            <a:r>
              <a:rPr lang="fr-FR" dirty="0" err="1"/>
              <a:t>bool</a:t>
            </a:r>
            <a:endParaRPr lang="fr-FR" dirty="0"/>
          </a:p>
          <a:p>
            <a:r>
              <a:rPr lang="fr-FR" dirty="0"/>
              <a:t>    {</a:t>
            </a:r>
          </a:p>
          <a:p>
            <a:r>
              <a:rPr lang="fr-FR" dirty="0"/>
              <a:t>        $user = $</a:t>
            </a:r>
            <a:r>
              <a:rPr lang="fr-FR" dirty="0" err="1"/>
              <a:t>token</a:t>
            </a:r>
            <a:r>
              <a:rPr lang="fr-FR" dirty="0"/>
              <a:t>-&gt;</a:t>
            </a:r>
            <a:r>
              <a:rPr lang="fr-FR" dirty="0" err="1"/>
              <a:t>getUser</a:t>
            </a:r>
            <a:r>
              <a:rPr lang="fr-FR" dirty="0"/>
              <a:t>();</a:t>
            </a:r>
          </a:p>
          <a:p>
            <a:r>
              <a:rPr lang="fr-FR" dirty="0"/>
              <a:t>        return $</a:t>
            </a:r>
            <a:r>
              <a:rPr lang="fr-FR" dirty="0" err="1"/>
              <a:t>subject</a:t>
            </a:r>
            <a:r>
              <a:rPr lang="fr-FR" dirty="0"/>
              <a:t>-&gt;</a:t>
            </a:r>
            <a:r>
              <a:rPr lang="fr-FR" dirty="0" err="1"/>
              <a:t>getOwner</a:t>
            </a:r>
            <a:r>
              <a:rPr lang="fr-FR" dirty="0"/>
              <a:t>() === $user;</a:t>
            </a:r>
          </a:p>
          <a:p>
            <a:r>
              <a:rPr lang="fr-FR" dirty="0"/>
              <a:t>    }</a:t>
            </a:r>
          </a:p>
          <a:p>
            <a:r>
              <a:rPr lang="fr-FR" dirty="0"/>
              <a:t>}</a:t>
            </a:r>
          </a:p>
        </p:txBody>
      </p:sp>
    </p:spTree>
    <p:extLst>
      <p:ext uri="{BB962C8B-B14F-4D97-AF65-F5344CB8AC3E}">
        <p14:creationId xmlns:p14="http://schemas.microsoft.com/office/powerpoint/2010/main" val="900291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404EFC-FD32-209B-B49F-3A09FC669004}"/>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CBE4E6F0-85C5-768A-0F8E-1ABEB76EB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F0065AC-88C4-CB07-2C76-53214A14ACA5}"/>
              </a:ext>
            </a:extLst>
          </p:cNvPr>
          <p:cNvSpPr>
            <a:spLocks noGrp="1"/>
          </p:cNvSpPr>
          <p:nvPr>
            <p:ph type="title"/>
          </p:nvPr>
        </p:nvSpPr>
        <p:spPr>
          <a:xfrm>
            <a:off x="1333502" y="609600"/>
            <a:ext cx="8596668" cy="1320800"/>
          </a:xfrm>
        </p:spPr>
        <p:txBody>
          <a:bodyPr>
            <a:normAutofit/>
          </a:bodyPr>
          <a:lstStyle/>
          <a:p>
            <a:r>
              <a:rPr lang="fr-FR" dirty="0"/>
              <a:t>UTILISATION D’UN VOTER</a:t>
            </a:r>
          </a:p>
        </p:txBody>
      </p:sp>
      <p:sp>
        <p:nvSpPr>
          <p:cNvPr id="31" name="Isosceles Triangle 30">
            <a:extLst>
              <a:ext uri="{FF2B5EF4-FFF2-40B4-BE49-F238E27FC236}">
                <a16:creationId xmlns:a16="http://schemas.microsoft.com/office/drawing/2014/main" id="{CC781D53-2C31-DE74-447A-509109EC2F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3" name="Isosceles Triangle 32">
            <a:extLst>
              <a:ext uri="{FF2B5EF4-FFF2-40B4-BE49-F238E27FC236}">
                <a16:creationId xmlns:a16="http://schemas.microsoft.com/office/drawing/2014/main" id="{032BAF4A-B072-D777-B46D-DDBD9F4C1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ZoneTexte 5">
            <a:extLst>
              <a:ext uri="{FF2B5EF4-FFF2-40B4-BE49-F238E27FC236}">
                <a16:creationId xmlns:a16="http://schemas.microsoft.com/office/drawing/2014/main" id="{644DE660-7A4C-0416-F0F6-4C4E663E1E8A}"/>
              </a:ext>
            </a:extLst>
          </p:cNvPr>
          <p:cNvSpPr txBox="1"/>
          <p:nvPr/>
        </p:nvSpPr>
        <p:spPr>
          <a:xfrm>
            <a:off x="1333502" y="2072813"/>
            <a:ext cx="5522692" cy="369332"/>
          </a:xfrm>
          <a:prstGeom prst="rect">
            <a:avLst/>
          </a:prstGeom>
          <a:solidFill>
            <a:schemeClr val="bg2"/>
          </a:solidFill>
          <a:ln>
            <a:solidFill>
              <a:schemeClr val="tx1"/>
            </a:solidFill>
          </a:ln>
        </p:spPr>
        <p:txBody>
          <a:bodyPr wrap="square">
            <a:spAutoFit/>
          </a:bodyPr>
          <a:lstStyle/>
          <a:p>
            <a:r>
              <a:rPr lang="fr-FR" dirty="0"/>
              <a:t>#[IsGranted(OrderVoter::</a:t>
            </a:r>
            <a:r>
              <a:rPr lang="fr-FR" i="1" dirty="0"/>
              <a:t>VIEW</a:t>
            </a:r>
            <a:r>
              <a:rPr lang="fr-FR" dirty="0"/>
              <a:t>, </a:t>
            </a:r>
            <a:r>
              <a:rPr lang="fr-FR" dirty="0" err="1"/>
              <a:t>subject</a:t>
            </a:r>
            <a:r>
              <a:rPr lang="fr-FR" dirty="0"/>
              <a:t>: 'post')]</a:t>
            </a:r>
          </a:p>
        </p:txBody>
      </p:sp>
      <p:sp>
        <p:nvSpPr>
          <p:cNvPr id="3" name="Espace réservé du contenu 2">
            <a:extLst>
              <a:ext uri="{FF2B5EF4-FFF2-40B4-BE49-F238E27FC236}">
                <a16:creationId xmlns:a16="http://schemas.microsoft.com/office/drawing/2014/main" id="{89AA9DC8-5C06-393C-4E35-CF2920C361CF}"/>
              </a:ext>
            </a:extLst>
          </p:cNvPr>
          <p:cNvSpPr>
            <a:spLocks noGrp="1"/>
          </p:cNvSpPr>
          <p:nvPr>
            <p:ph idx="1"/>
          </p:nvPr>
        </p:nvSpPr>
        <p:spPr>
          <a:xfrm>
            <a:off x="1333502" y="2072813"/>
            <a:ext cx="8596668" cy="3880773"/>
          </a:xfrm>
        </p:spPr>
        <p:txBody>
          <a:bodyPr>
            <a:normAutofit/>
          </a:bodyPr>
          <a:lstStyle/>
          <a:p>
            <a:pPr marL="457200" lvl="1" indent="0">
              <a:buNone/>
            </a:pPr>
            <a:endParaRPr lang="fr-FR" dirty="0"/>
          </a:p>
          <a:p>
            <a:pPr marL="457200" lvl="1" indent="0">
              <a:buNone/>
            </a:pPr>
            <a:endParaRPr lang="fr-FR" dirty="0"/>
          </a:p>
          <a:p>
            <a:r>
              <a:rPr lang="fr-FR" dirty="0"/>
              <a:t>Le premier paramètre est l’« </a:t>
            </a:r>
            <a:r>
              <a:rPr lang="fr-FR" b="1" dirty="0" err="1"/>
              <a:t>attribute</a:t>
            </a:r>
            <a:r>
              <a:rPr lang="fr-FR" dirty="0"/>
              <a:t> »</a:t>
            </a:r>
          </a:p>
          <a:p>
            <a:r>
              <a:rPr lang="fr-FR" dirty="0"/>
              <a:t>Le deuxième paramètre est le « </a:t>
            </a:r>
            <a:r>
              <a:rPr lang="fr-FR" b="1" dirty="0" err="1"/>
              <a:t>subject</a:t>
            </a:r>
            <a:r>
              <a:rPr lang="fr-FR" dirty="0"/>
              <a:t> », l’entité dont on souhaite vérifier l’accès</a:t>
            </a:r>
          </a:p>
          <a:p>
            <a:r>
              <a:rPr lang="fr-FR" dirty="0"/>
              <a:t>Même dans le cas d’un seul attribut, comme ici </a:t>
            </a:r>
            <a:r>
              <a:rPr lang="fr-FR" b="1" dirty="0"/>
              <a:t>VIEW</a:t>
            </a:r>
            <a:r>
              <a:rPr lang="fr-FR" dirty="0"/>
              <a:t>, </a:t>
            </a:r>
            <a:r>
              <a:rPr lang="fr-FR" b="1" dirty="0"/>
              <a:t> </a:t>
            </a:r>
            <a:r>
              <a:rPr lang="fr-FR" dirty="0"/>
              <a:t>on centralise la logique à un seul endroit. De plus cela permet de mieux gérer les évolutions, comme un cas « </a:t>
            </a:r>
            <a:r>
              <a:rPr lang="fr-FR" b="1" dirty="0"/>
              <a:t>EDIT</a:t>
            </a:r>
            <a:r>
              <a:rPr lang="fr-FR" dirty="0"/>
              <a:t> » ou « </a:t>
            </a:r>
            <a:r>
              <a:rPr lang="fr-FR" b="1" dirty="0"/>
              <a:t>DELETE</a:t>
            </a:r>
            <a:r>
              <a:rPr lang="fr-FR" dirty="0"/>
              <a:t> »</a:t>
            </a:r>
            <a:endParaRPr lang="fr-FR" b="1" dirty="0"/>
          </a:p>
        </p:txBody>
      </p:sp>
    </p:spTree>
    <p:extLst>
      <p:ext uri="{BB962C8B-B14F-4D97-AF65-F5344CB8AC3E}">
        <p14:creationId xmlns:p14="http://schemas.microsoft.com/office/powerpoint/2010/main" val="2828015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755E86-FEAD-38AA-F0E7-1ECB57E32A58}"/>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FE0A6A9-05EA-40B0-4DB4-D8B069B48715}"/>
              </a:ext>
            </a:extLst>
          </p:cNvPr>
          <p:cNvSpPr>
            <a:spLocks noGrp="1"/>
          </p:cNvSpPr>
          <p:nvPr>
            <p:ph type="title"/>
          </p:nvPr>
        </p:nvSpPr>
        <p:spPr>
          <a:xfrm>
            <a:off x="1043950" y="1179151"/>
            <a:ext cx="3300646" cy="4463889"/>
          </a:xfrm>
        </p:spPr>
        <p:txBody>
          <a:bodyPr anchor="ctr">
            <a:normAutofit/>
          </a:bodyPr>
          <a:lstStyle/>
          <a:p>
            <a:r>
              <a:rPr lang="fr-FR" dirty="0"/>
              <a:t>SÉCURITÉ DES API</a:t>
            </a:r>
          </a:p>
        </p:txBody>
      </p:sp>
      <p:sp>
        <p:nvSpPr>
          <p:cNvPr id="40" name="Isosceles Triangle 3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42" name="Straight Connector 4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9" name="Espace réservé du contenu 2">
            <a:extLst>
              <a:ext uri="{FF2B5EF4-FFF2-40B4-BE49-F238E27FC236}">
                <a16:creationId xmlns:a16="http://schemas.microsoft.com/office/drawing/2014/main" id="{0595DF02-10CB-6FD1-7D6C-290621F621D7}"/>
              </a:ext>
            </a:extLst>
          </p:cNvPr>
          <p:cNvSpPr>
            <a:spLocks noGrp="1"/>
          </p:cNvSpPr>
          <p:nvPr>
            <p:ph idx="1"/>
          </p:nvPr>
        </p:nvSpPr>
        <p:spPr>
          <a:xfrm>
            <a:off x="4968745" y="1553282"/>
            <a:ext cx="6341016" cy="4603900"/>
          </a:xfrm>
        </p:spPr>
        <p:txBody>
          <a:bodyPr anchor="ctr">
            <a:normAutofit/>
          </a:bodyPr>
          <a:lstStyle/>
          <a:p>
            <a:pPr>
              <a:lnSpc>
                <a:spcPct val="90000"/>
              </a:lnSpc>
            </a:pPr>
            <a:r>
              <a:rPr lang="fr-FR" sz="4400" dirty="0"/>
              <a:t> JWT</a:t>
            </a:r>
          </a:p>
          <a:p>
            <a:pPr>
              <a:lnSpc>
                <a:spcPct val="90000"/>
              </a:lnSpc>
            </a:pPr>
            <a:endParaRPr lang="fr-FR" sz="4400" dirty="0"/>
          </a:p>
          <a:p>
            <a:pPr>
              <a:lnSpc>
                <a:spcPct val="90000"/>
              </a:lnSpc>
            </a:pPr>
            <a:r>
              <a:rPr lang="fr-FR" sz="4400" dirty="0"/>
              <a:t> Quota</a:t>
            </a:r>
          </a:p>
          <a:p>
            <a:pPr lvl="1">
              <a:lnSpc>
                <a:spcPct val="90000"/>
              </a:lnSpc>
            </a:pPr>
            <a:endParaRPr lang="fr-FR" sz="4400" dirty="0"/>
          </a:p>
          <a:p>
            <a:pPr>
              <a:lnSpc>
                <a:spcPct val="90000"/>
              </a:lnSpc>
            </a:pPr>
            <a:endParaRPr lang="fr-FR" sz="4400" dirty="0"/>
          </a:p>
        </p:txBody>
      </p:sp>
      <p:sp>
        <p:nvSpPr>
          <p:cNvPr id="44" name="Isosceles Triangle 4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638630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CD77BE-6B2E-5518-4317-4A322FF30CD3}"/>
            </a:ext>
          </a:extLst>
        </p:cNvPr>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4F98D0E-2E4A-23FC-6BE3-37FFCB740DA9}"/>
              </a:ext>
            </a:extLst>
          </p:cNvPr>
          <p:cNvSpPr>
            <a:spLocks noGrp="1"/>
          </p:cNvSpPr>
          <p:nvPr>
            <p:ph type="title"/>
          </p:nvPr>
        </p:nvSpPr>
        <p:spPr>
          <a:xfrm>
            <a:off x="1333502" y="609600"/>
            <a:ext cx="8596668" cy="1320800"/>
          </a:xfrm>
        </p:spPr>
        <p:txBody>
          <a:bodyPr>
            <a:normAutofit/>
          </a:bodyPr>
          <a:lstStyle/>
          <a:p>
            <a:r>
              <a:rPr lang="fr-FR" dirty="0"/>
              <a:t>SÉCURITÉ DES API : JWT</a:t>
            </a:r>
          </a:p>
        </p:txBody>
      </p:sp>
      <p:sp>
        <p:nvSpPr>
          <p:cNvPr id="51" name="Isosceles Triangle 50">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C9FD057B-DFB1-1743-DF79-061262399A10}"/>
              </a:ext>
            </a:extLst>
          </p:cNvPr>
          <p:cNvSpPr>
            <a:spLocks noGrp="1"/>
          </p:cNvSpPr>
          <p:nvPr>
            <p:ph idx="1"/>
          </p:nvPr>
        </p:nvSpPr>
        <p:spPr>
          <a:xfrm>
            <a:off x="1333502" y="2160589"/>
            <a:ext cx="8596668" cy="3880773"/>
          </a:xfrm>
        </p:spPr>
        <p:txBody>
          <a:bodyPr>
            <a:normAutofit lnSpcReduction="10000"/>
          </a:bodyPr>
          <a:lstStyle/>
          <a:p>
            <a:pPr>
              <a:lnSpc>
                <a:spcPct val="90000"/>
              </a:lnSpc>
            </a:pPr>
            <a:r>
              <a:rPr lang="fr-FR" sz="1700"/>
              <a:t>Durée de vie courte, en général le </a:t>
            </a:r>
            <a:r>
              <a:rPr lang="fr-FR" sz="1700" err="1"/>
              <a:t>token</a:t>
            </a:r>
            <a:r>
              <a:rPr lang="fr-FR" sz="1700"/>
              <a:t> d’accès est valide de 5 à 15 minutes</a:t>
            </a:r>
          </a:p>
          <a:p>
            <a:pPr lvl="1">
              <a:lnSpc>
                <a:spcPct val="90000"/>
              </a:lnSpc>
            </a:pPr>
            <a:r>
              <a:rPr lang="fr-FR" sz="1700"/>
              <a:t>Réduit la marge de manœuvre s’il est intercepté</a:t>
            </a:r>
          </a:p>
          <a:p>
            <a:pPr>
              <a:lnSpc>
                <a:spcPct val="90000"/>
              </a:lnSpc>
            </a:pPr>
            <a:endParaRPr lang="fr-FR" sz="1700"/>
          </a:p>
          <a:p>
            <a:pPr>
              <a:lnSpc>
                <a:spcPct val="90000"/>
              </a:lnSpc>
            </a:pPr>
            <a:r>
              <a:rPr lang="fr-FR" sz="1700" b="1"/>
              <a:t>Jamais de données sensibles </a:t>
            </a:r>
            <a:r>
              <a:rPr lang="fr-FR" sz="1700"/>
              <a:t>dans le </a:t>
            </a:r>
            <a:r>
              <a:rPr lang="fr-FR" sz="1700" err="1"/>
              <a:t>payload</a:t>
            </a:r>
            <a:endParaRPr lang="fr-FR" sz="1700"/>
          </a:p>
          <a:p>
            <a:pPr lvl="1">
              <a:lnSpc>
                <a:spcPct val="90000"/>
              </a:lnSpc>
            </a:pPr>
            <a:r>
              <a:rPr lang="fr-FR" sz="1700"/>
              <a:t>Déchiffrable, on communique général l’identifiant utilisateur et les dates de validité</a:t>
            </a:r>
          </a:p>
          <a:p>
            <a:pPr lvl="1">
              <a:lnSpc>
                <a:spcPct val="90000"/>
              </a:lnSpc>
            </a:pPr>
            <a:r>
              <a:rPr lang="fr-FR" sz="1700"/>
              <a:t>Un </a:t>
            </a:r>
            <a:r>
              <a:rPr lang="fr-FR" sz="1700" err="1"/>
              <a:t>token</a:t>
            </a:r>
            <a:r>
              <a:rPr lang="fr-FR" sz="1700"/>
              <a:t> répond à un besoin : « </a:t>
            </a:r>
            <a:r>
              <a:rPr lang="fr-FR" sz="1700" b="1"/>
              <a:t>qui suis-je </a:t>
            </a:r>
            <a:r>
              <a:rPr lang="fr-FR" sz="1700"/>
              <a:t>», pas « </a:t>
            </a:r>
            <a:r>
              <a:rPr lang="fr-FR" sz="1700" b="1"/>
              <a:t>que puis je faire</a:t>
            </a:r>
            <a:r>
              <a:rPr lang="fr-FR" sz="1700"/>
              <a:t> »</a:t>
            </a:r>
          </a:p>
          <a:p>
            <a:pPr>
              <a:lnSpc>
                <a:spcPct val="90000"/>
              </a:lnSpc>
            </a:pPr>
            <a:endParaRPr lang="fr-FR" sz="1700"/>
          </a:p>
          <a:p>
            <a:pPr>
              <a:lnSpc>
                <a:spcPct val="90000"/>
              </a:lnSpc>
            </a:pPr>
            <a:r>
              <a:rPr lang="fr-FR" sz="1700"/>
              <a:t>Stockage : initialement en </a:t>
            </a:r>
            <a:r>
              <a:rPr lang="fr-FR" sz="1700" b="1" err="1"/>
              <a:t>localStorage</a:t>
            </a:r>
            <a:r>
              <a:rPr lang="fr-FR" sz="1700"/>
              <a:t>, préférer cookie en </a:t>
            </a:r>
            <a:r>
              <a:rPr lang="fr-FR" sz="1700" b="1" err="1"/>
              <a:t>HttpOnly</a:t>
            </a:r>
            <a:endParaRPr lang="fr-FR" sz="1700" b="1"/>
          </a:p>
          <a:p>
            <a:pPr lvl="1">
              <a:lnSpc>
                <a:spcPct val="90000"/>
              </a:lnSpc>
            </a:pPr>
            <a:r>
              <a:rPr lang="fr-FR" sz="1700"/>
              <a:t>N’importe quel script Javascript, ou XSS peut y accéder</a:t>
            </a:r>
          </a:p>
          <a:p>
            <a:pPr>
              <a:lnSpc>
                <a:spcPct val="90000"/>
              </a:lnSpc>
            </a:pPr>
            <a:endParaRPr lang="fr-FR" sz="1700" b="1"/>
          </a:p>
          <a:p>
            <a:pPr>
              <a:lnSpc>
                <a:spcPct val="90000"/>
              </a:lnSpc>
            </a:pPr>
            <a:r>
              <a:rPr lang="fr-FR" sz="1700"/>
              <a:t>Révocation : empêcher qu’un </a:t>
            </a:r>
            <a:r>
              <a:rPr lang="fr-FR" sz="1700" err="1"/>
              <a:t>token</a:t>
            </a:r>
            <a:r>
              <a:rPr lang="fr-FR" sz="1700"/>
              <a:t> normalement valide, soit accepté</a:t>
            </a:r>
          </a:p>
          <a:p>
            <a:pPr marL="457200" lvl="1" indent="0">
              <a:lnSpc>
                <a:spcPct val="90000"/>
              </a:lnSpc>
              <a:buNone/>
            </a:pPr>
            <a:endParaRPr lang="fr-FR" sz="1700"/>
          </a:p>
          <a:p>
            <a:pPr lvl="1">
              <a:lnSpc>
                <a:spcPct val="90000"/>
              </a:lnSpc>
            </a:pPr>
            <a:endParaRPr lang="fr-FR" sz="1700"/>
          </a:p>
          <a:p>
            <a:pPr>
              <a:lnSpc>
                <a:spcPct val="90000"/>
              </a:lnSpc>
            </a:pPr>
            <a:endParaRPr lang="fr-FR" sz="1700"/>
          </a:p>
        </p:txBody>
      </p:sp>
      <p:sp>
        <p:nvSpPr>
          <p:cNvPr id="53" name="Isosceles Triangle 52">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93563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ABBC99-D40E-C520-E545-EE3D6438FA23}"/>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FE0E8FAD-77FE-7825-D048-09D3C1305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112D354-DF83-2A77-C773-35079A43CA42}"/>
              </a:ext>
            </a:extLst>
          </p:cNvPr>
          <p:cNvSpPr>
            <a:spLocks noGrp="1"/>
          </p:cNvSpPr>
          <p:nvPr>
            <p:ph type="title"/>
          </p:nvPr>
        </p:nvSpPr>
        <p:spPr>
          <a:xfrm>
            <a:off x="1333501" y="609600"/>
            <a:ext cx="8596668" cy="1320800"/>
          </a:xfrm>
        </p:spPr>
        <p:txBody>
          <a:bodyPr>
            <a:normAutofit/>
          </a:bodyPr>
          <a:lstStyle/>
          <a:p>
            <a:r>
              <a:rPr lang="fr-FR" dirty="0"/>
              <a:t>CHIFFREMENT ET SIGNATURE</a:t>
            </a:r>
          </a:p>
        </p:txBody>
      </p:sp>
      <p:sp>
        <p:nvSpPr>
          <p:cNvPr id="58" name="Isosceles Triangle 57">
            <a:extLst>
              <a:ext uri="{FF2B5EF4-FFF2-40B4-BE49-F238E27FC236}">
                <a16:creationId xmlns:a16="http://schemas.microsoft.com/office/drawing/2014/main" id="{5D89510A-BEA9-B006-724A-9604CA01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C47EA703-A8AF-2377-D4FE-4F59EF2747D5}"/>
              </a:ext>
            </a:extLst>
          </p:cNvPr>
          <p:cNvSpPr>
            <a:spLocks noGrp="1"/>
          </p:cNvSpPr>
          <p:nvPr>
            <p:ph idx="1"/>
          </p:nvPr>
        </p:nvSpPr>
        <p:spPr>
          <a:xfrm>
            <a:off x="1333502" y="2168273"/>
            <a:ext cx="9173306" cy="4217159"/>
          </a:xfrm>
        </p:spPr>
        <p:txBody>
          <a:bodyPr>
            <a:normAutofit/>
          </a:bodyPr>
          <a:lstStyle/>
          <a:p>
            <a:pPr>
              <a:lnSpc>
                <a:spcPct val="100000"/>
              </a:lnSpc>
            </a:pPr>
            <a:r>
              <a:rPr lang="fr-FR" sz="1700" dirty="0"/>
              <a:t>Chiffrement : garantit la confidentialité, seul le destinataire légitime peut lire le contenu</a:t>
            </a:r>
          </a:p>
          <a:p>
            <a:pPr lvl="1"/>
            <a:r>
              <a:rPr lang="fr-FR" sz="1500" dirty="0"/>
              <a:t>« </a:t>
            </a:r>
            <a:r>
              <a:rPr lang="fr-FR" sz="1500" b="1" dirty="0"/>
              <a:t>Qui peut lire ce contenu ? </a:t>
            </a:r>
            <a:r>
              <a:rPr lang="fr-FR" sz="1500" dirty="0"/>
              <a:t>» ; le message devient illisible sans la clé de déchiffrement</a:t>
            </a:r>
          </a:p>
          <a:p>
            <a:pPr>
              <a:lnSpc>
                <a:spcPct val="100000"/>
              </a:lnSpc>
            </a:pPr>
            <a:endParaRPr lang="fr-FR" sz="1700" dirty="0"/>
          </a:p>
          <a:p>
            <a:pPr>
              <a:lnSpc>
                <a:spcPct val="100000"/>
              </a:lnSpc>
            </a:pPr>
            <a:r>
              <a:rPr lang="fr-FR" sz="1700" dirty="0"/>
              <a:t>Signature : garantit l’authenticité et l’intégrité, prouve qui a créé la donnée et qu’elle n’a pas été modifiée</a:t>
            </a:r>
          </a:p>
          <a:p>
            <a:pPr lvl="1"/>
            <a:r>
              <a:rPr lang="fr-FR" sz="1500" dirty="0"/>
              <a:t>« </a:t>
            </a:r>
            <a:r>
              <a:rPr lang="fr-FR" sz="1500" b="1" dirty="0"/>
              <a:t>Qui a créé ce contenu, et a-t-il été modifié depuis ? </a:t>
            </a:r>
            <a:r>
              <a:rPr lang="fr-FR" sz="1500" dirty="0"/>
              <a:t>» ; le message reste lisible, mais on peut vérifier son origine et son intégrité</a:t>
            </a:r>
          </a:p>
          <a:p>
            <a:pPr>
              <a:lnSpc>
                <a:spcPct val="100000"/>
              </a:lnSpc>
            </a:pPr>
            <a:endParaRPr lang="fr-FR" sz="1700" dirty="0"/>
          </a:p>
          <a:p>
            <a:pPr>
              <a:lnSpc>
                <a:spcPct val="100000"/>
              </a:lnSpc>
            </a:pPr>
            <a:r>
              <a:rPr lang="fr-FR" sz="1700" dirty="0"/>
              <a:t>Un JWT est signé, pas chiffré : son contenu reste lisible par tous</a:t>
            </a:r>
          </a:p>
        </p:txBody>
      </p:sp>
      <p:sp>
        <p:nvSpPr>
          <p:cNvPr id="60" name="Isosceles Triangle 59">
            <a:extLst>
              <a:ext uri="{FF2B5EF4-FFF2-40B4-BE49-F238E27FC236}">
                <a16:creationId xmlns:a16="http://schemas.microsoft.com/office/drawing/2014/main" id="{27527864-86A9-0C6C-22C6-B88725269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83733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DB1D5E-977C-C570-274C-218DB71109BF}"/>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59F7F967-7A2B-5EEF-F9F2-FDCD3E7CE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4F98C3D-770B-9C63-FC9C-D92CEE6E1C3C}"/>
              </a:ext>
            </a:extLst>
          </p:cNvPr>
          <p:cNvSpPr>
            <a:spLocks noGrp="1"/>
          </p:cNvSpPr>
          <p:nvPr>
            <p:ph type="title"/>
          </p:nvPr>
        </p:nvSpPr>
        <p:spPr>
          <a:xfrm>
            <a:off x="1333502" y="609600"/>
            <a:ext cx="8596668" cy="1320800"/>
          </a:xfrm>
        </p:spPr>
        <p:txBody>
          <a:bodyPr>
            <a:normAutofit/>
          </a:bodyPr>
          <a:lstStyle/>
          <a:p>
            <a:r>
              <a:rPr lang="fr-FR" dirty="0"/>
              <a:t>QUOTA ET RATE LIMIT</a:t>
            </a:r>
          </a:p>
        </p:txBody>
      </p:sp>
      <p:sp>
        <p:nvSpPr>
          <p:cNvPr id="31" name="Isosceles Triangle 30">
            <a:extLst>
              <a:ext uri="{FF2B5EF4-FFF2-40B4-BE49-F238E27FC236}">
                <a16:creationId xmlns:a16="http://schemas.microsoft.com/office/drawing/2014/main" id="{5FF7B248-BEE6-D76E-6E5F-86BC6EE8F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720908E6-DEE5-142C-005A-BD374394AFB2}"/>
              </a:ext>
            </a:extLst>
          </p:cNvPr>
          <p:cNvSpPr>
            <a:spLocks noGrp="1"/>
          </p:cNvSpPr>
          <p:nvPr>
            <p:ph idx="1"/>
          </p:nvPr>
        </p:nvSpPr>
        <p:spPr>
          <a:xfrm>
            <a:off x="1333501" y="2160590"/>
            <a:ext cx="8993839" cy="4087810"/>
          </a:xfrm>
        </p:spPr>
        <p:txBody>
          <a:bodyPr>
            <a:normAutofit/>
          </a:bodyPr>
          <a:lstStyle/>
          <a:p>
            <a:r>
              <a:rPr lang="fr-FR" dirty="0"/>
              <a:t>Même une faille bien protégée reste exploitable en masse, sans limite de requêtes</a:t>
            </a:r>
          </a:p>
          <a:p>
            <a:endParaRPr lang="fr-FR" dirty="0"/>
          </a:p>
          <a:p>
            <a:r>
              <a:rPr lang="fr-FR" b="1" dirty="0" err="1"/>
              <a:t>RateLimiter</a:t>
            </a:r>
            <a:r>
              <a:rPr lang="fr-FR" b="1" dirty="0"/>
              <a:t> </a:t>
            </a:r>
            <a:r>
              <a:rPr lang="fr-FR" dirty="0"/>
              <a:t>Symfony / API Platform : </a:t>
            </a:r>
            <a:r>
              <a:rPr lang="fr-FR" dirty="0" err="1"/>
              <a:t>throtting</a:t>
            </a:r>
            <a:r>
              <a:rPr lang="fr-FR" dirty="0"/>
              <a:t> natif, configurable par route</a:t>
            </a:r>
          </a:p>
          <a:p>
            <a:pPr lvl="1"/>
            <a:r>
              <a:rPr lang="fr-FR" b="1" dirty="0"/>
              <a:t>« composer </a:t>
            </a:r>
            <a:r>
              <a:rPr lang="fr-FR" b="1" dirty="0" err="1"/>
              <a:t>require</a:t>
            </a:r>
            <a:r>
              <a:rPr lang="fr-FR" b="1" dirty="0"/>
              <a:t> </a:t>
            </a:r>
            <a:r>
              <a:rPr lang="fr-FR" b="1" dirty="0" err="1"/>
              <a:t>symfony</a:t>
            </a:r>
            <a:r>
              <a:rPr lang="fr-FR" b="1" dirty="0"/>
              <a:t>/rate-limiter </a:t>
            </a:r>
            <a:r>
              <a:rPr lang="fr-FR" dirty="0"/>
              <a:t>»</a:t>
            </a:r>
          </a:p>
          <a:p>
            <a:pPr lvl="1"/>
            <a:r>
              <a:rPr lang="fr-FR" dirty="0"/>
              <a:t>Configuration dans le « </a:t>
            </a:r>
            <a:r>
              <a:rPr lang="fr-FR" b="1" dirty="0" err="1"/>
              <a:t>rate_limiter.yaml</a:t>
            </a:r>
            <a:r>
              <a:rPr lang="fr-FR" dirty="0"/>
              <a:t> »</a:t>
            </a:r>
          </a:p>
          <a:p>
            <a:pPr lvl="1"/>
            <a:r>
              <a:rPr lang="fr-FR" dirty="0"/>
              <a:t>Injection dans les contrôleurs via « </a:t>
            </a:r>
            <a:r>
              <a:rPr lang="fr-FR" b="1" dirty="0" err="1"/>
              <a:t>RateLimiterFactory</a:t>
            </a:r>
            <a:r>
              <a:rPr lang="fr-FR" dirty="0"/>
              <a:t> »</a:t>
            </a:r>
          </a:p>
          <a:p>
            <a:pPr lvl="1"/>
            <a:r>
              <a:rPr lang="fr-FR" dirty="0"/>
              <a:t>Appliquer ces changements sur des routes de « </a:t>
            </a:r>
            <a:r>
              <a:rPr lang="fr-FR" b="1" dirty="0"/>
              <a:t>login</a:t>
            </a:r>
            <a:r>
              <a:rPr lang="fr-FR" dirty="0"/>
              <a:t> » ou « </a:t>
            </a:r>
            <a:r>
              <a:rPr lang="fr-FR" b="1" dirty="0"/>
              <a:t>contact</a:t>
            </a:r>
            <a:r>
              <a:rPr lang="fr-FR" dirty="0"/>
              <a:t> » par exemple</a:t>
            </a:r>
          </a:p>
        </p:txBody>
      </p:sp>
      <p:sp>
        <p:nvSpPr>
          <p:cNvPr id="33" name="Isosceles Triangle 32">
            <a:extLst>
              <a:ext uri="{FF2B5EF4-FFF2-40B4-BE49-F238E27FC236}">
                <a16:creationId xmlns:a16="http://schemas.microsoft.com/office/drawing/2014/main" id="{0554A4B8-AC82-DA85-C0E5-90E85D26FF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59418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8D738B-C024-46BF-ED22-773FE81CF9FF}"/>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616AEB3-97C8-545B-2C76-4E1F590EB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C5E692A-5AEA-D828-62D8-DF456113A181}"/>
              </a:ext>
            </a:extLst>
          </p:cNvPr>
          <p:cNvSpPr>
            <a:spLocks noGrp="1"/>
          </p:cNvSpPr>
          <p:nvPr>
            <p:ph type="title"/>
          </p:nvPr>
        </p:nvSpPr>
        <p:spPr>
          <a:xfrm>
            <a:off x="1333502" y="609600"/>
            <a:ext cx="8596668" cy="1320800"/>
          </a:xfrm>
        </p:spPr>
        <p:txBody>
          <a:bodyPr>
            <a:normAutofit/>
          </a:bodyPr>
          <a:lstStyle/>
          <a:p>
            <a:r>
              <a:rPr lang="fr-FR" dirty="0"/>
              <a:t>QUOTA ET RATE LIMIT : IMPLÉMENTATION</a:t>
            </a:r>
          </a:p>
        </p:txBody>
      </p:sp>
      <p:sp>
        <p:nvSpPr>
          <p:cNvPr id="31" name="Isosceles Triangle 30">
            <a:extLst>
              <a:ext uri="{FF2B5EF4-FFF2-40B4-BE49-F238E27FC236}">
                <a16:creationId xmlns:a16="http://schemas.microsoft.com/office/drawing/2014/main" id="{7DB974C8-4EBA-D14B-7673-6CCA125BDC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3" name="Isosceles Triangle 32">
            <a:extLst>
              <a:ext uri="{FF2B5EF4-FFF2-40B4-BE49-F238E27FC236}">
                <a16:creationId xmlns:a16="http://schemas.microsoft.com/office/drawing/2014/main" id="{D033375A-7310-E26E-3736-CDE5FC50B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ZoneTexte 5">
            <a:extLst>
              <a:ext uri="{FF2B5EF4-FFF2-40B4-BE49-F238E27FC236}">
                <a16:creationId xmlns:a16="http://schemas.microsoft.com/office/drawing/2014/main" id="{BA3A74FC-051B-9EA6-5D87-5206C7BB08B7}"/>
              </a:ext>
            </a:extLst>
          </p:cNvPr>
          <p:cNvSpPr txBox="1"/>
          <p:nvPr/>
        </p:nvSpPr>
        <p:spPr>
          <a:xfrm>
            <a:off x="6096000" y="1697299"/>
            <a:ext cx="4328032" cy="2031325"/>
          </a:xfrm>
          <a:prstGeom prst="rect">
            <a:avLst/>
          </a:prstGeom>
          <a:solidFill>
            <a:schemeClr val="bg2"/>
          </a:solidFill>
          <a:ln>
            <a:solidFill>
              <a:schemeClr val="tx1"/>
            </a:solidFill>
          </a:ln>
        </p:spPr>
        <p:txBody>
          <a:bodyPr wrap="square">
            <a:spAutoFit/>
          </a:bodyPr>
          <a:lstStyle/>
          <a:p>
            <a:r>
              <a:rPr lang="fr-FR" dirty="0"/>
              <a:t># config/packages/</a:t>
            </a:r>
            <a:r>
              <a:rPr lang="fr-FR" dirty="0" err="1"/>
              <a:t>rate_limiter.yaml</a:t>
            </a:r>
            <a:endParaRPr lang="fr-FR" dirty="0"/>
          </a:p>
          <a:p>
            <a:r>
              <a:rPr lang="fr-FR" dirty="0" err="1"/>
              <a:t>framework</a:t>
            </a:r>
            <a:r>
              <a:rPr lang="fr-FR" dirty="0"/>
              <a:t>:</a:t>
            </a:r>
          </a:p>
          <a:p>
            <a:r>
              <a:rPr lang="fr-FR" dirty="0"/>
              <a:t>  </a:t>
            </a:r>
            <a:r>
              <a:rPr lang="fr-FR" dirty="0" err="1"/>
              <a:t>rate_limiter</a:t>
            </a:r>
            <a:r>
              <a:rPr lang="fr-FR" dirty="0"/>
              <a:t>:</a:t>
            </a:r>
          </a:p>
          <a:p>
            <a:r>
              <a:rPr lang="fr-FR" dirty="0"/>
              <a:t>    </a:t>
            </a:r>
            <a:r>
              <a:rPr lang="fr-FR" dirty="0" err="1"/>
              <a:t>anonymous_api</a:t>
            </a:r>
            <a:r>
              <a:rPr lang="fr-FR" dirty="0"/>
              <a:t>:</a:t>
            </a:r>
          </a:p>
          <a:p>
            <a:r>
              <a:rPr lang="fr-FR" dirty="0"/>
              <a:t>      </a:t>
            </a:r>
            <a:r>
              <a:rPr lang="fr-FR" dirty="0" err="1"/>
              <a:t>policy</a:t>
            </a:r>
            <a:r>
              <a:rPr lang="fr-FR" dirty="0"/>
              <a:t>: '</a:t>
            </a:r>
            <a:r>
              <a:rPr lang="fr-FR" dirty="0" err="1"/>
              <a:t>fixed_window</a:t>
            </a:r>
            <a:r>
              <a:rPr lang="fr-FR" dirty="0"/>
              <a:t>'</a:t>
            </a:r>
          </a:p>
          <a:p>
            <a:r>
              <a:rPr lang="fr-FR" dirty="0"/>
              <a:t>      </a:t>
            </a:r>
            <a:r>
              <a:rPr lang="fr-FR" dirty="0" err="1"/>
              <a:t>limit</a:t>
            </a:r>
            <a:r>
              <a:rPr lang="fr-FR" dirty="0"/>
              <a:t>: 100</a:t>
            </a:r>
          </a:p>
          <a:p>
            <a:r>
              <a:rPr lang="fr-FR" dirty="0"/>
              <a:t>      </a:t>
            </a:r>
            <a:r>
              <a:rPr lang="fr-FR" dirty="0" err="1"/>
              <a:t>interval</a:t>
            </a:r>
            <a:r>
              <a:rPr lang="fr-FR" dirty="0"/>
              <a:t>: '60 minutes'</a:t>
            </a:r>
          </a:p>
        </p:txBody>
      </p:sp>
      <p:sp>
        <p:nvSpPr>
          <p:cNvPr id="7" name="Espace réservé du contenu 2">
            <a:extLst>
              <a:ext uri="{FF2B5EF4-FFF2-40B4-BE49-F238E27FC236}">
                <a16:creationId xmlns:a16="http://schemas.microsoft.com/office/drawing/2014/main" id="{12F906E5-45C2-3436-AFBD-1A6EA6E416CE}"/>
              </a:ext>
            </a:extLst>
          </p:cNvPr>
          <p:cNvSpPr>
            <a:spLocks noGrp="1"/>
          </p:cNvSpPr>
          <p:nvPr>
            <p:ph idx="1"/>
          </p:nvPr>
        </p:nvSpPr>
        <p:spPr>
          <a:xfrm>
            <a:off x="1333501" y="2152906"/>
            <a:ext cx="8993839" cy="4087810"/>
          </a:xfrm>
        </p:spPr>
        <p:txBody>
          <a:bodyPr>
            <a:normAutofit/>
          </a:bodyPr>
          <a:lstStyle/>
          <a:p>
            <a:r>
              <a:rPr lang="fr-FR" dirty="0"/>
              <a:t>Exemple de « </a:t>
            </a:r>
            <a:r>
              <a:rPr lang="fr-FR" b="1" dirty="0" err="1"/>
              <a:t>rate_limiter.yaml</a:t>
            </a:r>
            <a:r>
              <a:rPr lang="fr-FR" b="1" dirty="0"/>
              <a:t> </a:t>
            </a:r>
            <a:r>
              <a:rPr lang="fr-FR" dirty="0"/>
              <a:t>» </a:t>
            </a:r>
          </a:p>
          <a:p>
            <a:endParaRPr lang="fr-FR" dirty="0"/>
          </a:p>
          <a:p>
            <a:endParaRPr lang="fr-FR" dirty="0"/>
          </a:p>
        </p:txBody>
      </p:sp>
    </p:spTree>
    <p:extLst>
      <p:ext uri="{BB962C8B-B14F-4D97-AF65-F5344CB8AC3E}">
        <p14:creationId xmlns:p14="http://schemas.microsoft.com/office/powerpoint/2010/main" val="2783532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FF12CB-9438-9212-2D7E-A75F0D9B52FD}"/>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235E479-3478-32EF-625D-98E57553D3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D8D35ED-53CE-E582-4D76-2AEEE9E08575}"/>
              </a:ext>
            </a:extLst>
          </p:cNvPr>
          <p:cNvSpPr>
            <a:spLocks noGrp="1"/>
          </p:cNvSpPr>
          <p:nvPr>
            <p:ph type="title"/>
          </p:nvPr>
        </p:nvSpPr>
        <p:spPr>
          <a:xfrm>
            <a:off x="1333502" y="609600"/>
            <a:ext cx="8596668" cy="1320800"/>
          </a:xfrm>
        </p:spPr>
        <p:txBody>
          <a:bodyPr>
            <a:normAutofit/>
          </a:bodyPr>
          <a:lstStyle/>
          <a:p>
            <a:r>
              <a:rPr lang="fr-FR" dirty="0"/>
              <a:t>QUOTA ET RATE LIMIT : IMPLÉMENTATION</a:t>
            </a:r>
          </a:p>
        </p:txBody>
      </p:sp>
      <p:sp>
        <p:nvSpPr>
          <p:cNvPr id="31" name="Isosceles Triangle 30">
            <a:extLst>
              <a:ext uri="{FF2B5EF4-FFF2-40B4-BE49-F238E27FC236}">
                <a16:creationId xmlns:a16="http://schemas.microsoft.com/office/drawing/2014/main" id="{FA223B39-AEEE-16A5-8729-8B1A14F36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3" name="Isosceles Triangle 32">
            <a:extLst>
              <a:ext uri="{FF2B5EF4-FFF2-40B4-BE49-F238E27FC236}">
                <a16:creationId xmlns:a16="http://schemas.microsoft.com/office/drawing/2014/main" id="{D321C2C3-289F-0784-E583-C4B31FE3EA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 name="Espace réservé du contenu 2">
            <a:extLst>
              <a:ext uri="{FF2B5EF4-FFF2-40B4-BE49-F238E27FC236}">
                <a16:creationId xmlns:a16="http://schemas.microsoft.com/office/drawing/2014/main" id="{038549DC-F672-2EC8-EA47-151E5C13FBE5}"/>
              </a:ext>
            </a:extLst>
          </p:cNvPr>
          <p:cNvSpPr>
            <a:spLocks noGrp="1"/>
          </p:cNvSpPr>
          <p:nvPr>
            <p:ph idx="1"/>
          </p:nvPr>
        </p:nvSpPr>
        <p:spPr>
          <a:xfrm>
            <a:off x="1333501" y="2152906"/>
            <a:ext cx="8993839" cy="4087810"/>
          </a:xfrm>
        </p:spPr>
        <p:txBody>
          <a:bodyPr>
            <a:normAutofit/>
          </a:bodyPr>
          <a:lstStyle/>
          <a:p>
            <a:r>
              <a:rPr lang="fr-FR" dirty="0"/>
              <a:t>Exemple dans un contrôleur :</a:t>
            </a:r>
          </a:p>
        </p:txBody>
      </p:sp>
      <p:sp>
        <p:nvSpPr>
          <p:cNvPr id="11" name="ZoneTexte 10">
            <a:extLst>
              <a:ext uri="{FF2B5EF4-FFF2-40B4-BE49-F238E27FC236}">
                <a16:creationId xmlns:a16="http://schemas.microsoft.com/office/drawing/2014/main" id="{B1BD7FB3-3BCD-33EF-88EB-B3F9C4D82D38}"/>
              </a:ext>
            </a:extLst>
          </p:cNvPr>
          <p:cNvSpPr txBox="1"/>
          <p:nvPr/>
        </p:nvSpPr>
        <p:spPr>
          <a:xfrm>
            <a:off x="1333501" y="3112950"/>
            <a:ext cx="9107980" cy="2585323"/>
          </a:xfrm>
          <a:prstGeom prst="rect">
            <a:avLst/>
          </a:prstGeom>
          <a:solidFill>
            <a:schemeClr val="bg2"/>
          </a:solidFill>
          <a:ln>
            <a:solidFill>
              <a:schemeClr val="tx1"/>
            </a:solidFill>
          </a:ln>
        </p:spPr>
        <p:txBody>
          <a:bodyPr wrap="square">
            <a:spAutoFit/>
          </a:bodyPr>
          <a:lstStyle/>
          <a:p>
            <a:r>
              <a:rPr lang="fr-FR" dirty="0"/>
              <a:t>public </a:t>
            </a:r>
            <a:r>
              <a:rPr lang="fr-FR" dirty="0" err="1"/>
              <a:t>function</a:t>
            </a:r>
            <a:r>
              <a:rPr lang="fr-FR" dirty="0"/>
              <a:t> index(</a:t>
            </a:r>
            <a:r>
              <a:rPr lang="fr-FR" dirty="0" err="1"/>
              <a:t>RateLimiterFactory</a:t>
            </a:r>
            <a:r>
              <a:rPr lang="fr-FR" dirty="0"/>
              <a:t> $</a:t>
            </a:r>
            <a:r>
              <a:rPr lang="fr-FR" dirty="0" err="1"/>
              <a:t>anonymousApiLimiter</a:t>
            </a:r>
            <a:r>
              <a:rPr lang="fr-FR" dirty="0"/>
              <a:t>, </a:t>
            </a:r>
            <a:r>
              <a:rPr lang="fr-FR" dirty="0" err="1"/>
              <a:t>Request</a:t>
            </a:r>
            <a:r>
              <a:rPr lang="fr-FR" dirty="0"/>
              <a:t> $</a:t>
            </a:r>
            <a:r>
              <a:rPr lang="fr-FR" dirty="0" err="1"/>
              <a:t>request</a:t>
            </a:r>
            <a:r>
              <a:rPr lang="fr-FR" dirty="0"/>
              <a:t>)</a:t>
            </a:r>
          </a:p>
          <a:p>
            <a:r>
              <a:rPr lang="fr-FR" dirty="0"/>
              <a:t>{</a:t>
            </a:r>
          </a:p>
          <a:p>
            <a:r>
              <a:rPr lang="fr-FR" dirty="0"/>
              <a:t>    $limiter = $</a:t>
            </a:r>
            <a:r>
              <a:rPr lang="fr-FR" dirty="0" err="1"/>
              <a:t>anonymousApiLimiter</a:t>
            </a:r>
            <a:r>
              <a:rPr lang="fr-FR" dirty="0"/>
              <a:t>-&gt;</a:t>
            </a:r>
            <a:r>
              <a:rPr lang="fr-FR" dirty="0" err="1"/>
              <a:t>create</a:t>
            </a:r>
            <a:r>
              <a:rPr lang="fr-FR" dirty="0"/>
              <a:t>($</a:t>
            </a:r>
            <a:r>
              <a:rPr lang="fr-FR" dirty="0" err="1"/>
              <a:t>request</a:t>
            </a:r>
            <a:r>
              <a:rPr lang="fr-FR" dirty="0"/>
              <a:t>-&gt;</a:t>
            </a:r>
            <a:r>
              <a:rPr lang="fr-FR" dirty="0" err="1"/>
              <a:t>getClientIp</a:t>
            </a:r>
            <a:r>
              <a:rPr lang="fr-FR" dirty="0"/>
              <a:t>());</a:t>
            </a:r>
          </a:p>
          <a:p>
            <a:endParaRPr lang="fr-FR" dirty="0"/>
          </a:p>
          <a:p>
            <a:r>
              <a:rPr lang="fr-FR" dirty="0"/>
              <a:t>    if (false === $limiter-&gt;consume(1)-&gt;</a:t>
            </a:r>
            <a:r>
              <a:rPr lang="fr-FR" dirty="0" err="1"/>
              <a:t>isAccepted</a:t>
            </a:r>
            <a:r>
              <a:rPr lang="fr-FR" dirty="0"/>
              <a:t>()) {</a:t>
            </a:r>
          </a:p>
          <a:p>
            <a:r>
              <a:rPr lang="fr-FR" dirty="0"/>
              <a:t>        </a:t>
            </a:r>
            <a:r>
              <a:rPr lang="fr-FR" dirty="0" err="1"/>
              <a:t>throw</a:t>
            </a:r>
            <a:r>
              <a:rPr lang="fr-FR" dirty="0"/>
              <a:t> new </a:t>
            </a:r>
            <a:r>
              <a:rPr lang="fr-FR" dirty="0" err="1"/>
              <a:t>TooManyRequestsHttpException</a:t>
            </a:r>
            <a:r>
              <a:rPr lang="fr-FR" dirty="0"/>
              <a:t>();</a:t>
            </a:r>
          </a:p>
          <a:p>
            <a:r>
              <a:rPr lang="fr-FR" dirty="0"/>
              <a:t>    }</a:t>
            </a:r>
          </a:p>
          <a:p>
            <a:r>
              <a:rPr lang="fr-FR" dirty="0"/>
              <a:t>    // ... traitement normal de la requête</a:t>
            </a:r>
          </a:p>
          <a:p>
            <a:r>
              <a:rPr lang="fr-FR" dirty="0"/>
              <a:t>}</a:t>
            </a:r>
          </a:p>
        </p:txBody>
      </p:sp>
    </p:spTree>
    <p:extLst>
      <p:ext uri="{BB962C8B-B14F-4D97-AF65-F5344CB8AC3E}">
        <p14:creationId xmlns:p14="http://schemas.microsoft.com/office/powerpoint/2010/main" val="311879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FD76C3-2397-DAB6-E0E7-DF5E29B2D4DD}"/>
            </a:ext>
          </a:extLst>
        </p:cNvPr>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E5BF7E93-1487-DDD5-03DE-6016029C47CB}"/>
              </a:ext>
            </a:extLst>
          </p:cNvPr>
          <p:cNvSpPr>
            <a:spLocks noGrp="1"/>
          </p:cNvSpPr>
          <p:nvPr>
            <p:ph type="title"/>
          </p:nvPr>
        </p:nvSpPr>
        <p:spPr>
          <a:xfrm>
            <a:off x="643467" y="816638"/>
            <a:ext cx="3367359" cy="5224724"/>
          </a:xfrm>
        </p:spPr>
        <p:txBody>
          <a:bodyPr anchor="ctr">
            <a:normAutofit/>
          </a:bodyPr>
          <a:lstStyle/>
          <a:p>
            <a:r>
              <a:rPr lang="fr-FR" dirty="0"/>
              <a:t>PHP.INI</a:t>
            </a:r>
          </a:p>
        </p:txBody>
      </p:sp>
      <p:sp>
        <p:nvSpPr>
          <p:cNvPr id="9" name="Espace réservé du contenu 2">
            <a:extLst>
              <a:ext uri="{FF2B5EF4-FFF2-40B4-BE49-F238E27FC236}">
                <a16:creationId xmlns:a16="http://schemas.microsoft.com/office/drawing/2014/main" id="{726DF6A5-6D4F-DB6E-750D-FCACA1E9536C}"/>
              </a:ext>
            </a:extLst>
          </p:cNvPr>
          <p:cNvSpPr>
            <a:spLocks noGrp="1"/>
          </p:cNvSpPr>
          <p:nvPr>
            <p:ph idx="1"/>
          </p:nvPr>
        </p:nvSpPr>
        <p:spPr>
          <a:xfrm>
            <a:off x="4654295" y="816638"/>
            <a:ext cx="4619706" cy="5224724"/>
          </a:xfrm>
        </p:spPr>
        <p:txBody>
          <a:bodyPr anchor="ctr">
            <a:normAutofit/>
          </a:bodyPr>
          <a:lstStyle/>
          <a:p>
            <a:pPr>
              <a:lnSpc>
                <a:spcPct val="90000"/>
              </a:lnSpc>
            </a:pPr>
            <a:r>
              <a:rPr lang="fr-FR" sz="1700" dirty="0"/>
              <a:t>Affichage d’erreurs</a:t>
            </a:r>
          </a:p>
          <a:p>
            <a:pPr>
              <a:lnSpc>
                <a:spcPct val="90000"/>
              </a:lnSpc>
            </a:pPr>
            <a:endParaRPr lang="fr-FR" sz="1700" dirty="0"/>
          </a:p>
          <a:p>
            <a:pPr>
              <a:lnSpc>
                <a:spcPct val="90000"/>
              </a:lnSpc>
            </a:pPr>
            <a:r>
              <a:rPr lang="fr-FR" sz="1700" dirty="0"/>
              <a:t>Environnements</a:t>
            </a:r>
          </a:p>
        </p:txBody>
      </p:sp>
    </p:spTree>
    <p:extLst>
      <p:ext uri="{BB962C8B-B14F-4D97-AF65-F5344CB8AC3E}">
        <p14:creationId xmlns:p14="http://schemas.microsoft.com/office/powerpoint/2010/main" val="64789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F2B1F8-DD53-5AF1-BA43-5E28FDEE52EC}"/>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D81134A-1EE2-EFAE-73A0-48C95BF97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26376FE-1D64-2EC0-FB26-0A8AA394AECC}"/>
              </a:ext>
            </a:extLst>
          </p:cNvPr>
          <p:cNvSpPr>
            <a:spLocks noGrp="1"/>
          </p:cNvSpPr>
          <p:nvPr>
            <p:ph type="title"/>
          </p:nvPr>
        </p:nvSpPr>
        <p:spPr>
          <a:xfrm>
            <a:off x="1333502" y="609600"/>
            <a:ext cx="8596668" cy="1320800"/>
          </a:xfrm>
        </p:spPr>
        <p:txBody>
          <a:bodyPr>
            <a:normAutofit/>
          </a:bodyPr>
          <a:lstStyle/>
          <a:p>
            <a:r>
              <a:rPr lang="fr-FR" dirty="0"/>
              <a:t>PHP.INI</a:t>
            </a:r>
          </a:p>
        </p:txBody>
      </p:sp>
      <p:sp>
        <p:nvSpPr>
          <p:cNvPr id="31" name="Isosceles Triangle 30">
            <a:extLst>
              <a:ext uri="{FF2B5EF4-FFF2-40B4-BE49-F238E27FC236}">
                <a16:creationId xmlns:a16="http://schemas.microsoft.com/office/drawing/2014/main" id="{87EEE798-6800-8F4E-37AD-64BA265FD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FA32944F-7CF7-80D9-555D-23A1DB86AF71}"/>
              </a:ext>
            </a:extLst>
          </p:cNvPr>
          <p:cNvSpPr>
            <a:spLocks noGrp="1"/>
          </p:cNvSpPr>
          <p:nvPr>
            <p:ph idx="1"/>
          </p:nvPr>
        </p:nvSpPr>
        <p:spPr>
          <a:xfrm>
            <a:off x="1333501" y="2160590"/>
            <a:ext cx="8993839" cy="4087810"/>
          </a:xfrm>
        </p:spPr>
        <p:txBody>
          <a:bodyPr>
            <a:normAutofit/>
          </a:bodyPr>
          <a:lstStyle/>
          <a:p>
            <a:r>
              <a:rPr lang="fr-FR" b="1" dirty="0" err="1"/>
              <a:t>display_errors</a:t>
            </a:r>
            <a:r>
              <a:rPr lang="fr-FR" b="1" dirty="0"/>
              <a:t>= off</a:t>
            </a:r>
            <a:r>
              <a:rPr lang="fr-FR" dirty="0"/>
              <a:t> : n’affiche jamais les erreurs PHP au visiteur (chemin de fichiers ou requêtes SQL)</a:t>
            </a:r>
          </a:p>
          <a:p>
            <a:pPr lvl="1"/>
            <a:r>
              <a:rPr lang="fr-FR" dirty="0"/>
              <a:t>Afficherai les chemins de fichiers ou noms de fonctions dans les messages d’erreurs</a:t>
            </a:r>
          </a:p>
          <a:p>
            <a:pPr lvl="1"/>
            <a:endParaRPr lang="fr-FR" dirty="0"/>
          </a:p>
          <a:p>
            <a:r>
              <a:rPr lang="fr-FR" b="1" dirty="0" err="1"/>
              <a:t>log_errors</a:t>
            </a:r>
            <a:r>
              <a:rPr lang="fr-FR" b="1" dirty="0"/>
              <a:t> = on </a:t>
            </a:r>
            <a:r>
              <a:rPr lang="fr-FR" dirty="0"/>
              <a:t>: les erreurs doivent être tracées côtés serveur</a:t>
            </a:r>
          </a:p>
          <a:p>
            <a:endParaRPr lang="fr-FR" dirty="0"/>
          </a:p>
          <a:p>
            <a:r>
              <a:rPr lang="fr-FR" b="1" dirty="0" err="1"/>
              <a:t>expose_php</a:t>
            </a:r>
            <a:r>
              <a:rPr lang="fr-FR" b="1" dirty="0"/>
              <a:t> = off </a:t>
            </a:r>
            <a:r>
              <a:rPr lang="fr-FR" dirty="0"/>
              <a:t>: cache la version de PHP dans les entêtes HTTP</a:t>
            </a:r>
          </a:p>
          <a:p>
            <a:endParaRPr lang="fr-FR" dirty="0"/>
          </a:p>
          <a:p>
            <a:r>
              <a:rPr lang="fr-FR" b="1" dirty="0" err="1"/>
              <a:t>allow_url_fopen</a:t>
            </a:r>
            <a:r>
              <a:rPr lang="fr-FR" b="1" dirty="0"/>
              <a:t> = off </a:t>
            </a:r>
            <a:r>
              <a:rPr lang="fr-FR" dirty="0"/>
              <a:t>&amp; </a:t>
            </a:r>
            <a:r>
              <a:rPr lang="fr-FR" b="1" dirty="0" err="1"/>
              <a:t>allow_url_include</a:t>
            </a:r>
            <a:r>
              <a:rPr lang="fr-FR" b="1" dirty="0"/>
              <a:t> = off</a:t>
            </a:r>
            <a:r>
              <a:rPr lang="fr-FR" dirty="0"/>
              <a:t> : empêchant d’inclure un fichier distant comme du code local</a:t>
            </a:r>
          </a:p>
          <a:p>
            <a:pPr lvl="1"/>
            <a:r>
              <a:rPr lang="fr-FR" dirty="0"/>
              <a:t>Directement lié à la </a:t>
            </a:r>
            <a:r>
              <a:rPr lang="fr-FR" b="1" dirty="0" err="1"/>
              <a:t>Remote</a:t>
            </a:r>
            <a:r>
              <a:rPr lang="fr-FR" b="1" dirty="0"/>
              <a:t> File Inclusion (RFI)</a:t>
            </a:r>
          </a:p>
        </p:txBody>
      </p:sp>
      <p:sp>
        <p:nvSpPr>
          <p:cNvPr id="33" name="Isosceles Triangle 32">
            <a:extLst>
              <a:ext uri="{FF2B5EF4-FFF2-40B4-BE49-F238E27FC236}">
                <a16:creationId xmlns:a16="http://schemas.microsoft.com/office/drawing/2014/main" id="{EB81DA7D-CB9E-B97D-305A-397F21CC8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195133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567E59-F45B-8AE0-D870-73BCE21FB003}"/>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0D535CE-6291-68CA-6FF3-DB2D9D3D5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481C633-9DA5-264A-856E-DF56F3238AB7}"/>
              </a:ext>
            </a:extLst>
          </p:cNvPr>
          <p:cNvSpPr>
            <a:spLocks noGrp="1"/>
          </p:cNvSpPr>
          <p:nvPr>
            <p:ph type="title"/>
          </p:nvPr>
        </p:nvSpPr>
        <p:spPr>
          <a:xfrm>
            <a:off x="1333502" y="609600"/>
            <a:ext cx="8596668" cy="1320800"/>
          </a:xfrm>
        </p:spPr>
        <p:txBody>
          <a:bodyPr>
            <a:normAutofit/>
          </a:bodyPr>
          <a:lstStyle/>
          <a:p>
            <a:r>
              <a:rPr lang="fr-FR" dirty="0"/>
              <a:t>PHP.INI &amp; SESSIONS</a:t>
            </a:r>
          </a:p>
        </p:txBody>
      </p:sp>
      <p:sp>
        <p:nvSpPr>
          <p:cNvPr id="31" name="Isosceles Triangle 30">
            <a:extLst>
              <a:ext uri="{FF2B5EF4-FFF2-40B4-BE49-F238E27FC236}">
                <a16:creationId xmlns:a16="http://schemas.microsoft.com/office/drawing/2014/main" id="{5BFDD001-6CE7-58A2-D09C-C92D7A201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3AD4AC59-BB55-42D5-0F85-6937D3732436}"/>
              </a:ext>
            </a:extLst>
          </p:cNvPr>
          <p:cNvSpPr>
            <a:spLocks noGrp="1"/>
          </p:cNvSpPr>
          <p:nvPr>
            <p:ph idx="1"/>
          </p:nvPr>
        </p:nvSpPr>
        <p:spPr>
          <a:xfrm>
            <a:off x="1333501" y="2160590"/>
            <a:ext cx="8993839" cy="4087810"/>
          </a:xfrm>
        </p:spPr>
        <p:txBody>
          <a:bodyPr>
            <a:normAutofit lnSpcReduction="10000"/>
          </a:bodyPr>
          <a:lstStyle/>
          <a:p>
            <a:r>
              <a:rPr lang="fr-FR" b="1" dirty="0" err="1"/>
              <a:t>session.cookie_httponly</a:t>
            </a:r>
            <a:r>
              <a:rPr lang="fr-FR" b="1" dirty="0"/>
              <a:t>, </a:t>
            </a:r>
            <a:r>
              <a:rPr lang="fr-FR" b="1" dirty="0" err="1"/>
              <a:t>session.cookie_secure</a:t>
            </a:r>
            <a:r>
              <a:rPr lang="fr-FR" b="1" dirty="0"/>
              <a:t> :</a:t>
            </a:r>
            <a:r>
              <a:rPr lang="fr-FR" dirty="0"/>
              <a:t> même configuration des cookies, mais cette fois côté serveur</a:t>
            </a:r>
          </a:p>
          <a:p>
            <a:pPr marL="0" indent="0">
              <a:buNone/>
            </a:pPr>
            <a:endParaRPr lang="fr-FR" dirty="0"/>
          </a:p>
          <a:p>
            <a:r>
              <a:rPr lang="fr-FR" b="1" dirty="0" err="1"/>
              <a:t>session.use_strict_mode</a:t>
            </a:r>
            <a:r>
              <a:rPr lang="fr-FR" b="1" dirty="0"/>
              <a:t> = on : </a:t>
            </a:r>
            <a:r>
              <a:rPr lang="fr-FR" dirty="0"/>
              <a:t>on rejette les identifiants de session non initialisés par le serveur</a:t>
            </a:r>
          </a:p>
          <a:p>
            <a:endParaRPr lang="fr-FR" dirty="0"/>
          </a:p>
          <a:p>
            <a:r>
              <a:rPr lang="fr-FR" b="1" dirty="0" err="1"/>
              <a:t>disable_functions</a:t>
            </a:r>
            <a:r>
              <a:rPr lang="fr-FR" b="1" dirty="0"/>
              <a:t> : </a:t>
            </a:r>
            <a:r>
              <a:rPr lang="fr-FR" dirty="0"/>
              <a:t>désactive les fonctions « dangereuses » (</a:t>
            </a:r>
            <a:r>
              <a:rPr lang="fr-FR" b="1" dirty="0" err="1"/>
              <a:t>exec</a:t>
            </a:r>
            <a:r>
              <a:rPr lang="fr-FR" dirty="0"/>
              <a:t>, </a:t>
            </a:r>
            <a:r>
              <a:rPr lang="fr-FR" b="1" dirty="0"/>
              <a:t>system</a:t>
            </a:r>
            <a:r>
              <a:rPr lang="fr-FR" dirty="0"/>
              <a:t>, </a:t>
            </a:r>
            <a:r>
              <a:rPr lang="fr-FR" b="1" dirty="0" err="1"/>
              <a:t>passthru</a:t>
            </a:r>
            <a:r>
              <a:rPr lang="fr-FR" dirty="0"/>
              <a:t> ou encore </a:t>
            </a:r>
            <a:r>
              <a:rPr lang="fr-FR" b="1" dirty="0" err="1"/>
              <a:t>shell_exec</a:t>
            </a:r>
            <a:r>
              <a:rPr lang="fr-FR" dirty="0"/>
              <a:t>)</a:t>
            </a:r>
          </a:p>
          <a:p>
            <a:pPr lvl="1"/>
            <a:r>
              <a:rPr lang="fr-FR" dirty="0"/>
              <a:t>Peut aussi empêcher des besoins métiers légitimes, comme la génération de PDF !</a:t>
            </a:r>
          </a:p>
          <a:p>
            <a:endParaRPr lang="fr-FR" dirty="0"/>
          </a:p>
          <a:p>
            <a:r>
              <a:rPr lang="fr-FR" b="1" dirty="0" err="1"/>
              <a:t>open_basedir</a:t>
            </a:r>
            <a:r>
              <a:rPr lang="fr-FR" dirty="0"/>
              <a:t> : restreint l’accès aux fichiers au seul répertoire de l’application</a:t>
            </a:r>
          </a:p>
          <a:p>
            <a:pPr lvl="1"/>
            <a:r>
              <a:rPr lang="fr-FR" dirty="0"/>
              <a:t>Limite l’utilisation des fonctions de fichiers à un répertoire précis</a:t>
            </a:r>
          </a:p>
        </p:txBody>
      </p:sp>
      <p:sp>
        <p:nvSpPr>
          <p:cNvPr id="33" name="Isosceles Triangle 32">
            <a:extLst>
              <a:ext uri="{FF2B5EF4-FFF2-40B4-BE49-F238E27FC236}">
                <a16:creationId xmlns:a16="http://schemas.microsoft.com/office/drawing/2014/main" id="{FF024944-1991-E229-96AF-B969C5EA0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99226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DA88A4-35B9-044A-04C5-036C586D1542}"/>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1689666-7EDF-02C9-6108-7F35609F9A82}"/>
              </a:ext>
            </a:extLst>
          </p:cNvPr>
          <p:cNvSpPr>
            <a:spLocks noGrp="1"/>
          </p:cNvSpPr>
          <p:nvPr>
            <p:ph type="title"/>
          </p:nvPr>
        </p:nvSpPr>
        <p:spPr>
          <a:xfrm>
            <a:off x="1333501" y="609600"/>
            <a:ext cx="8596668" cy="1320800"/>
          </a:xfrm>
        </p:spPr>
        <p:txBody>
          <a:bodyPr>
            <a:normAutofit/>
          </a:bodyPr>
          <a:lstStyle/>
          <a:p>
            <a:r>
              <a:rPr lang="fr-FR" dirty="0"/>
              <a:t>PROTECTIONS DES SCRIPTS </a:t>
            </a:r>
          </a:p>
        </p:txBody>
      </p:sp>
      <p:sp>
        <p:nvSpPr>
          <p:cNvPr id="40" name="Isosceles Triangle 3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2" name="Isosceles Triangle 4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44" name="Straight Connector 4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9" name="Espace réservé du contenu 2">
            <a:extLst>
              <a:ext uri="{FF2B5EF4-FFF2-40B4-BE49-F238E27FC236}">
                <a16:creationId xmlns:a16="http://schemas.microsoft.com/office/drawing/2014/main" id="{68AF0999-520A-4BA0-AC26-89FFCD840B55}"/>
              </a:ext>
            </a:extLst>
          </p:cNvPr>
          <p:cNvSpPr>
            <a:spLocks noGrp="1"/>
          </p:cNvSpPr>
          <p:nvPr>
            <p:ph idx="1"/>
          </p:nvPr>
        </p:nvSpPr>
        <p:spPr>
          <a:xfrm>
            <a:off x="1333502" y="2160590"/>
            <a:ext cx="8470898" cy="3429260"/>
          </a:xfrm>
        </p:spPr>
        <p:txBody>
          <a:bodyPr>
            <a:normAutofit/>
          </a:bodyPr>
          <a:lstStyle/>
          <a:p>
            <a:pPr>
              <a:lnSpc>
                <a:spcPct val="90000"/>
              </a:lnSpc>
            </a:pPr>
            <a:r>
              <a:rPr lang="fr-FR" sz="1500"/>
              <a:t>Exécution distante (</a:t>
            </a:r>
            <a:r>
              <a:rPr lang="fr-FR" sz="1500" b="1"/>
              <a:t>RCE, </a:t>
            </a:r>
            <a:r>
              <a:rPr lang="fr-FR" sz="1500" b="1" u="sng" err="1"/>
              <a:t>R</a:t>
            </a:r>
            <a:r>
              <a:rPr lang="fr-FR" sz="1500" err="1"/>
              <a:t>emote</a:t>
            </a:r>
            <a:r>
              <a:rPr lang="fr-FR" sz="1500"/>
              <a:t> </a:t>
            </a:r>
            <a:r>
              <a:rPr lang="fr-FR" sz="1500" b="1" u="sng"/>
              <a:t>C</a:t>
            </a:r>
            <a:r>
              <a:rPr lang="fr-FR" sz="1500"/>
              <a:t>ode </a:t>
            </a:r>
            <a:r>
              <a:rPr lang="fr-FR" sz="1500" b="1" u="sng" err="1"/>
              <a:t>E</a:t>
            </a:r>
            <a:r>
              <a:rPr lang="fr-FR" sz="1500" err="1"/>
              <a:t>xecution</a:t>
            </a:r>
            <a:r>
              <a:rPr lang="fr-FR" sz="1500"/>
              <a:t>) est la conséquence la plus grave d’une chaîne de failles combinées</a:t>
            </a:r>
          </a:p>
          <a:p>
            <a:pPr>
              <a:lnSpc>
                <a:spcPct val="90000"/>
              </a:lnSpc>
            </a:pPr>
            <a:endParaRPr lang="fr-FR" sz="1500"/>
          </a:p>
          <a:p>
            <a:pPr>
              <a:lnSpc>
                <a:spcPct val="90000"/>
              </a:lnSpc>
            </a:pPr>
            <a:r>
              <a:rPr lang="fr-FR" sz="1500" err="1"/>
              <a:t>Upload</a:t>
            </a:r>
            <a:r>
              <a:rPr lang="fr-FR" sz="1500"/>
              <a:t> de fichier + absence de filtrage d’extension = dépôt d’un script PHP exécutable</a:t>
            </a:r>
          </a:p>
          <a:p>
            <a:pPr>
              <a:lnSpc>
                <a:spcPct val="90000"/>
              </a:lnSpc>
            </a:pPr>
            <a:endParaRPr lang="fr-FR" sz="1500"/>
          </a:p>
          <a:p>
            <a:pPr>
              <a:lnSpc>
                <a:spcPct val="90000"/>
              </a:lnSpc>
            </a:pPr>
            <a:r>
              <a:rPr lang="fr-FR" sz="1500" b="1"/>
              <a:t>RFI</a:t>
            </a:r>
            <a:r>
              <a:rPr lang="fr-FR" sz="1500"/>
              <a:t> (</a:t>
            </a:r>
            <a:r>
              <a:rPr lang="fr-FR" sz="1500" b="1" u="sng" err="1"/>
              <a:t>R</a:t>
            </a:r>
            <a:r>
              <a:rPr lang="fr-FR" sz="1500" err="1"/>
              <a:t>emote</a:t>
            </a:r>
            <a:r>
              <a:rPr lang="fr-FR" sz="1500"/>
              <a:t> </a:t>
            </a:r>
            <a:r>
              <a:rPr lang="fr-FR" sz="1500" b="1" u="sng"/>
              <a:t>F</a:t>
            </a:r>
            <a:r>
              <a:rPr lang="fr-FR" sz="1500"/>
              <a:t>ile </a:t>
            </a:r>
            <a:r>
              <a:rPr lang="fr-FR" sz="1500" b="1" u="sng"/>
              <a:t>I</a:t>
            </a:r>
            <a:r>
              <a:rPr lang="fr-FR" sz="1500"/>
              <a:t>nclusion) : inclusion d’un fichier hébergé chez l’attaquant</a:t>
            </a:r>
          </a:p>
          <a:p>
            <a:pPr>
              <a:lnSpc>
                <a:spcPct val="90000"/>
              </a:lnSpc>
            </a:pPr>
            <a:endParaRPr lang="fr-FR" sz="1500"/>
          </a:p>
          <a:p>
            <a:pPr>
              <a:lnSpc>
                <a:spcPct val="90000"/>
              </a:lnSpc>
            </a:pPr>
            <a:r>
              <a:rPr lang="fr-FR" sz="1500"/>
              <a:t>Contre-mesure structurelle : séparer le répertoire d’</a:t>
            </a:r>
            <a:r>
              <a:rPr lang="fr-FR" sz="1500" err="1"/>
              <a:t>upload</a:t>
            </a:r>
            <a:r>
              <a:rPr lang="fr-FR" sz="1500"/>
              <a:t> du répertoire exécutable par le serveur web</a:t>
            </a:r>
          </a:p>
          <a:p>
            <a:pPr lvl="1">
              <a:lnSpc>
                <a:spcPct val="90000"/>
              </a:lnSpc>
            </a:pPr>
            <a:r>
              <a:rPr lang="fr-FR" sz="1500"/>
              <a:t>Même si on arrive à forcer l’</a:t>
            </a:r>
            <a:r>
              <a:rPr lang="fr-FR" sz="1500" err="1"/>
              <a:t>upload</a:t>
            </a:r>
            <a:r>
              <a:rPr lang="fr-FR" sz="1500"/>
              <a:t> d’un script </a:t>
            </a:r>
            <a:r>
              <a:rPr lang="fr-FR" sz="1500" b="1" err="1"/>
              <a:t>shell.php</a:t>
            </a:r>
            <a:r>
              <a:rPr lang="fr-FR" sz="1500"/>
              <a:t>, déguisé en image, alors le script ne pourra pas être exécuter</a:t>
            </a:r>
          </a:p>
        </p:txBody>
      </p:sp>
      <p:sp>
        <p:nvSpPr>
          <p:cNvPr id="4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577610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B74A0C-E5E9-9E30-05CF-9780096464D5}"/>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4CBAD2D-9D80-2691-3A46-8B94E7D06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28915F1-0080-71DF-A62C-612F967985C8}"/>
              </a:ext>
            </a:extLst>
          </p:cNvPr>
          <p:cNvSpPr>
            <a:spLocks noGrp="1"/>
          </p:cNvSpPr>
          <p:nvPr>
            <p:ph type="title"/>
          </p:nvPr>
        </p:nvSpPr>
        <p:spPr>
          <a:xfrm>
            <a:off x="1333501" y="609600"/>
            <a:ext cx="8596668" cy="1320800"/>
          </a:xfrm>
        </p:spPr>
        <p:txBody>
          <a:bodyPr>
            <a:normAutofit/>
          </a:bodyPr>
          <a:lstStyle/>
          <a:p>
            <a:r>
              <a:rPr lang="fr-FR"/>
              <a:t>SYMFONY : CONFIGURATION PAR ENV</a:t>
            </a:r>
            <a:endParaRPr lang="fr-FR" dirty="0"/>
          </a:p>
        </p:txBody>
      </p:sp>
      <p:sp>
        <p:nvSpPr>
          <p:cNvPr id="31" name="Isosceles Triangle 30">
            <a:extLst>
              <a:ext uri="{FF2B5EF4-FFF2-40B4-BE49-F238E27FC236}">
                <a16:creationId xmlns:a16="http://schemas.microsoft.com/office/drawing/2014/main" id="{D2AF9EB0-4ACD-7F9C-A4CA-E5B8E191C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FD05939E-FEEF-0318-9581-87CA4BB2B004}"/>
              </a:ext>
            </a:extLst>
          </p:cNvPr>
          <p:cNvSpPr>
            <a:spLocks noGrp="1"/>
          </p:cNvSpPr>
          <p:nvPr>
            <p:ph idx="1"/>
          </p:nvPr>
        </p:nvSpPr>
        <p:spPr>
          <a:xfrm>
            <a:off x="1333501" y="2160590"/>
            <a:ext cx="8993839" cy="4087810"/>
          </a:xfrm>
        </p:spPr>
        <p:txBody>
          <a:bodyPr>
            <a:normAutofit/>
          </a:bodyPr>
          <a:lstStyle/>
          <a:p>
            <a:r>
              <a:rPr lang="fr-FR" b="1"/>
              <a:t>dev/prod : </a:t>
            </a:r>
            <a:r>
              <a:rPr lang="fr-FR"/>
              <a:t>deux comportements différents, notamment sur les erreurs affichées</a:t>
            </a:r>
          </a:p>
          <a:p>
            <a:pPr lvl="1"/>
            <a:r>
              <a:rPr lang="fr-FR"/>
              <a:t>Similaire à </a:t>
            </a:r>
            <a:r>
              <a:rPr lang="fr-FR" b="1"/>
              <a:t>display_errors = off </a:t>
            </a:r>
            <a:r>
              <a:rPr lang="fr-FR"/>
              <a:t>pour la </a:t>
            </a:r>
            <a:r>
              <a:rPr lang="fr-FR" b="1"/>
              <a:t>pro</a:t>
            </a:r>
            <a:r>
              <a:rPr lang="fr-FR"/>
              <a:t>, mais gérer côté framework</a:t>
            </a:r>
          </a:p>
          <a:p>
            <a:endParaRPr lang="fr-FR" b="1"/>
          </a:p>
          <a:p>
            <a:r>
              <a:rPr lang="fr-FR" b="1"/>
              <a:t>APP_ENV </a:t>
            </a:r>
            <a:r>
              <a:rPr lang="fr-FR"/>
              <a:t>et</a:t>
            </a:r>
            <a:r>
              <a:rPr lang="fr-FR" b="1"/>
              <a:t> APP_DEBUG </a:t>
            </a:r>
            <a:r>
              <a:rPr lang="fr-FR"/>
              <a:t>pilotent ce comportement, jamais à activer en prod</a:t>
            </a:r>
          </a:p>
          <a:p>
            <a:pPr lvl="1"/>
            <a:r>
              <a:rPr lang="fr-FR"/>
              <a:t>En prod il faut s’assurer que </a:t>
            </a:r>
            <a:r>
              <a:rPr lang="fr-FR" b="1"/>
              <a:t>APP_DEBUG=0</a:t>
            </a:r>
          </a:p>
          <a:p>
            <a:endParaRPr lang="fr-FR" b="1"/>
          </a:p>
          <a:p>
            <a:r>
              <a:rPr lang="fr-FR" b="1"/>
              <a:t>Secrets Vault : </a:t>
            </a:r>
            <a:r>
              <a:rPr lang="fr-FR"/>
              <a:t>chiffre les données sensibles (clés API, mot de passe DB) dans le dépôt GIT</a:t>
            </a:r>
          </a:p>
          <a:p>
            <a:endParaRPr lang="fr-FR" b="1"/>
          </a:p>
          <a:p>
            <a:r>
              <a:rPr lang="fr-FR"/>
              <a:t>Paire de clés (publique/privée) : la clé privée de déchiffrement ne doit jamais être commitée</a:t>
            </a:r>
            <a:endParaRPr lang="fr-FR" dirty="0"/>
          </a:p>
        </p:txBody>
      </p:sp>
      <p:sp>
        <p:nvSpPr>
          <p:cNvPr id="33" name="Isosceles Triangle 32">
            <a:extLst>
              <a:ext uri="{FF2B5EF4-FFF2-40B4-BE49-F238E27FC236}">
                <a16:creationId xmlns:a16="http://schemas.microsoft.com/office/drawing/2014/main" id="{5A6724E7-33C7-77E7-0A3B-89C12A8D2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5659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678038-01C0-C3D5-BA9B-1012A3CDFF0E}"/>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2E8357E-50A6-D763-4273-DEA641CDFD64}"/>
              </a:ext>
            </a:extLst>
          </p:cNvPr>
          <p:cNvSpPr>
            <a:spLocks noGrp="1"/>
          </p:cNvSpPr>
          <p:nvPr>
            <p:ph type="title"/>
          </p:nvPr>
        </p:nvSpPr>
        <p:spPr>
          <a:xfrm>
            <a:off x="1333501" y="609600"/>
            <a:ext cx="8596668" cy="1320800"/>
          </a:xfrm>
        </p:spPr>
        <p:txBody>
          <a:bodyPr>
            <a:normAutofit/>
          </a:bodyPr>
          <a:lstStyle/>
          <a:p>
            <a:r>
              <a:rPr lang="fr-FR" dirty="0"/>
              <a:t>ENTÊTES HTTP DE SÉCURITÉ</a:t>
            </a:r>
          </a:p>
        </p:txBody>
      </p:sp>
      <p:sp>
        <p:nvSpPr>
          <p:cNvPr id="49" name="Isosceles Triangle 3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0" name="Isosceles Triangle 4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51" name="Straight Connector 4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9" name="Espace réservé du contenu 2">
            <a:extLst>
              <a:ext uri="{FF2B5EF4-FFF2-40B4-BE49-F238E27FC236}">
                <a16:creationId xmlns:a16="http://schemas.microsoft.com/office/drawing/2014/main" id="{130718F7-1F5E-98BD-7237-D531283995B0}"/>
              </a:ext>
            </a:extLst>
          </p:cNvPr>
          <p:cNvSpPr>
            <a:spLocks noGrp="1"/>
          </p:cNvSpPr>
          <p:nvPr>
            <p:ph idx="1"/>
          </p:nvPr>
        </p:nvSpPr>
        <p:spPr>
          <a:xfrm>
            <a:off x="1333502" y="2160590"/>
            <a:ext cx="8470898" cy="3429260"/>
          </a:xfrm>
        </p:spPr>
        <p:txBody>
          <a:bodyPr>
            <a:normAutofit/>
          </a:bodyPr>
          <a:lstStyle/>
          <a:p>
            <a:pPr>
              <a:lnSpc>
                <a:spcPct val="90000"/>
              </a:lnSpc>
            </a:pPr>
            <a:r>
              <a:rPr lang="fr-FR" sz="1700" b="1" dirty="0"/>
              <a:t>CSP (</a:t>
            </a:r>
            <a:r>
              <a:rPr lang="fr-FR" sz="1700" b="1" u="sng" dirty="0"/>
              <a:t>C</a:t>
            </a:r>
            <a:r>
              <a:rPr lang="fr-FR" sz="1700" dirty="0"/>
              <a:t>ontent-</a:t>
            </a:r>
            <a:r>
              <a:rPr lang="fr-FR" sz="1700" b="1" u="sng" dirty="0"/>
              <a:t>S</a:t>
            </a:r>
            <a:r>
              <a:rPr lang="fr-FR" sz="1700" dirty="0"/>
              <a:t>ecurity </a:t>
            </a:r>
            <a:r>
              <a:rPr lang="fr-FR" sz="1700" b="1" u="sng" dirty="0"/>
              <a:t>P</a:t>
            </a:r>
            <a:r>
              <a:rPr lang="fr-FR" sz="1700" dirty="0"/>
              <a:t>olicy</a:t>
            </a:r>
            <a:r>
              <a:rPr lang="fr-FR" sz="1700" b="1" dirty="0"/>
              <a:t>)</a:t>
            </a:r>
            <a:r>
              <a:rPr lang="fr-FR" sz="1700" dirty="0"/>
              <a:t> : contrôle des sources de scripts autorisées</a:t>
            </a:r>
          </a:p>
          <a:p>
            <a:pPr>
              <a:lnSpc>
                <a:spcPct val="90000"/>
              </a:lnSpc>
            </a:pPr>
            <a:endParaRPr lang="fr-FR" sz="1700" dirty="0"/>
          </a:p>
          <a:p>
            <a:pPr>
              <a:lnSpc>
                <a:spcPct val="90000"/>
              </a:lnSpc>
            </a:pPr>
            <a:r>
              <a:rPr lang="fr-FR" sz="1700" b="1" dirty="0"/>
              <a:t>HSTS</a:t>
            </a:r>
            <a:r>
              <a:rPr lang="fr-FR" sz="1700" dirty="0"/>
              <a:t> (</a:t>
            </a:r>
            <a:r>
              <a:rPr lang="fr-FR" sz="1700" b="1" u="sng" dirty="0"/>
              <a:t>S</a:t>
            </a:r>
            <a:r>
              <a:rPr lang="fr-FR" sz="1700" dirty="0"/>
              <a:t>trict-</a:t>
            </a:r>
            <a:r>
              <a:rPr lang="fr-FR" sz="1700" b="1" u="sng" dirty="0"/>
              <a:t>T</a:t>
            </a:r>
            <a:r>
              <a:rPr lang="fr-FR" sz="1700" dirty="0"/>
              <a:t>ransport-</a:t>
            </a:r>
            <a:r>
              <a:rPr lang="fr-FR" sz="1700" b="1" u="sng" dirty="0"/>
              <a:t>S</a:t>
            </a:r>
            <a:r>
              <a:rPr lang="fr-FR" sz="1700" dirty="0"/>
              <a:t>ecurity) : force le </a:t>
            </a:r>
            <a:r>
              <a:rPr lang="fr-FR" sz="1700" b="1" dirty="0"/>
              <a:t>HTTPS, </a:t>
            </a:r>
            <a:r>
              <a:rPr lang="fr-FR" sz="1700" dirty="0"/>
              <a:t>même si l’utilisateur tape </a:t>
            </a:r>
            <a:r>
              <a:rPr lang="fr-FR" sz="1700" b="1" dirty="0"/>
              <a:t>http://</a:t>
            </a:r>
          </a:p>
          <a:p>
            <a:pPr>
              <a:lnSpc>
                <a:spcPct val="90000"/>
              </a:lnSpc>
            </a:pPr>
            <a:endParaRPr lang="fr-FR" sz="1700" b="1" dirty="0"/>
          </a:p>
          <a:p>
            <a:pPr>
              <a:lnSpc>
                <a:spcPct val="90000"/>
              </a:lnSpc>
            </a:pPr>
            <a:r>
              <a:rPr lang="fr-FR" sz="1700" b="1" dirty="0"/>
              <a:t>X-Frame-Options</a:t>
            </a:r>
            <a:r>
              <a:rPr lang="fr-FR" sz="1700" dirty="0"/>
              <a:t> : empêche d’intégrer le site dans une </a:t>
            </a:r>
            <a:r>
              <a:rPr lang="fr-FR" sz="1700" dirty="0" err="1"/>
              <a:t>iframe</a:t>
            </a:r>
            <a:r>
              <a:rPr lang="fr-FR" sz="1700" dirty="0"/>
              <a:t> </a:t>
            </a:r>
            <a:r>
              <a:rPr lang="fr-FR" sz="1700" dirty="0" err="1"/>
              <a:t>malveillanbte</a:t>
            </a:r>
            <a:r>
              <a:rPr lang="fr-FR" sz="1700" dirty="0"/>
              <a:t> (clickjacking)</a:t>
            </a:r>
          </a:p>
          <a:p>
            <a:pPr>
              <a:lnSpc>
                <a:spcPct val="90000"/>
              </a:lnSpc>
            </a:pPr>
            <a:endParaRPr lang="fr-FR" sz="1700" dirty="0"/>
          </a:p>
          <a:p>
            <a:pPr>
              <a:lnSpc>
                <a:spcPct val="90000"/>
              </a:lnSpc>
            </a:pPr>
            <a:r>
              <a:rPr lang="fr-FR" sz="1700" dirty="0"/>
              <a:t>A02:2025 dans le classement OWASP : ces outils de configurations sont la 2</a:t>
            </a:r>
            <a:r>
              <a:rPr lang="fr-FR" sz="1700" baseline="30000" dirty="0"/>
              <a:t>ème</a:t>
            </a:r>
            <a:r>
              <a:rPr lang="fr-FR" sz="1700" dirty="0"/>
              <a:t> cause de vulnérabilité</a:t>
            </a:r>
          </a:p>
        </p:txBody>
      </p:sp>
      <p:sp>
        <p:nvSpPr>
          <p:cNvPr id="4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1963894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3C24CC-4C6C-B6A9-B11E-74B5B2B1B032}"/>
            </a:ext>
          </a:extLst>
        </p:cNvPr>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5EBB30F-17F6-F2D3-44A7-939A2C0DA01A}"/>
              </a:ext>
            </a:extLst>
          </p:cNvPr>
          <p:cNvSpPr>
            <a:spLocks noGrp="1"/>
          </p:cNvSpPr>
          <p:nvPr>
            <p:ph type="title"/>
          </p:nvPr>
        </p:nvSpPr>
        <p:spPr>
          <a:xfrm>
            <a:off x="1286933" y="609600"/>
            <a:ext cx="10197494" cy="1099457"/>
          </a:xfrm>
        </p:spPr>
        <p:txBody>
          <a:bodyPr>
            <a:normAutofit/>
          </a:bodyPr>
          <a:lstStyle/>
          <a:p>
            <a:r>
              <a:rPr lang="fr-FR" dirty="0"/>
              <a:t>BASE DE DONNÉES</a:t>
            </a:r>
          </a:p>
        </p:txBody>
      </p:sp>
      <p:sp>
        <p:nvSpPr>
          <p:cNvPr id="69" name="Isosceles Triangle 58">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0" name="Isosceles Triangle 60">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aphicFrame>
        <p:nvGraphicFramePr>
          <p:cNvPr id="53" name="Espace réservé du contenu 2">
            <a:extLst>
              <a:ext uri="{FF2B5EF4-FFF2-40B4-BE49-F238E27FC236}">
                <a16:creationId xmlns:a16="http://schemas.microsoft.com/office/drawing/2014/main" id="{B52F32B5-B30E-5E73-F668-37A8224C0890}"/>
              </a:ext>
            </a:extLst>
          </p:cNvPr>
          <p:cNvGraphicFramePr>
            <a:graphicFrameLocks noGrp="1"/>
          </p:cNvGraphicFramePr>
          <p:nvPr>
            <p:ph idx="1"/>
            <p:extLst>
              <p:ext uri="{D42A27DB-BD31-4B8C-83A1-F6EECF244321}">
                <p14:modId xmlns:p14="http://schemas.microsoft.com/office/powerpoint/2010/main" val="4198957469"/>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0844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751B75-674F-F4E7-1977-DFB542B5BB0E}"/>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44176814-E79E-32C7-64AB-1DD179A55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2874760-1C44-A8FD-3288-37E3BAD5E75D}"/>
              </a:ext>
            </a:extLst>
          </p:cNvPr>
          <p:cNvSpPr>
            <a:spLocks noGrp="1"/>
          </p:cNvSpPr>
          <p:nvPr>
            <p:ph type="title"/>
          </p:nvPr>
        </p:nvSpPr>
        <p:spPr>
          <a:xfrm>
            <a:off x="1333501" y="609600"/>
            <a:ext cx="8596668" cy="1320800"/>
          </a:xfrm>
        </p:spPr>
        <p:txBody>
          <a:bodyPr>
            <a:normAutofit/>
          </a:bodyPr>
          <a:lstStyle/>
          <a:p>
            <a:r>
              <a:rPr lang="fr-FR" dirty="0"/>
              <a:t>BASE DE DONNÉES : FAILLES POTENTIELLES</a:t>
            </a:r>
          </a:p>
        </p:txBody>
      </p:sp>
      <p:sp>
        <p:nvSpPr>
          <p:cNvPr id="49" name="Isosceles Triangle 39">
            <a:extLst>
              <a:ext uri="{FF2B5EF4-FFF2-40B4-BE49-F238E27FC236}">
                <a16:creationId xmlns:a16="http://schemas.microsoft.com/office/drawing/2014/main" id="{1B46A419-1AF2-C752-F474-122C3777F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0" name="Isosceles Triangle 41">
            <a:extLst>
              <a:ext uri="{FF2B5EF4-FFF2-40B4-BE49-F238E27FC236}">
                <a16:creationId xmlns:a16="http://schemas.microsoft.com/office/drawing/2014/main" id="{8C4D8645-469C-6415-EAF1-51A83F71A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51" name="Straight Connector 43">
            <a:extLst>
              <a:ext uri="{FF2B5EF4-FFF2-40B4-BE49-F238E27FC236}">
                <a16:creationId xmlns:a16="http://schemas.microsoft.com/office/drawing/2014/main" id="{4F2A7522-CC82-75AD-A961-34C1C3C1B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6694B19-F07E-0D16-7A96-5027B08DB9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9" name="Espace réservé du contenu 2">
            <a:extLst>
              <a:ext uri="{FF2B5EF4-FFF2-40B4-BE49-F238E27FC236}">
                <a16:creationId xmlns:a16="http://schemas.microsoft.com/office/drawing/2014/main" id="{8EAC394A-015B-2802-EF34-3E6A1481C25C}"/>
              </a:ext>
            </a:extLst>
          </p:cNvPr>
          <p:cNvSpPr>
            <a:spLocks noGrp="1"/>
          </p:cNvSpPr>
          <p:nvPr>
            <p:ph idx="1"/>
          </p:nvPr>
        </p:nvSpPr>
        <p:spPr>
          <a:xfrm>
            <a:off x="1333502" y="2160589"/>
            <a:ext cx="8470898" cy="4240211"/>
          </a:xfrm>
        </p:spPr>
        <p:txBody>
          <a:bodyPr>
            <a:normAutofit fontScale="92500"/>
          </a:bodyPr>
          <a:lstStyle/>
          <a:p>
            <a:pPr>
              <a:lnSpc>
                <a:spcPct val="90000"/>
              </a:lnSpc>
            </a:pPr>
            <a:r>
              <a:rPr lang="fr-FR" sz="1700" dirty="0"/>
              <a:t>Accès direct exposé : port MySQL/PostgreSQL accessible depuis internet</a:t>
            </a:r>
          </a:p>
          <a:p>
            <a:pPr lvl="1">
              <a:lnSpc>
                <a:spcPct val="90000"/>
              </a:lnSpc>
            </a:pPr>
            <a:r>
              <a:rPr lang="fr-FR" sz="1500" dirty="0"/>
              <a:t>Devrait être accessible depuis un réseau interne</a:t>
            </a:r>
          </a:p>
          <a:p>
            <a:pPr>
              <a:lnSpc>
                <a:spcPct val="90000"/>
              </a:lnSpc>
            </a:pPr>
            <a:endParaRPr lang="fr-FR" sz="1700" dirty="0"/>
          </a:p>
          <a:p>
            <a:pPr>
              <a:lnSpc>
                <a:spcPct val="90000"/>
              </a:lnSpc>
            </a:pPr>
            <a:r>
              <a:rPr lang="fr-FR" sz="1700" dirty="0"/>
              <a:t>Compte administrateur par défaut, mot de passe faible ou absent</a:t>
            </a:r>
          </a:p>
          <a:p>
            <a:pPr lvl="1">
              <a:lnSpc>
                <a:spcPct val="90000"/>
              </a:lnSpc>
            </a:pPr>
            <a:r>
              <a:rPr lang="fr-FR" sz="1500" dirty="0"/>
              <a:t>Même en environnement de test, il est recommandé de ne pas utiliser un mot de passe trivial</a:t>
            </a:r>
          </a:p>
          <a:p>
            <a:pPr>
              <a:lnSpc>
                <a:spcPct val="90000"/>
              </a:lnSpc>
            </a:pPr>
            <a:endParaRPr lang="fr-FR" sz="1700" dirty="0"/>
          </a:p>
          <a:p>
            <a:pPr>
              <a:lnSpc>
                <a:spcPct val="90000"/>
              </a:lnSpc>
            </a:pPr>
            <a:r>
              <a:rPr lang="fr-FR" sz="1700" dirty="0"/>
              <a:t>Sauvegardes non chiffrées, stockées sans contrôle d’accès</a:t>
            </a:r>
          </a:p>
          <a:p>
            <a:pPr lvl="1">
              <a:lnSpc>
                <a:spcPct val="90000"/>
              </a:lnSpc>
            </a:pPr>
            <a:r>
              <a:rPr lang="fr-FR" sz="1500" dirty="0"/>
              <a:t>Les sauvegardes sont souvent négligées, mais il est facile de récupérer l’intégralité de la base via celles-ci</a:t>
            </a:r>
          </a:p>
          <a:p>
            <a:pPr>
              <a:lnSpc>
                <a:spcPct val="90000"/>
              </a:lnSpc>
            </a:pPr>
            <a:endParaRPr lang="fr-FR" sz="1700" dirty="0"/>
          </a:p>
          <a:p>
            <a:pPr>
              <a:lnSpc>
                <a:spcPct val="90000"/>
              </a:lnSpc>
            </a:pPr>
            <a:r>
              <a:rPr lang="fr-FR" sz="1700" dirty="0"/>
              <a:t>Privilèges excessifs : l’application se connecte avec un compte ayant tous les droits</a:t>
            </a:r>
          </a:p>
          <a:p>
            <a:pPr lvl="1">
              <a:lnSpc>
                <a:spcPct val="90000"/>
              </a:lnSpc>
            </a:pPr>
            <a:r>
              <a:rPr lang="fr-FR" sz="1500" dirty="0"/>
              <a:t>Il est recommandé de n’autoriser que des droits strictement nécessaires (SELECT/INSERT/UPDATE) sur ses propres tables</a:t>
            </a:r>
          </a:p>
        </p:txBody>
      </p:sp>
      <p:sp>
        <p:nvSpPr>
          <p:cNvPr id="48" name="Rectangle 27">
            <a:extLst>
              <a:ext uri="{FF2B5EF4-FFF2-40B4-BE49-F238E27FC236}">
                <a16:creationId xmlns:a16="http://schemas.microsoft.com/office/drawing/2014/main" id="{4DC5B19F-3588-E80E-A2E2-0B9DE703D5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33976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51942C-8220-697E-1B22-2EF2E9C46DC1}"/>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EE996FB-90FA-8E2D-9705-D61221356D51}"/>
              </a:ext>
            </a:extLst>
          </p:cNvPr>
          <p:cNvSpPr>
            <a:spLocks noGrp="1"/>
          </p:cNvSpPr>
          <p:nvPr>
            <p:ph type="title"/>
          </p:nvPr>
        </p:nvSpPr>
        <p:spPr>
          <a:xfrm>
            <a:off x="1333501" y="609600"/>
            <a:ext cx="8596668" cy="1320800"/>
          </a:xfrm>
        </p:spPr>
        <p:txBody>
          <a:bodyPr>
            <a:normAutofit/>
          </a:bodyPr>
          <a:lstStyle/>
          <a:p>
            <a:r>
              <a:rPr lang="fr-FR" dirty="0"/>
              <a:t>INJECTION SQL</a:t>
            </a:r>
          </a:p>
        </p:txBody>
      </p:sp>
      <p:sp>
        <p:nvSpPr>
          <p:cNvPr id="58" name="Isosceles Triangle 57">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6D04559E-E5EF-CA60-711A-1F1E6F457103}"/>
              </a:ext>
            </a:extLst>
          </p:cNvPr>
          <p:cNvSpPr>
            <a:spLocks noGrp="1"/>
          </p:cNvSpPr>
          <p:nvPr>
            <p:ph idx="1"/>
          </p:nvPr>
        </p:nvSpPr>
        <p:spPr>
          <a:xfrm>
            <a:off x="1333501" y="1681958"/>
            <a:ext cx="8596668" cy="3880773"/>
          </a:xfrm>
        </p:spPr>
        <p:txBody>
          <a:bodyPr>
            <a:normAutofit fontScale="92500" lnSpcReduction="10000"/>
          </a:bodyPr>
          <a:lstStyle/>
          <a:p>
            <a:pPr>
              <a:lnSpc>
                <a:spcPct val="90000"/>
              </a:lnSpc>
            </a:pPr>
            <a:r>
              <a:rPr lang="fr-FR" sz="1500" dirty="0"/>
              <a:t>Une donnée utilisateur concaténée directement dans une requête SQL</a:t>
            </a:r>
          </a:p>
          <a:p>
            <a:pPr>
              <a:lnSpc>
                <a:spcPct val="90000"/>
              </a:lnSpc>
            </a:pPr>
            <a:endParaRPr lang="fr-FR" sz="1500" dirty="0"/>
          </a:p>
          <a:p>
            <a:pPr>
              <a:lnSpc>
                <a:spcPct val="90000"/>
              </a:lnSpc>
            </a:pPr>
            <a:r>
              <a:rPr lang="fr-FR" sz="1500" dirty="0"/>
              <a:t>L’attaquant injecte du code SQL qui modifie la logique de la requête</a:t>
            </a:r>
          </a:p>
          <a:p>
            <a:pPr>
              <a:lnSpc>
                <a:spcPct val="90000"/>
              </a:lnSpc>
            </a:pPr>
            <a:endParaRPr lang="fr-FR" sz="1500" dirty="0"/>
          </a:p>
          <a:p>
            <a:pPr>
              <a:lnSpc>
                <a:spcPct val="90000"/>
              </a:lnSpc>
            </a:pPr>
            <a:r>
              <a:rPr lang="fr-FR" sz="1500" dirty="0"/>
              <a:t>Exemple classique : contournement d’authentification</a:t>
            </a:r>
          </a:p>
          <a:p>
            <a:pPr lvl="1">
              <a:lnSpc>
                <a:spcPct val="90000"/>
              </a:lnSpc>
            </a:pPr>
            <a:r>
              <a:rPr lang="en-US" sz="1500" b="1" dirty="0">
                <a:highlight>
                  <a:srgbClr val="C0C0C0"/>
                </a:highlight>
              </a:rPr>
              <a:t>$query = "SELECT * FROM users WHERE email = '$email' AND password = '$password'";</a:t>
            </a:r>
          </a:p>
          <a:p>
            <a:pPr lvl="1">
              <a:lnSpc>
                <a:spcPct val="90000"/>
              </a:lnSpc>
            </a:pPr>
            <a:r>
              <a:rPr lang="fr-FR" sz="1500" dirty="0"/>
              <a:t>L’attaquant saisit dans le champ mot de passe : </a:t>
            </a:r>
            <a:r>
              <a:rPr lang="fr-FR" sz="1500" b="1" dirty="0">
                <a:highlight>
                  <a:srgbClr val="C0C0C0"/>
                </a:highlight>
              </a:rPr>
              <a:t>‘ OR ‘1’ = ‘ 1</a:t>
            </a:r>
          </a:p>
          <a:p>
            <a:pPr lvl="1">
              <a:lnSpc>
                <a:spcPct val="90000"/>
              </a:lnSpc>
            </a:pPr>
            <a:r>
              <a:rPr lang="en-US" sz="1500" b="1" dirty="0">
                <a:highlight>
                  <a:srgbClr val="C0C0C0"/>
                </a:highlight>
              </a:rPr>
              <a:t>SELECT * FROM users WHERE email = 'admin@site.com' AND password = '' OR '1'='1'</a:t>
            </a:r>
            <a:endParaRPr lang="fr-FR" sz="1500" b="1" dirty="0">
              <a:highlight>
                <a:srgbClr val="C0C0C0"/>
              </a:highlight>
            </a:endParaRPr>
          </a:p>
          <a:p>
            <a:pPr lvl="1">
              <a:lnSpc>
                <a:spcPct val="90000"/>
              </a:lnSpc>
            </a:pPr>
            <a:r>
              <a:rPr lang="fr-FR" sz="1500" dirty="0"/>
              <a:t>Comme AND est prioritaire sur OR, la condition est vraie pour toutes les lignes : la requête renvoie l’intégralité de la table </a:t>
            </a:r>
            <a:r>
              <a:rPr lang="fr-FR" sz="1500" dirty="0" err="1"/>
              <a:t>users</a:t>
            </a:r>
            <a:r>
              <a:rPr lang="fr-FR" sz="1500" dirty="0"/>
              <a:t>, et l’application connecte en général l’attaquant comme le premier compte retourné</a:t>
            </a:r>
          </a:p>
          <a:p>
            <a:pPr marL="457200" lvl="1" indent="0">
              <a:lnSpc>
                <a:spcPct val="90000"/>
              </a:lnSpc>
              <a:buNone/>
            </a:pPr>
            <a:endParaRPr lang="fr-FR" sz="1500" b="1" dirty="0"/>
          </a:p>
          <a:p>
            <a:pPr>
              <a:lnSpc>
                <a:spcPct val="90000"/>
              </a:lnSpc>
            </a:pPr>
            <a:r>
              <a:rPr lang="fr-FR" sz="1500" dirty="0"/>
              <a:t>Impact possible : lecture de toute la base, modification, suppression, parfois exécution de commandes serveur</a:t>
            </a:r>
          </a:p>
        </p:txBody>
      </p:sp>
      <p:sp>
        <p:nvSpPr>
          <p:cNvPr id="60" name="Isosceles Triangle 59">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8752449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1C767F-0D2F-FB50-C492-75BF300567D3}"/>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1012B55D-FCFF-5370-880A-D9DEE252F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B40FBB5-6FCE-76A4-A079-CB21424E204D}"/>
              </a:ext>
            </a:extLst>
          </p:cNvPr>
          <p:cNvSpPr>
            <a:spLocks noGrp="1"/>
          </p:cNvSpPr>
          <p:nvPr>
            <p:ph type="title"/>
          </p:nvPr>
        </p:nvSpPr>
        <p:spPr>
          <a:xfrm>
            <a:off x="1333501" y="609600"/>
            <a:ext cx="8596668" cy="1320800"/>
          </a:xfrm>
        </p:spPr>
        <p:txBody>
          <a:bodyPr>
            <a:normAutofit/>
          </a:bodyPr>
          <a:lstStyle/>
          <a:p>
            <a:r>
              <a:rPr lang="fr-FR" dirty="0"/>
              <a:t>REQUÊTES PARAMÉTRÉES ET PROCÉDURES STOCKÉES</a:t>
            </a:r>
          </a:p>
        </p:txBody>
      </p:sp>
      <p:sp>
        <p:nvSpPr>
          <p:cNvPr id="49" name="Isosceles Triangle 39">
            <a:extLst>
              <a:ext uri="{FF2B5EF4-FFF2-40B4-BE49-F238E27FC236}">
                <a16:creationId xmlns:a16="http://schemas.microsoft.com/office/drawing/2014/main" id="{E530E81B-F177-E61B-CC90-31227B44F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0" name="Isosceles Triangle 41">
            <a:extLst>
              <a:ext uri="{FF2B5EF4-FFF2-40B4-BE49-F238E27FC236}">
                <a16:creationId xmlns:a16="http://schemas.microsoft.com/office/drawing/2014/main" id="{09920076-72A5-5139-2F7A-A6BA295131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51" name="Straight Connector 43">
            <a:extLst>
              <a:ext uri="{FF2B5EF4-FFF2-40B4-BE49-F238E27FC236}">
                <a16:creationId xmlns:a16="http://schemas.microsoft.com/office/drawing/2014/main" id="{C4240538-A3CF-1608-E601-9BBBD0EB8B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60C10BD-39D4-0D92-F658-7FF9EA507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9" name="Espace réservé du contenu 2">
            <a:extLst>
              <a:ext uri="{FF2B5EF4-FFF2-40B4-BE49-F238E27FC236}">
                <a16:creationId xmlns:a16="http://schemas.microsoft.com/office/drawing/2014/main" id="{80284A9E-CB82-EB56-CF53-E30CE0B14A24}"/>
              </a:ext>
            </a:extLst>
          </p:cNvPr>
          <p:cNvSpPr>
            <a:spLocks noGrp="1"/>
          </p:cNvSpPr>
          <p:nvPr>
            <p:ph idx="1"/>
          </p:nvPr>
        </p:nvSpPr>
        <p:spPr>
          <a:xfrm>
            <a:off x="1333502" y="2160589"/>
            <a:ext cx="8470898" cy="4240211"/>
          </a:xfrm>
        </p:spPr>
        <p:txBody>
          <a:bodyPr>
            <a:normAutofit/>
          </a:bodyPr>
          <a:lstStyle/>
          <a:p>
            <a:pPr>
              <a:lnSpc>
                <a:spcPct val="90000"/>
              </a:lnSpc>
            </a:pPr>
            <a:r>
              <a:rPr lang="fr-FR" sz="1700" dirty="0"/>
              <a:t>Requête paramétrée : la donnée utilisateur n’est jamais insérée directement dans la chaîne SQL</a:t>
            </a:r>
          </a:p>
          <a:p>
            <a:pPr>
              <a:lnSpc>
                <a:spcPct val="90000"/>
              </a:lnSpc>
            </a:pPr>
            <a:endParaRPr lang="fr-FR" sz="1700" dirty="0"/>
          </a:p>
          <a:p>
            <a:pPr>
              <a:lnSpc>
                <a:spcPct val="90000"/>
              </a:lnSpc>
            </a:pPr>
            <a:r>
              <a:rPr lang="fr-FR" sz="1700" dirty="0"/>
              <a:t>Le moteur SQL distingue structure de la requête et données, quelle que soit leur contenu</a:t>
            </a:r>
          </a:p>
          <a:p>
            <a:pPr>
              <a:lnSpc>
                <a:spcPct val="90000"/>
              </a:lnSpc>
            </a:pPr>
            <a:endParaRPr lang="fr-FR" sz="1700" dirty="0"/>
          </a:p>
          <a:p>
            <a:pPr>
              <a:lnSpc>
                <a:spcPct val="90000"/>
              </a:lnSpc>
            </a:pPr>
            <a:r>
              <a:rPr lang="fr-FR" sz="1700" dirty="0"/>
              <a:t>Procédures stockées : logique SQL prédéfinie côté serveur, appelée avec des paramètres</a:t>
            </a:r>
          </a:p>
          <a:p>
            <a:pPr lvl="1">
              <a:lnSpc>
                <a:spcPct val="90000"/>
              </a:lnSpc>
            </a:pPr>
            <a:r>
              <a:rPr lang="fr-FR" sz="1500" dirty="0"/>
              <a:t>Elles ne sont pas sécurisées par nature : une procédure qui utilise ses paramètres directement est sûre, mais une procédure qui construit dynamiquement sa requête en concaténant ses paramètres (PREPARE/EXECUTE) reste vulnérable, exactement comme du SQL concaténé côté application</a:t>
            </a:r>
          </a:p>
          <a:p>
            <a:pPr marL="0" indent="0">
              <a:lnSpc>
                <a:spcPct val="90000"/>
              </a:lnSpc>
              <a:buNone/>
            </a:pPr>
            <a:endParaRPr lang="fr-FR" sz="1500" dirty="0"/>
          </a:p>
        </p:txBody>
      </p:sp>
      <p:sp>
        <p:nvSpPr>
          <p:cNvPr id="48" name="Rectangle 27">
            <a:extLst>
              <a:ext uri="{FF2B5EF4-FFF2-40B4-BE49-F238E27FC236}">
                <a16:creationId xmlns:a16="http://schemas.microsoft.com/office/drawing/2014/main" id="{9F616600-B19D-F56E-3738-5DD5DEC6B6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402483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003E15-3CCA-080A-F256-FAC165807D28}"/>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2F6574C2-1CFD-7E18-03E4-ED389338B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43F1013-29E3-6F36-C1EA-D7F894FDB524}"/>
              </a:ext>
            </a:extLst>
          </p:cNvPr>
          <p:cNvSpPr>
            <a:spLocks noGrp="1"/>
          </p:cNvSpPr>
          <p:nvPr>
            <p:ph type="title"/>
          </p:nvPr>
        </p:nvSpPr>
        <p:spPr>
          <a:xfrm>
            <a:off x="1333501" y="609600"/>
            <a:ext cx="8596668" cy="1320800"/>
          </a:xfrm>
        </p:spPr>
        <p:txBody>
          <a:bodyPr>
            <a:normAutofit/>
          </a:bodyPr>
          <a:lstStyle/>
          <a:p>
            <a:r>
              <a:rPr lang="fr-FR" dirty="0"/>
              <a:t>DOCTRINE ORM &amp; QUERYBUILDER</a:t>
            </a:r>
          </a:p>
        </p:txBody>
      </p:sp>
      <p:sp>
        <p:nvSpPr>
          <p:cNvPr id="49" name="Isosceles Triangle 39">
            <a:extLst>
              <a:ext uri="{FF2B5EF4-FFF2-40B4-BE49-F238E27FC236}">
                <a16:creationId xmlns:a16="http://schemas.microsoft.com/office/drawing/2014/main" id="{136754B6-9D99-261C-6803-3E35D80C4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0" name="Isosceles Triangle 41">
            <a:extLst>
              <a:ext uri="{FF2B5EF4-FFF2-40B4-BE49-F238E27FC236}">
                <a16:creationId xmlns:a16="http://schemas.microsoft.com/office/drawing/2014/main" id="{9AF82B36-FA79-A22A-95B1-F7852463F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51" name="Straight Connector 43">
            <a:extLst>
              <a:ext uri="{FF2B5EF4-FFF2-40B4-BE49-F238E27FC236}">
                <a16:creationId xmlns:a16="http://schemas.microsoft.com/office/drawing/2014/main" id="{13E836D4-BADA-82E1-D7ED-2C8ED9AE2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E9DA944-5A59-9F41-A34A-BA14F2FCA8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9" name="Espace réservé du contenu 2">
            <a:extLst>
              <a:ext uri="{FF2B5EF4-FFF2-40B4-BE49-F238E27FC236}">
                <a16:creationId xmlns:a16="http://schemas.microsoft.com/office/drawing/2014/main" id="{260FF135-BD30-807D-47C0-A2F92B596439}"/>
              </a:ext>
            </a:extLst>
          </p:cNvPr>
          <p:cNvSpPr>
            <a:spLocks noGrp="1"/>
          </p:cNvSpPr>
          <p:nvPr>
            <p:ph idx="1"/>
          </p:nvPr>
        </p:nvSpPr>
        <p:spPr>
          <a:xfrm>
            <a:off x="1333502" y="2160589"/>
            <a:ext cx="8470898" cy="4240211"/>
          </a:xfrm>
        </p:spPr>
        <p:txBody>
          <a:bodyPr>
            <a:normAutofit/>
          </a:bodyPr>
          <a:lstStyle/>
          <a:p>
            <a:pPr>
              <a:lnSpc>
                <a:spcPct val="90000"/>
              </a:lnSpc>
            </a:pPr>
            <a:r>
              <a:rPr lang="fr-FR" sz="1700" dirty="0"/>
              <a:t>Doctrine paramètre automatiquement toutes les requêtes générées via ses méthodes standards</a:t>
            </a:r>
          </a:p>
          <a:p>
            <a:pPr>
              <a:lnSpc>
                <a:spcPct val="90000"/>
              </a:lnSpc>
            </a:pPr>
            <a:endParaRPr lang="fr-FR" sz="1700" dirty="0"/>
          </a:p>
          <a:p>
            <a:pPr>
              <a:lnSpc>
                <a:spcPct val="90000"/>
              </a:lnSpc>
            </a:pPr>
            <a:r>
              <a:rPr lang="fr-FR" sz="1700" dirty="0" err="1"/>
              <a:t>find</a:t>
            </a:r>
            <a:r>
              <a:rPr lang="fr-FR" sz="1700" dirty="0"/>
              <a:t>(), </a:t>
            </a:r>
            <a:r>
              <a:rPr lang="fr-FR" sz="1700" b="1" dirty="0" err="1"/>
              <a:t>findBy</a:t>
            </a:r>
            <a:r>
              <a:rPr lang="fr-FR" sz="1700" b="1" dirty="0"/>
              <a:t>(), </a:t>
            </a:r>
            <a:r>
              <a:rPr lang="fr-FR" sz="1700" b="1" dirty="0" err="1"/>
              <a:t>QueryBuilder</a:t>
            </a:r>
            <a:r>
              <a:rPr lang="fr-FR" sz="1700" dirty="0"/>
              <a:t> avec </a:t>
            </a:r>
            <a:r>
              <a:rPr lang="fr-FR" sz="1700" b="1" dirty="0" err="1"/>
              <a:t>setParameter</a:t>
            </a:r>
            <a:r>
              <a:rPr lang="fr-FR" sz="1700" dirty="0"/>
              <a:t> : tout est protégé nativement</a:t>
            </a:r>
          </a:p>
          <a:p>
            <a:pPr>
              <a:lnSpc>
                <a:spcPct val="90000"/>
              </a:lnSpc>
            </a:pPr>
            <a:endParaRPr lang="fr-FR" sz="1700" dirty="0"/>
          </a:p>
          <a:p>
            <a:pPr>
              <a:lnSpc>
                <a:spcPct val="90000"/>
              </a:lnSpc>
            </a:pPr>
            <a:endParaRPr lang="fr-FR" sz="1500" dirty="0"/>
          </a:p>
        </p:txBody>
      </p:sp>
      <p:sp>
        <p:nvSpPr>
          <p:cNvPr id="48" name="Rectangle 27">
            <a:extLst>
              <a:ext uri="{FF2B5EF4-FFF2-40B4-BE49-F238E27FC236}">
                <a16:creationId xmlns:a16="http://schemas.microsoft.com/office/drawing/2014/main" id="{A0339B35-5221-39BA-87D2-89825D81A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ZoneTexte 5">
            <a:extLst>
              <a:ext uri="{FF2B5EF4-FFF2-40B4-BE49-F238E27FC236}">
                <a16:creationId xmlns:a16="http://schemas.microsoft.com/office/drawing/2014/main" id="{B738FC7E-2B29-2F35-2C86-421CD5393797}"/>
              </a:ext>
            </a:extLst>
          </p:cNvPr>
          <p:cNvSpPr txBox="1"/>
          <p:nvPr/>
        </p:nvSpPr>
        <p:spPr>
          <a:xfrm>
            <a:off x="3385890" y="3819029"/>
            <a:ext cx="4491889" cy="923330"/>
          </a:xfrm>
          <a:prstGeom prst="rect">
            <a:avLst/>
          </a:prstGeom>
          <a:solidFill>
            <a:schemeClr val="bg1">
              <a:lumMod val="95000"/>
            </a:schemeClr>
          </a:solidFill>
          <a:ln>
            <a:solidFill>
              <a:schemeClr val="tx1"/>
            </a:solidFill>
          </a:ln>
        </p:spPr>
        <p:txBody>
          <a:bodyPr wrap="square">
            <a:spAutoFit/>
          </a:bodyPr>
          <a:lstStyle/>
          <a:p>
            <a:r>
              <a:rPr lang="fr-FR" dirty="0"/>
              <a:t>$</a:t>
            </a:r>
            <a:r>
              <a:rPr lang="fr-FR" dirty="0" err="1"/>
              <a:t>qb</a:t>
            </a:r>
            <a:r>
              <a:rPr lang="fr-FR" dirty="0"/>
              <a:t> = $</a:t>
            </a:r>
            <a:r>
              <a:rPr lang="fr-FR" dirty="0" err="1"/>
              <a:t>this</a:t>
            </a:r>
            <a:r>
              <a:rPr lang="fr-FR" dirty="0"/>
              <a:t>-&gt;</a:t>
            </a:r>
            <a:r>
              <a:rPr lang="fr-FR" dirty="0" err="1"/>
              <a:t>createQueryBuilder</a:t>
            </a:r>
            <a:r>
              <a:rPr lang="fr-FR" dirty="0"/>
              <a:t>('u');</a:t>
            </a:r>
          </a:p>
          <a:p>
            <a:r>
              <a:rPr lang="fr-FR" dirty="0"/>
              <a:t>$</a:t>
            </a:r>
            <a:r>
              <a:rPr lang="fr-FR" dirty="0" err="1"/>
              <a:t>qb</a:t>
            </a:r>
            <a:r>
              <a:rPr lang="fr-FR" dirty="0"/>
              <a:t>-&gt;</a:t>
            </a:r>
            <a:r>
              <a:rPr lang="fr-FR" dirty="0" err="1"/>
              <a:t>where</a:t>
            </a:r>
            <a:r>
              <a:rPr lang="fr-FR" dirty="0"/>
              <a:t>('</a:t>
            </a:r>
            <a:r>
              <a:rPr lang="fr-FR" dirty="0" err="1"/>
              <a:t>u.email</a:t>
            </a:r>
            <a:r>
              <a:rPr lang="fr-FR" dirty="0"/>
              <a:t> = :email')</a:t>
            </a:r>
          </a:p>
          <a:p>
            <a:r>
              <a:rPr lang="fr-FR" dirty="0"/>
              <a:t>   -&gt;</a:t>
            </a:r>
            <a:r>
              <a:rPr lang="fr-FR" dirty="0" err="1"/>
              <a:t>setParameter</a:t>
            </a:r>
            <a:r>
              <a:rPr lang="fr-FR" dirty="0"/>
              <a:t>('email', $email);</a:t>
            </a:r>
          </a:p>
        </p:txBody>
      </p:sp>
    </p:spTree>
    <p:extLst>
      <p:ext uri="{BB962C8B-B14F-4D97-AF65-F5344CB8AC3E}">
        <p14:creationId xmlns:p14="http://schemas.microsoft.com/office/powerpoint/2010/main" val="126444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B2E0DD-5097-CE67-CCD2-7691F8AFA6ED}"/>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2E4DD73-F8F8-2186-1676-4F43FBAACEB3}"/>
              </a:ext>
            </a:extLst>
          </p:cNvPr>
          <p:cNvSpPr>
            <a:spLocks noGrp="1"/>
          </p:cNvSpPr>
          <p:nvPr>
            <p:ph type="title"/>
          </p:nvPr>
        </p:nvSpPr>
        <p:spPr>
          <a:xfrm>
            <a:off x="1333501" y="609600"/>
            <a:ext cx="8596668" cy="1320800"/>
          </a:xfrm>
        </p:spPr>
        <p:txBody>
          <a:bodyPr>
            <a:normAutofit/>
          </a:bodyPr>
          <a:lstStyle/>
          <a:p>
            <a:r>
              <a:rPr lang="fr-FR" dirty="0"/>
              <a:t>RISQUES MALGRÉ L’ORM</a:t>
            </a:r>
          </a:p>
        </p:txBody>
      </p:sp>
      <p:sp>
        <p:nvSpPr>
          <p:cNvPr id="58" name="Isosceles Triangle 57">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A25D008D-F69E-54CB-D2B1-2BE25A46B10A}"/>
              </a:ext>
            </a:extLst>
          </p:cNvPr>
          <p:cNvSpPr>
            <a:spLocks noGrp="1"/>
          </p:cNvSpPr>
          <p:nvPr>
            <p:ph idx="1"/>
          </p:nvPr>
        </p:nvSpPr>
        <p:spPr>
          <a:xfrm>
            <a:off x="1333502" y="2160589"/>
            <a:ext cx="8596668" cy="3880773"/>
          </a:xfrm>
        </p:spPr>
        <p:txBody>
          <a:bodyPr>
            <a:normAutofit/>
          </a:bodyPr>
          <a:lstStyle/>
          <a:p>
            <a:pPr>
              <a:lnSpc>
                <a:spcPct val="90000"/>
              </a:lnSpc>
            </a:pPr>
            <a:r>
              <a:rPr lang="fr-FR" sz="1400"/>
              <a:t>Requêtes SQL natives : </a:t>
            </a:r>
            <a:r>
              <a:rPr lang="fr-FR" sz="1400" b="1" err="1"/>
              <a:t>executeQuery</a:t>
            </a:r>
            <a:r>
              <a:rPr lang="fr-FR" sz="1400"/>
              <a:t> ou </a:t>
            </a:r>
            <a:r>
              <a:rPr lang="fr-FR" sz="1400" b="1"/>
              <a:t>Connection::</a:t>
            </a:r>
            <a:r>
              <a:rPr lang="fr-FR" sz="1400" b="1" err="1"/>
              <a:t>query</a:t>
            </a:r>
            <a:r>
              <a:rPr lang="fr-FR" sz="1400"/>
              <a:t>, n’offre aucune protection automatique</a:t>
            </a:r>
          </a:p>
          <a:p>
            <a:pPr>
              <a:lnSpc>
                <a:spcPct val="90000"/>
              </a:lnSpc>
            </a:pPr>
            <a:endParaRPr lang="fr-FR" sz="1400" b="1"/>
          </a:p>
          <a:p>
            <a:pPr>
              <a:lnSpc>
                <a:spcPct val="90000"/>
              </a:lnSpc>
            </a:pPr>
            <a:r>
              <a:rPr lang="fr-FR" sz="1400"/>
              <a:t>Concaténation résiduelle dans le </a:t>
            </a:r>
            <a:r>
              <a:rPr lang="fr-FR" sz="1400" b="1"/>
              <a:t>DQL/</a:t>
            </a:r>
            <a:r>
              <a:rPr lang="fr-FR" sz="1400" b="1" err="1"/>
              <a:t>QueryBuilder</a:t>
            </a:r>
            <a:r>
              <a:rPr lang="fr-FR" sz="1400"/>
              <a:t> : construire dynamiquement une clause avec une variable</a:t>
            </a:r>
          </a:p>
          <a:p>
            <a:pPr lvl="1">
              <a:lnSpc>
                <a:spcPct val="90000"/>
              </a:lnSpc>
            </a:pPr>
            <a:r>
              <a:rPr lang="fr-FR" sz="1400" b="1" dirty="0"/>
              <a:t>$</a:t>
            </a:r>
            <a:r>
              <a:rPr lang="fr-FR" sz="1400" b="1" dirty="0" err="1"/>
              <a:t>conn</a:t>
            </a:r>
            <a:r>
              <a:rPr lang="fr-FR" sz="1400" b="1" dirty="0"/>
              <a:t>-&gt;</a:t>
            </a:r>
            <a:r>
              <a:rPr lang="fr-FR" sz="1400" b="1" dirty="0" err="1"/>
              <a:t>executeQuery</a:t>
            </a:r>
            <a:r>
              <a:rPr lang="fr-FR" sz="1400" b="1" dirty="0"/>
              <a:t>("SELECT * FROM </a:t>
            </a:r>
            <a:r>
              <a:rPr lang="fr-FR" sz="1400" b="1" dirty="0" err="1"/>
              <a:t>users</a:t>
            </a:r>
            <a:r>
              <a:rPr lang="fr-FR" sz="1400" b="1" dirty="0"/>
              <a:t> WHERE email = '" . $email . « ’ »);</a:t>
            </a:r>
            <a:endParaRPr lang="fr-FR" sz="1400" b="1"/>
          </a:p>
          <a:p>
            <a:pPr lvl="1">
              <a:lnSpc>
                <a:spcPct val="90000"/>
              </a:lnSpc>
            </a:pPr>
            <a:r>
              <a:rPr lang="fr-FR" sz="1400" b="1" dirty="0"/>
              <a:t>$</a:t>
            </a:r>
            <a:r>
              <a:rPr lang="fr-FR" sz="1400" b="1" dirty="0" err="1"/>
              <a:t>conn</a:t>
            </a:r>
            <a:r>
              <a:rPr lang="fr-FR" sz="1400" b="1" dirty="0"/>
              <a:t>-&gt;</a:t>
            </a:r>
            <a:r>
              <a:rPr lang="fr-FR" sz="1400" b="1" dirty="0" err="1"/>
              <a:t>executeQuery</a:t>
            </a:r>
            <a:r>
              <a:rPr lang="fr-FR" sz="1400" b="1" dirty="0"/>
              <a:t>("SELECT * FROM </a:t>
            </a:r>
            <a:r>
              <a:rPr lang="fr-FR" sz="1400" b="1" dirty="0" err="1"/>
              <a:t>users</a:t>
            </a:r>
            <a:r>
              <a:rPr lang="fr-FR" sz="1400" b="1" dirty="0"/>
              <a:t> WHERE email = ?", [$email]);</a:t>
            </a:r>
            <a:endParaRPr lang="fr-FR" sz="1400" b="1"/>
          </a:p>
          <a:p>
            <a:pPr lvl="1">
              <a:lnSpc>
                <a:spcPct val="90000"/>
              </a:lnSpc>
            </a:pPr>
            <a:r>
              <a:rPr lang="fr-FR" sz="1400" b="1" dirty="0"/>
              <a:t>$</a:t>
            </a:r>
            <a:r>
              <a:rPr lang="fr-FR" sz="1400" b="1" dirty="0" err="1"/>
              <a:t>qb</a:t>
            </a:r>
            <a:r>
              <a:rPr lang="fr-FR" sz="1400" b="1" dirty="0"/>
              <a:t>-&gt;</a:t>
            </a:r>
            <a:r>
              <a:rPr lang="fr-FR" sz="1400" b="1" dirty="0" err="1"/>
              <a:t>where</a:t>
            </a:r>
            <a:r>
              <a:rPr lang="fr-FR" sz="1400" b="1" dirty="0"/>
              <a:t>("</a:t>
            </a:r>
            <a:r>
              <a:rPr lang="fr-FR" sz="1400" b="1" dirty="0" err="1"/>
              <a:t>u.email</a:t>
            </a:r>
            <a:r>
              <a:rPr lang="fr-FR" sz="1400" b="1" dirty="0"/>
              <a:t> = '" . $email . "'"); </a:t>
            </a:r>
            <a:endParaRPr lang="fr-FR" sz="1400" b="1"/>
          </a:p>
          <a:p>
            <a:pPr lvl="1">
              <a:lnSpc>
                <a:spcPct val="90000"/>
              </a:lnSpc>
            </a:pPr>
            <a:r>
              <a:rPr lang="fr-FR" sz="1400" b="1" dirty="0"/>
              <a:t>$</a:t>
            </a:r>
            <a:r>
              <a:rPr lang="fr-FR" sz="1400" b="1" dirty="0" err="1"/>
              <a:t>qb</a:t>
            </a:r>
            <a:r>
              <a:rPr lang="fr-FR" sz="1400" b="1" dirty="0"/>
              <a:t>-&gt;</a:t>
            </a:r>
            <a:r>
              <a:rPr lang="fr-FR" sz="1400" b="1" dirty="0" err="1"/>
              <a:t>where</a:t>
            </a:r>
            <a:r>
              <a:rPr lang="fr-FR" sz="1400" b="1" dirty="0"/>
              <a:t>('</a:t>
            </a:r>
            <a:r>
              <a:rPr lang="fr-FR" sz="1400" b="1" dirty="0" err="1"/>
              <a:t>u.email</a:t>
            </a:r>
            <a:r>
              <a:rPr lang="fr-FR" sz="1400" b="1" dirty="0"/>
              <a:t> = :email')-&gt;</a:t>
            </a:r>
            <a:r>
              <a:rPr lang="fr-FR" sz="1400" b="1" dirty="0" err="1"/>
              <a:t>setParameter</a:t>
            </a:r>
            <a:r>
              <a:rPr lang="fr-FR" sz="1400" b="1" dirty="0"/>
              <a:t>('email', $email);</a:t>
            </a:r>
            <a:endParaRPr lang="fr-FR" sz="1400" b="1"/>
          </a:p>
          <a:p>
            <a:pPr>
              <a:lnSpc>
                <a:spcPct val="90000"/>
              </a:lnSpc>
            </a:pPr>
            <a:endParaRPr lang="fr-FR" sz="1400"/>
          </a:p>
          <a:p>
            <a:pPr>
              <a:lnSpc>
                <a:spcPct val="90000"/>
              </a:lnSpc>
            </a:pPr>
            <a:r>
              <a:rPr lang="fr-FR" sz="1400"/>
              <a:t>Noms de colonnes ou de tables dynamiques : non paramétrables en  SQL</a:t>
            </a:r>
          </a:p>
          <a:p>
            <a:pPr>
              <a:lnSpc>
                <a:spcPct val="90000"/>
              </a:lnSpc>
            </a:pPr>
            <a:endParaRPr lang="fr-FR" sz="1400"/>
          </a:p>
          <a:p>
            <a:pPr>
              <a:lnSpc>
                <a:spcPct val="90000"/>
              </a:lnSpc>
            </a:pPr>
            <a:r>
              <a:rPr lang="fr-FR" sz="1400"/>
              <a:t>L’ORM protège la donnée, pas la structure de la requête</a:t>
            </a:r>
          </a:p>
        </p:txBody>
      </p:sp>
      <p:sp>
        <p:nvSpPr>
          <p:cNvPr id="60" name="Isosceles Triangle 59">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1411353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5F51ED-0B01-2221-64FD-059AAEA3E4AE}"/>
            </a:ext>
          </a:extLst>
        </p:cNvPr>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65A556D6-2517-8102-31D9-73B73F864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04E9314-8A2B-E72C-3A9C-75E850089F16}"/>
              </a:ext>
            </a:extLst>
          </p:cNvPr>
          <p:cNvSpPr>
            <a:spLocks noGrp="1"/>
          </p:cNvSpPr>
          <p:nvPr>
            <p:ph type="title"/>
          </p:nvPr>
        </p:nvSpPr>
        <p:spPr>
          <a:xfrm>
            <a:off x="1286933" y="609600"/>
            <a:ext cx="10197494" cy="1099457"/>
          </a:xfrm>
        </p:spPr>
        <p:txBody>
          <a:bodyPr>
            <a:normAutofit/>
          </a:bodyPr>
          <a:lstStyle/>
          <a:p>
            <a:r>
              <a:rPr lang="fr-FR"/>
              <a:t>SÉCURISER LES COMMUNICATIONS SORTANTES</a:t>
            </a:r>
            <a:endParaRPr lang="fr-FR" dirty="0"/>
          </a:p>
        </p:txBody>
      </p:sp>
      <p:sp>
        <p:nvSpPr>
          <p:cNvPr id="69" name="Isosceles Triangle 58">
            <a:extLst>
              <a:ext uri="{FF2B5EF4-FFF2-40B4-BE49-F238E27FC236}">
                <a16:creationId xmlns:a16="http://schemas.microsoft.com/office/drawing/2014/main" id="{220AB3C0-D11C-4D49-0684-57893CCDB3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0" name="Isosceles Triangle 60">
            <a:extLst>
              <a:ext uri="{FF2B5EF4-FFF2-40B4-BE49-F238E27FC236}">
                <a16:creationId xmlns:a16="http://schemas.microsoft.com/office/drawing/2014/main" id="{C7170C9A-EC36-89E0-24E3-AB9E27832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aphicFrame>
        <p:nvGraphicFramePr>
          <p:cNvPr id="72" name="Espace réservé du contenu 3">
            <a:extLst>
              <a:ext uri="{FF2B5EF4-FFF2-40B4-BE49-F238E27FC236}">
                <a16:creationId xmlns:a16="http://schemas.microsoft.com/office/drawing/2014/main" id="{F5029114-6CDC-74D5-C3DB-F989F90CA8E3}"/>
              </a:ext>
            </a:extLst>
          </p:cNvPr>
          <p:cNvGraphicFramePr>
            <a:graphicFrameLocks noGrp="1"/>
          </p:cNvGraphicFramePr>
          <p:nvPr>
            <p:ph idx="1"/>
            <p:extLst>
              <p:ext uri="{D42A27DB-BD31-4B8C-83A1-F6EECF244321}">
                <p14:modId xmlns:p14="http://schemas.microsoft.com/office/powerpoint/2010/main" val="2810183949"/>
              </p:ext>
            </p:extLst>
          </p:nvPr>
        </p:nvGraphicFramePr>
        <p:xfrm>
          <a:off x="1286933" y="2072813"/>
          <a:ext cx="8596668"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3026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A9EE8-21A4-FB71-579D-CB0C494C88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AC76B98-BB4A-FAE6-5B7D-C9A92D95CA5F}"/>
              </a:ext>
            </a:extLst>
          </p:cNvPr>
          <p:cNvSpPr>
            <a:spLocks noGrp="1"/>
          </p:cNvSpPr>
          <p:nvPr>
            <p:ph type="title"/>
          </p:nvPr>
        </p:nvSpPr>
        <p:spPr>
          <a:xfrm>
            <a:off x="1333501" y="609600"/>
            <a:ext cx="8596668" cy="1320800"/>
          </a:xfrm>
        </p:spPr>
        <p:txBody>
          <a:bodyPr>
            <a:normAutofit/>
          </a:bodyPr>
          <a:lstStyle/>
          <a:p>
            <a:r>
              <a:rPr lang="fr-FR" dirty="0"/>
              <a:t>INJECTION D’EN-TÊTES EMAIL VIA FORMULAIRE DE CONTACT</a:t>
            </a:r>
          </a:p>
        </p:txBody>
      </p:sp>
      <p:sp>
        <p:nvSpPr>
          <p:cNvPr id="9" name="Espace réservé du contenu 2">
            <a:extLst>
              <a:ext uri="{FF2B5EF4-FFF2-40B4-BE49-F238E27FC236}">
                <a16:creationId xmlns:a16="http://schemas.microsoft.com/office/drawing/2014/main" id="{E7249797-6F45-61F1-CC53-65729FD0B368}"/>
              </a:ext>
            </a:extLst>
          </p:cNvPr>
          <p:cNvSpPr>
            <a:spLocks noGrp="1"/>
          </p:cNvSpPr>
          <p:nvPr>
            <p:ph idx="1"/>
          </p:nvPr>
        </p:nvSpPr>
        <p:spPr>
          <a:xfrm>
            <a:off x="1333502" y="2160589"/>
            <a:ext cx="9173306" cy="3880773"/>
          </a:xfrm>
        </p:spPr>
        <p:txBody>
          <a:bodyPr>
            <a:normAutofit/>
          </a:bodyPr>
          <a:lstStyle/>
          <a:p>
            <a:pPr>
              <a:lnSpc>
                <a:spcPct val="90000"/>
              </a:lnSpc>
            </a:pPr>
            <a:r>
              <a:rPr lang="fr-FR" sz="1700" dirty="0"/>
              <a:t>Une donnée saisie dans un champ (nom, email) est insérée directement dans les en-têtes d’un email</a:t>
            </a:r>
          </a:p>
          <a:p>
            <a:pPr>
              <a:lnSpc>
                <a:spcPct val="90000"/>
              </a:lnSpc>
            </a:pPr>
            <a:endParaRPr lang="fr-FR" sz="1700" dirty="0"/>
          </a:p>
          <a:p>
            <a:pPr>
              <a:lnSpc>
                <a:spcPct val="90000"/>
              </a:lnSpc>
            </a:pPr>
            <a:r>
              <a:rPr lang="fr-FR" sz="1700" dirty="0"/>
              <a:t>L’attaquant y injecte des retours à la ligne (</a:t>
            </a:r>
            <a:r>
              <a:rPr lang="fr-FR" sz="1700" b="1" dirty="0"/>
              <a:t>\r\n</a:t>
            </a:r>
            <a:r>
              <a:rPr lang="fr-FR" sz="1700" dirty="0"/>
              <a:t>) pour ajouter ses propres en-têtes</a:t>
            </a:r>
          </a:p>
          <a:p>
            <a:pPr lvl="1">
              <a:lnSpc>
                <a:spcPct val="90000"/>
              </a:lnSpc>
            </a:pPr>
            <a:r>
              <a:rPr lang="fr-FR" sz="1500" b="1" dirty="0"/>
              <a:t>attacker@evil.com\r\</a:t>
            </a:r>
            <a:r>
              <a:rPr lang="fr-FR" sz="1500" b="1" dirty="0" err="1"/>
              <a:t>nBcc</a:t>
            </a:r>
            <a:r>
              <a:rPr lang="fr-FR" sz="1500" b="1" dirty="0"/>
              <a:t>: victime1@mail.com,victime2@mail.com,victime3@mail.com</a:t>
            </a:r>
          </a:p>
          <a:p>
            <a:pPr lvl="1">
              <a:lnSpc>
                <a:spcPct val="90000"/>
              </a:lnSpc>
            </a:pPr>
            <a:r>
              <a:rPr lang="fr-FR" sz="1500" dirty="0"/>
              <a:t>Cela envoie le mail en copie cachée à multiples destinataires, ce qui peut faire que votre domaine soit blacklisté</a:t>
            </a:r>
          </a:p>
          <a:p>
            <a:pPr>
              <a:lnSpc>
                <a:spcPct val="90000"/>
              </a:lnSpc>
            </a:pPr>
            <a:endParaRPr lang="fr-FR" sz="1700" dirty="0"/>
          </a:p>
          <a:p>
            <a:pPr>
              <a:lnSpc>
                <a:spcPct val="90000"/>
              </a:lnSpc>
            </a:pPr>
            <a:r>
              <a:rPr lang="fr-FR" sz="1700" dirty="0"/>
              <a:t>Conséquences : le formulaire devient une passerelle d’envoi de spam massif, depuis votre domaine</a:t>
            </a:r>
          </a:p>
          <a:p>
            <a:pPr>
              <a:lnSpc>
                <a:spcPct val="90000"/>
              </a:lnSpc>
            </a:pPr>
            <a:endParaRPr lang="fr-FR" sz="1700" dirty="0"/>
          </a:p>
          <a:p>
            <a:pPr>
              <a:lnSpc>
                <a:spcPct val="90000"/>
              </a:lnSpc>
            </a:pPr>
            <a:r>
              <a:rPr lang="fr-FR" sz="1700" dirty="0"/>
              <a:t>Vecteur historique : la fonction native PHP </a:t>
            </a:r>
            <a:r>
              <a:rPr lang="fr-FR" sz="1700" b="1" dirty="0"/>
              <a:t>mail()</a:t>
            </a:r>
          </a:p>
          <a:p>
            <a:pPr>
              <a:lnSpc>
                <a:spcPct val="90000"/>
              </a:lnSpc>
            </a:pPr>
            <a:endParaRPr lang="fr-FR" sz="1700" dirty="0"/>
          </a:p>
          <a:p>
            <a:pPr>
              <a:lnSpc>
                <a:spcPct val="90000"/>
              </a:lnSpc>
            </a:pPr>
            <a:endParaRPr lang="fr-FR" sz="1700" dirty="0"/>
          </a:p>
        </p:txBody>
      </p:sp>
    </p:spTree>
    <p:extLst>
      <p:ext uri="{BB962C8B-B14F-4D97-AF65-F5344CB8AC3E}">
        <p14:creationId xmlns:p14="http://schemas.microsoft.com/office/powerpoint/2010/main" val="2430663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04B734-3D8B-65F5-1C68-B5A859E43A23}"/>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53116F94-516F-F72A-EBB3-579E50EFA1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3593C1F-BE70-9398-E0B6-965DE1C74288}"/>
              </a:ext>
            </a:extLst>
          </p:cNvPr>
          <p:cNvSpPr>
            <a:spLocks noGrp="1"/>
          </p:cNvSpPr>
          <p:nvPr>
            <p:ph type="title"/>
          </p:nvPr>
        </p:nvSpPr>
        <p:spPr>
          <a:xfrm>
            <a:off x="1333501" y="609600"/>
            <a:ext cx="8596668" cy="1320800"/>
          </a:xfrm>
        </p:spPr>
        <p:txBody>
          <a:bodyPr>
            <a:normAutofit/>
          </a:bodyPr>
          <a:lstStyle/>
          <a:p>
            <a:r>
              <a:rPr lang="fr-FR" dirty="0"/>
              <a:t>FILTRAGE ET SYMFONY MAILER</a:t>
            </a:r>
          </a:p>
        </p:txBody>
      </p:sp>
      <p:sp>
        <p:nvSpPr>
          <p:cNvPr id="58" name="Isosceles Triangle 57">
            <a:extLst>
              <a:ext uri="{FF2B5EF4-FFF2-40B4-BE49-F238E27FC236}">
                <a16:creationId xmlns:a16="http://schemas.microsoft.com/office/drawing/2014/main" id="{389F906D-CD3C-E74C-2B4A-981AF0BB97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5B4E278F-52D3-2A72-4235-4C465B620972}"/>
              </a:ext>
            </a:extLst>
          </p:cNvPr>
          <p:cNvSpPr>
            <a:spLocks noGrp="1"/>
          </p:cNvSpPr>
          <p:nvPr>
            <p:ph idx="1"/>
          </p:nvPr>
        </p:nvSpPr>
        <p:spPr>
          <a:xfrm>
            <a:off x="1333502" y="2160589"/>
            <a:ext cx="8596668" cy="3880773"/>
          </a:xfrm>
        </p:spPr>
        <p:txBody>
          <a:bodyPr>
            <a:normAutofit/>
          </a:bodyPr>
          <a:lstStyle/>
          <a:p>
            <a:pPr>
              <a:lnSpc>
                <a:spcPct val="90000"/>
              </a:lnSpc>
            </a:pPr>
            <a:r>
              <a:rPr lang="fr-FR" sz="1700" dirty="0"/>
              <a:t>Symfony n’utilise pas la fonction native « </a:t>
            </a:r>
            <a:r>
              <a:rPr lang="fr-FR" sz="1700" b="1" dirty="0"/>
              <a:t>mail()</a:t>
            </a:r>
            <a:r>
              <a:rPr lang="fr-FR" sz="1700" dirty="0"/>
              <a:t> » directement avec des données utilisateur non filtrées</a:t>
            </a:r>
          </a:p>
          <a:p>
            <a:pPr>
              <a:lnSpc>
                <a:spcPct val="90000"/>
              </a:lnSpc>
            </a:pPr>
            <a:endParaRPr lang="fr-FR" sz="1700" b="1" dirty="0"/>
          </a:p>
          <a:p>
            <a:pPr>
              <a:lnSpc>
                <a:spcPct val="90000"/>
              </a:lnSpc>
            </a:pPr>
            <a:r>
              <a:rPr lang="fr-FR" sz="1700" dirty="0"/>
              <a:t>Il rejette les </a:t>
            </a:r>
            <a:r>
              <a:rPr lang="fr-FR" sz="1700" b="1" dirty="0"/>
              <a:t>\r</a:t>
            </a:r>
            <a:r>
              <a:rPr lang="fr-FR" sz="1700" dirty="0"/>
              <a:t> ou </a:t>
            </a:r>
            <a:r>
              <a:rPr lang="fr-FR" sz="1700" b="1" dirty="0"/>
              <a:t>\n</a:t>
            </a:r>
            <a:r>
              <a:rPr lang="fr-FR" sz="1700" dirty="0"/>
              <a:t> dans les champs</a:t>
            </a:r>
          </a:p>
          <a:p>
            <a:pPr>
              <a:lnSpc>
                <a:spcPct val="90000"/>
              </a:lnSpc>
            </a:pPr>
            <a:endParaRPr lang="fr-FR" sz="1700" dirty="0"/>
          </a:p>
          <a:p>
            <a:pPr>
              <a:lnSpc>
                <a:spcPct val="90000"/>
              </a:lnSpc>
            </a:pPr>
            <a:r>
              <a:rPr lang="fr-FR" sz="1700" dirty="0"/>
              <a:t>Symfony Mailer : construit les en-têtes via une API structurée, pas de concaténation manuelle possible</a:t>
            </a:r>
          </a:p>
          <a:p>
            <a:pPr>
              <a:lnSpc>
                <a:spcPct val="90000"/>
              </a:lnSpc>
            </a:pPr>
            <a:endParaRPr lang="fr-FR" sz="1700" dirty="0"/>
          </a:p>
          <a:p>
            <a:pPr>
              <a:lnSpc>
                <a:spcPct val="90000"/>
              </a:lnSpc>
            </a:pPr>
            <a:endParaRPr lang="fr-FR" sz="1700" dirty="0"/>
          </a:p>
        </p:txBody>
      </p:sp>
      <p:sp>
        <p:nvSpPr>
          <p:cNvPr id="60" name="Isosceles Triangle 59">
            <a:extLst>
              <a:ext uri="{FF2B5EF4-FFF2-40B4-BE49-F238E27FC236}">
                <a16:creationId xmlns:a16="http://schemas.microsoft.com/office/drawing/2014/main" id="{325CE4DD-B6C3-E6E2-E389-06B876C7C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 name="ZoneTexte 3">
            <a:extLst>
              <a:ext uri="{FF2B5EF4-FFF2-40B4-BE49-F238E27FC236}">
                <a16:creationId xmlns:a16="http://schemas.microsoft.com/office/drawing/2014/main" id="{5D584077-81C8-13AE-D689-FFFE8EE8B624}"/>
              </a:ext>
            </a:extLst>
          </p:cNvPr>
          <p:cNvSpPr txBox="1"/>
          <p:nvPr/>
        </p:nvSpPr>
        <p:spPr>
          <a:xfrm>
            <a:off x="1723104" y="4757103"/>
            <a:ext cx="8745792" cy="1477328"/>
          </a:xfrm>
          <a:prstGeom prst="rect">
            <a:avLst/>
          </a:prstGeom>
          <a:solidFill>
            <a:schemeClr val="bg1">
              <a:lumMod val="95000"/>
            </a:schemeClr>
          </a:solidFill>
          <a:ln>
            <a:solidFill>
              <a:schemeClr val="tx1"/>
            </a:solidFill>
          </a:ln>
        </p:spPr>
        <p:txBody>
          <a:bodyPr wrap="square">
            <a:spAutoFit/>
          </a:bodyPr>
          <a:lstStyle/>
          <a:p>
            <a:r>
              <a:rPr lang="fr-FR" dirty="0"/>
              <a:t>$email = (new Email())</a:t>
            </a:r>
          </a:p>
          <a:p>
            <a:r>
              <a:rPr lang="fr-FR" dirty="0"/>
              <a:t>    -&gt;</a:t>
            </a:r>
            <a:r>
              <a:rPr lang="fr-FR" dirty="0" err="1"/>
              <a:t>from</a:t>
            </a:r>
            <a:r>
              <a:rPr lang="fr-FR" dirty="0"/>
              <a:t>('contact@monsite.com')  </a:t>
            </a:r>
            <a:r>
              <a:rPr lang="fr-FR" dirty="0">
                <a:solidFill>
                  <a:schemeClr val="accent2">
                    <a:lumMod val="75000"/>
                  </a:schemeClr>
                </a:solidFill>
              </a:rPr>
              <a:t>// adresse fixe, généralement depuis un .</a:t>
            </a:r>
            <a:r>
              <a:rPr lang="fr-FR" dirty="0" err="1">
                <a:solidFill>
                  <a:schemeClr val="accent2">
                    <a:lumMod val="75000"/>
                  </a:schemeClr>
                </a:solidFill>
              </a:rPr>
              <a:t>env</a:t>
            </a:r>
            <a:endParaRPr lang="fr-FR" dirty="0">
              <a:solidFill>
                <a:schemeClr val="accent2">
                  <a:lumMod val="75000"/>
                </a:schemeClr>
              </a:solidFill>
            </a:endParaRPr>
          </a:p>
          <a:p>
            <a:r>
              <a:rPr lang="fr-FR" dirty="0"/>
              <a:t>    -&gt;to('support@monsite.com')</a:t>
            </a:r>
          </a:p>
          <a:p>
            <a:r>
              <a:rPr lang="fr-FR" dirty="0"/>
              <a:t>    -&gt;</a:t>
            </a:r>
            <a:r>
              <a:rPr lang="fr-FR" dirty="0" err="1"/>
              <a:t>subject</a:t>
            </a:r>
            <a:r>
              <a:rPr lang="fr-FR" dirty="0"/>
              <a:t>('Nouveau message de contact')</a:t>
            </a:r>
          </a:p>
          <a:p>
            <a:r>
              <a:rPr lang="fr-FR" dirty="0"/>
              <a:t>    -&gt;</a:t>
            </a:r>
            <a:r>
              <a:rPr lang="fr-FR" dirty="0" err="1"/>
              <a:t>text</a:t>
            </a:r>
            <a:r>
              <a:rPr lang="fr-FR" dirty="0"/>
              <a:t>($</a:t>
            </a:r>
            <a:r>
              <a:rPr lang="fr-FR" dirty="0" err="1"/>
              <a:t>userMessage</a:t>
            </a:r>
            <a:r>
              <a:rPr lang="fr-FR" dirty="0"/>
              <a:t>);          </a:t>
            </a:r>
            <a:r>
              <a:rPr lang="fr-FR" dirty="0">
                <a:solidFill>
                  <a:schemeClr val="accent2">
                    <a:lumMod val="75000"/>
                  </a:schemeClr>
                </a:solidFill>
              </a:rPr>
              <a:t>// le contenu utilisateur reste dans le corps</a:t>
            </a:r>
          </a:p>
        </p:txBody>
      </p:sp>
    </p:spTree>
    <p:extLst>
      <p:ext uri="{BB962C8B-B14F-4D97-AF65-F5344CB8AC3E}">
        <p14:creationId xmlns:p14="http://schemas.microsoft.com/office/powerpoint/2010/main" val="314561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0A4BB1-543E-3533-F732-C5B05D26EC45}"/>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18C4A816-FE90-6E81-F05B-E88A43D410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8337BC8-D939-8EC8-26A5-168BAC0843C3}"/>
              </a:ext>
            </a:extLst>
          </p:cNvPr>
          <p:cNvSpPr>
            <a:spLocks noGrp="1"/>
          </p:cNvSpPr>
          <p:nvPr>
            <p:ph type="title"/>
          </p:nvPr>
        </p:nvSpPr>
        <p:spPr>
          <a:xfrm>
            <a:off x="1333501" y="609600"/>
            <a:ext cx="8596668" cy="1320800"/>
          </a:xfrm>
        </p:spPr>
        <p:txBody>
          <a:bodyPr>
            <a:normAutofit/>
          </a:bodyPr>
          <a:lstStyle/>
          <a:p>
            <a:r>
              <a:rPr lang="fr-FR" dirty="0"/>
              <a:t>PRINCIPE DU SSRF</a:t>
            </a:r>
          </a:p>
        </p:txBody>
      </p:sp>
      <p:sp>
        <p:nvSpPr>
          <p:cNvPr id="58" name="Isosceles Triangle 57">
            <a:extLst>
              <a:ext uri="{FF2B5EF4-FFF2-40B4-BE49-F238E27FC236}">
                <a16:creationId xmlns:a16="http://schemas.microsoft.com/office/drawing/2014/main" id="{465A5DC4-64C8-60AE-672A-42D981D5D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C0548C4B-7202-4739-F61F-CEBBC0493A6C}"/>
              </a:ext>
            </a:extLst>
          </p:cNvPr>
          <p:cNvSpPr>
            <a:spLocks noGrp="1"/>
          </p:cNvSpPr>
          <p:nvPr>
            <p:ph idx="1"/>
          </p:nvPr>
        </p:nvSpPr>
        <p:spPr>
          <a:xfrm>
            <a:off x="1333502" y="2160589"/>
            <a:ext cx="9173306" cy="3880773"/>
          </a:xfrm>
        </p:spPr>
        <p:txBody>
          <a:bodyPr>
            <a:normAutofit/>
          </a:bodyPr>
          <a:lstStyle/>
          <a:p>
            <a:pPr>
              <a:lnSpc>
                <a:spcPct val="100000"/>
              </a:lnSpc>
            </a:pPr>
            <a:r>
              <a:rPr lang="fr-FR" sz="1700" b="1" dirty="0"/>
              <a:t>OWASP A10, SSRF</a:t>
            </a:r>
            <a:r>
              <a:rPr lang="fr-FR" sz="1700" dirty="0"/>
              <a:t> (</a:t>
            </a:r>
            <a:r>
              <a:rPr lang="fr-FR" sz="1700" b="1" u="sng" dirty="0"/>
              <a:t>S</a:t>
            </a:r>
            <a:r>
              <a:rPr lang="fr-FR" sz="1700" dirty="0"/>
              <a:t>erver-</a:t>
            </a:r>
            <a:r>
              <a:rPr lang="fr-FR" sz="1700" b="1" u="sng" dirty="0" err="1"/>
              <a:t>S</a:t>
            </a:r>
            <a:r>
              <a:rPr lang="fr-FR" sz="1700" dirty="0" err="1"/>
              <a:t>ide</a:t>
            </a:r>
            <a:r>
              <a:rPr lang="fr-FR" sz="1700" dirty="0"/>
              <a:t> </a:t>
            </a:r>
            <a:r>
              <a:rPr lang="fr-FR" sz="1700" b="1" u="sng" dirty="0" err="1"/>
              <a:t>R</a:t>
            </a:r>
            <a:r>
              <a:rPr lang="fr-FR" sz="1700" dirty="0" err="1"/>
              <a:t>equest</a:t>
            </a:r>
            <a:r>
              <a:rPr lang="fr-FR" sz="1700" dirty="0"/>
              <a:t> </a:t>
            </a:r>
            <a:r>
              <a:rPr lang="fr-FR" sz="1700" b="1" u="sng" dirty="0" err="1"/>
              <a:t>F</a:t>
            </a:r>
            <a:r>
              <a:rPr lang="fr-FR" sz="1700" dirty="0" err="1"/>
              <a:t>orgery</a:t>
            </a:r>
            <a:r>
              <a:rPr lang="fr-FR" sz="1700" dirty="0"/>
              <a:t>) : il s’agit d’une vulnérabilité de sécurité qui permet à un attaquant de forcer un serveur vulnérable à envoyer des requêtes HTTP vers des destinations non intentionnelles.</a:t>
            </a:r>
          </a:p>
          <a:p>
            <a:pPr marL="0" indent="0">
              <a:lnSpc>
                <a:spcPct val="90000"/>
              </a:lnSpc>
              <a:buNone/>
            </a:pPr>
            <a:endParaRPr lang="fr-FR" sz="1700" dirty="0"/>
          </a:p>
          <a:p>
            <a:pPr>
              <a:lnSpc>
                <a:spcPct val="90000"/>
              </a:lnSpc>
            </a:pPr>
            <a:r>
              <a:rPr lang="fr-FR" sz="1700" dirty="0"/>
              <a:t>L’attaquant fournit une URL que le serveur va lui-même appeler : il se sert du serveur comme relais pour émettre une requête qu’il ne pourrait pas envoyer directement</a:t>
            </a:r>
          </a:p>
          <a:p>
            <a:pPr>
              <a:lnSpc>
                <a:spcPct val="90000"/>
              </a:lnSpc>
            </a:pPr>
            <a:endParaRPr lang="fr-FR" sz="1700" dirty="0"/>
          </a:p>
          <a:p>
            <a:pPr>
              <a:lnSpc>
                <a:spcPct val="90000"/>
              </a:lnSpc>
            </a:pPr>
            <a:r>
              <a:rPr lang="fr-FR" sz="1700" dirty="0"/>
              <a:t>Le serveur devient un relais permettant d’atteindre des ressources normalement inaccessibles depuis l’extérieur</a:t>
            </a:r>
          </a:p>
        </p:txBody>
      </p:sp>
      <p:sp>
        <p:nvSpPr>
          <p:cNvPr id="60" name="Isosceles Triangle 59">
            <a:extLst>
              <a:ext uri="{FF2B5EF4-FFF2-40B4-BE49-F238E27FC236}">
                <a16:creationId xmlns:a16="http://schemas.microsoft.com/office/drawing/2014/main" id="{93766D79-3306-E19D-DFA8-C84471ECD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6993865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12C076-5E3F-CBEA-FE04-F3A857C73A96}"/>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C19D73D8-443E-ECF0-80C6-2935337D5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5E11FE0-FB70-7B1B-F2F4-6EE2070B1D88}"/>
              </a:ext>
            </a:extLst>
          </p:cNvPr>
          <p:cNvSpPr>
            <a:spLocks noGrp="1"/>
          </p:cNvSpPr>
          <p:nvPr>
            <p:ph type="title"/>
          </p:nvPr>
        </p:nvSpPr>
        <p:spPr>
          <a:xfrm>
            <a:off x="1333501" y="609600"/>
            <a:ext cx="8596668" cy="1320800"/>
          </a:xfrm>
        </p:spPr>
        <p:txBody>
          <a:bodyPr>
            <a:normAutofit/>
          </a:bodyPr>
          <a:lstStyle/>
          <a:p>
            <a:r>
              <a:rPr lang="fr-FR" dirty="0"/>
              <a:t>CONTRE-MESURES CONTRE LE SSRF</a:t>
            </a:r>
          </a:p>
        </p:txBody>
      </p:sp>
      <p:sp>
        <p:nvSpPr>
          <p:cNvPr id="58" name="Isosceles Triangle 57">
            <a:extLst>
              <a:ext uri="{FF2B5EF4-FFF2-40B4-BE49-F238E27FC236}">
                <a16:creationId xmlns:a16="http://schemas.microsoft.com/office/drawing/2014/main" id="{E99B636B-10B6-497E-D653-195755B043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2F696C81-C00C-4B69-C847-41BFDB672D02}"/>
              </a:ext>
            </a:extLst>
          </p:cNvPr>
          <p:cNvSpPr>
            <a:spLocks noGrp="1"/>
          </p:cNvSpPr>
          <p:nvPr>
            <p:ph idx="1"/>
          </p:nvPr>
        </p:nvSpPr>
        <p:spPr>
          <a:xfrm>
            <a:off x="1333502" y="2160589"/>
            <a:ext cx="9173306" cy="3880773"/>
          </a:xfrm>
        </p:spPr>
        <p:txBody>
          <a:bodyPr>
            <a:normAutofit lnSpcReduction="10000"/>
          </a:bodyPr>
          <a:lstStyle/>
          <a:p>
            <a:pPr>
              <a:lnSpc>
                <a:spcPct val="100000"/>
              </a:lnSpc>
            </a:pPr>
            <a:r>
              <a:rPr lang="fr-FR" sz="1700" dirty="0"/>
              <a:t>Liste blanche stricte des domaines/hôtes autorisés, jamais de liste noire</a:t>
            </a:r>
          </a:p>
          <a:p>
            <a:pPr lvl="1"/>
            <a:r>
              <a:rPr lang="fr-FR" sz="1500" dirty="0"/>
              <a:t>Il est plus facile, via des techniques d’encodage d’URL ou de redirection de contourner une liste noire</a:t>
            </a:r>
          </a:p>
          <a:p>
            <a:endParaRPr lang="fr-FR" sz="1700" dirty="0"/>
          </a:p>
          <a:p>
            <a:r>
              <a:rPr lang="fr-FR" sz="1700" dirty="0"/>
              <a:t>Bloquer le loopback (</a:t>
            </a:r>
            <a:r>
              <a:rPr lang="fr-FR" sz="1700" b="1" dirty="0"/>
              <a:t>127.0.0.1</a:t>
            </a:r>
            <a:r>
              <a:rPr lang="fr-FR" sz="1700" dirty="0"/>
              <a:t>) et les plages d’adresses privées (</a:t>
            </a:r>
            <a:r>
              <a:rPr lang="fr-FR" sz="1700" b="1" dirty="0"/>
              <a:t>10.0.0.0/8, 172.16.0.0/12, 192.168.0.0/16</a:t>
            </a:r>
            <a:r>
              <a:rPr lang="fr-FR" sz="1700" dirty="0"/>
              <a:t>)</a:t>
            </a:r>
          </a:p>
          <a:p>
            <a:pPr lvl="1"/>
            <a:r>
              <a:rPr lang="fr-FR" sz="1500" dirty="0"/>
              <a:t>Résoudre le nom de domaine en IP et vérifier cette IP avant chaque connexion, y compris après redirection</a:t>
            </a:r>
          </a:p>
          <a:p>
            <a:pPr marL="0" indent="0">
              <a:buNone/>
            </a:pPr>
            <a:endParaRPr lang="fr-FR" sz="1700" dirty="0"/>
          </a:p>
          <a:p>
            <a:r>
              <a:rPr lang="fr-FR" sz="1700" dirty="0"/>
              <a:t>En environnement cloud : imposer </a:t>
            </a:r>
            <a:r>
              <a:rPr lang="fr-FR" sz="1700" b="1" dirty="0"/>
              <a:t>IMDSv2 (AWS) </a:t>
            </a:r>
            <a:r>
              <a:rPr lang="fr-FR" sz="1700" dirty="0"/>
              <a:t>qui neutralise les requêtes SSRF simples</a:t>
            </a:r>
            <a:endParaRPr lang="fr-FR" sz="1500" dirty="0"/>
          </a:p>
          <a:p>
            <a:pPr lvl="1"/>
            <a:r>
              <a:rPr lang="fr-FR" sz="1500" b="1" dirty="0"/>
              <a:t>IMDSv2 </a:t>
            </a:r>
            <a:r>
              <a:rPr lang="fr-FR" sz="1500" dirty="0"/>
              <a:t>exige une requête </a:t>
            </a:r>
            <a:r>
              <a:rPr lang="fr-FR" sz="1500" b="1" dirty="0"/>
              <a:t>PUT</a:t>
            </a:r>
            <a:r>
              <a:rPr lang="fr-FR" sz="1500" dirty="0"/>
              <a:t> avec un jeton de session avant tout accès aux métadonnées</a:t>
            </a:r>
            <a:endParaRPr lang="fr-FR" sz="1500" b="1" dirty="0"/>
          </a:p>
        </p:txBody>
      </p:sp>
      <p:sp>
        <p:nvSpPr>
          <p:cNvPr id="60" name="Isosceles Triangle 59">
            <a:extLst>
              <a:ext uri="{FF2B5EF4-FFF2-40B4-BE49-F238E27FC236}">
                <a16:creationId xmlns:a16="http://schemas.microsoft.com/office/drawing/2014/main" id="{FB89D45F-B570-CB8E-2994-4F323ABB4A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1774097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AB435D-48D1-567F-EE76-EF5D2B5327A6}"/>
            </a:ext>
          </a:extLst>
        </p:cNvPr>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4590977-2C49-9622-08D9-84E44C92FB9F}"/>
              </a:ext>
            </a:extLst>
          </p:cNvPr>
          <p:cNvSpPr>
            <a:spLocks noGrp="1"/>
          </p:cNvSpPr>
          <p:nvPr>
            <p:ph type="title"/>
          </p:nvPr>
        </p:nvSpPr>
        <p:spPr>
          <a:xfrm>
            <a:off x="1043950" y="1179151"/>
            <a:ext cx="3300646" cy="4463889"/>
          </a:xfrm>
        </p:spPr>
        <p:txBody>
          <a:bodyPr anchor="ctr">
            <a:normAutofit/>
          </a:bodyPr>
          <a:lstStyle/>
          <a:p>
            <a:r>
              <a:rPr lang="fr-FR" dirty="0"/>
              <a:t>SÉCURITÉ TRANSVERSE : ATTAQUES, SUPPLY CHAIN ET AUDIT</a:t>
            </a:r>
          </a:p>
        </p:txBody>
      </p:sp>
      <p:sp>
        <p:nvSpPr>
          <p:cNvPr id="67" name="Isosceles Triangle 66">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69" name="Straight Connector 68">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9" name="Espace réservé du contenu 2">
            <a:extLst>
              <a:ext uri="{FF2B5EF4-FFF2-40B4-BE49-F238E27FC236}">
                <a16:creationId xmlns:a16="http://schemas.microsoft.com/office/drawing/2014/main" id="{2B85361F-FB34-7341-C516-8E8B8D4BD544}"/>
              </a:ext>
            </a:extLst>
          </p:cNvPr>
          <p:cNvSpPr>
            <a:spLocks noGrp="1"/>
          </p:cNvSpPr>
          <p:nvPr>
            <p:ph idx="1"/>
          </p:nvPr>
        </p:nvSpPr>
        <p:spPr>
          <a:xfrm>
            <a:off x="4978917" y="1109145"/>
            <a:ext cx="6697293" cy="4603900"/>
          </a:xfrm>
        </p:spPr>
        <p:txBody>
          <a:bodyPr anchor="ctr">
            <a:normAutofit/>
          </a:bodyPr>
          <a:lstStyle/>
          <a:p>
            <a:pPr>
              <a:lnSpc>
                <a:spcPct val="90000"/>
              </a:lnSpc>
            </a:pPr>
            <a:r>
              <a:rPr lang="fr-FR" sz="1500" dirty="0"/>
              <a:t>Attaques qui ne visent pas une faille de code, mais le comportement global de l’application</a:t>
            </a:r>
          </a:p>
          <a:p>
            <a:pPr>
              <a:lnSpc>
                <a:spcPct val="90000"/>
              </a:lnSpc>
            </a:pPr>
            <a:endParaRPr lang="fr-FR" sz="1500" dirty="0"/>
          </a:p>
          <a:p>
            <a:pPr>
              <a:lnSpc>
                <a:spcPct val="90000"/>
              </a:lnSpc>
            </a:pPr>
            <a:r>
              <a:rPr lang="fr-FR" sz="1500" dirty="0"/>
              <a:t>Brute-force</a:t>
            </a:r>
          </a:p>
          <a:p>
            <a:pPr>
              <a:lnSpc>
                <a:spcPct val="90000"/>
              </a:lnSpc>
            </a:pPr>
            <a:endParaRPr lang="fr-FR" sz="1500" dirty="0"/>
          </a:p>
          <a:p>
            <a:pPr>
              <a:lnSpc>
                <a:spcPct val="90000"/>
              </a:lnSpc>
            </a:pPr>
            <a:r>
              <a:rPr lang="fr-FR" sz="1500" dirty="0"/>
              <a:t>Phishing</a:t>
            </a:r>
          </a:p>
          <a:p>
            <a:pPr>
              <a:lnSpc>
                <a:spcPct val="90000"/>
              </a:lnSpc>
            </a:pPr>
            <a:endParaRPr lang="fr-FR" sz="1500" dirty="0"/>
          </a:p>
          <a:p>
            <a:pPr>
              <a:lnSpc>
                <a:spcPct val="90000"/>
              </a:lnSpc>
            </a:pPr>
            <a:r>
              <a:rPr lang="fr-FR" sz="1500" dirty="0"/>
              <a:t>Déni de service (</a:t>
            </a:r>
            <a:r>
              <a:rPr lang="fr-FR" sz="1500" dirty="0" err="1"/>
              <a:t>DoS</a:t>
            </a:r>
            <a:r>
              <a:rPr lang="fr-FR" sz="1500" dirty="0"/>
              <a:t>)</a:t>
            </a:r>
          </a:p>
          <a:p>
            <a:pPr>
              <a:lnSpc>
                <a:spcPct val="90000"/>
              </a:lnSpc>
            </a:pPr>
            <a:endParaRPr lang="fr-FR" sz="1500" dirty="0"/>
          </a:p>
          <a:p>
            <a:pPr>
              <a:lnSpc>
                <a:spcPct val="90000"/>
              </a:lnSpc>
            </a:pPr>
            <a:r>
              <a:rPr lang="fr-FR" sz="1500" dirty="0" err="1"/>
              <a:t>Supply</a:t>
            </a:r>
            <a:r>
              <a:rPr lang="fr-FR" sz="1500" dirty="0"/>
              <a:t> </a:t>
            </a:r>
            <a:r>
              <a:rPr lang="fr-FR" sz="1500" dirty="0" err="1"/>
              <a:t>chain</a:t>
            </a:r>
            <a:endParaRPr lang="fr-FR" sz="1500" dirty="0"/>
          </a:p>
          <a:p>
            <a:pPr>
              <a:lnSpc>
                <a:spcPct val="90000"/>
              </a:lnSpc>
            </a:pPr>
            <a:endParaRPr lang="fr-FR" sz="1500" dirty="0"/>
          </a:p>
          <a:p>
            <a:pPr>
              <a:lnSpc>
                <a:spcPct val="90000"/>
              </a:lnSpc>
            </a:pPr>
            <a:r>
              <a:rPr lang="fr-FR" sz="1500" dirty="0"/>
              <a:t>Audit</a:t>
            </a:r>
          </a:p>
          <a:p>
            <a:pPr>
              <a:lnSpc>
                <a:spcPct val="90000"/>
              </a:lnSpc>
            </a:pPr>
            <a:endParaRPr lang="fr-FR" sz="1500" dirty="0"/>
          </a:p>
          <a:p>
            <a:pPr>
              <a:lnSpc>
                <a:spcPct val="90000"/>
              </a:lnSpc>
            </a:pPr>
            <a:endParaRPr lang="fr-FR" sz="1500" dirty="0"/>
          </a:p>
        </p:txBody>
      </p:sp>
      <p:sp>
        <p:nvSpPr>
          <p:cNvPr id="71" name="Isosceles Triangle 70">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14022627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8D3F07-37D4-577E-50E5-8FD811504C82}"/>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E69DB389-4D5B-9BAC-324D-D8B2D534B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5167EFB-428B-998F-6610-39AFBE0E35EF}"/>
              </a:ext>
            </a:extLst>
          </p:cNvPr>
          <p:cNvSpPr>
            <a:spLocks noGrp="1"/>
          </p:cNvSpPr>
          <p:nvPr>
            <p:ph type="title"/>
          </p:nvPr>
        </p:nvSpPr>
        <p:spPr>
          <a:xfrm>
            <a:off x="1333501" y="609600"/>
            <a:ext cx="8596668" cy="1320800"/>
          </a:xfrm>
        </p:spPr>
        <p:txBody>
          <a:bodyPr>
            <a:normAutofit/>
          </a:bodyPr>
          <a:lstStyle/>
          <a:p>
            <a:r>
              <a:rPr lang="fr-FR" dirty="0"/>
              <a:t>BRUTE-FORCE</a:t>
            </a:r>
          </a:p>
        </p:txBody>
      </p:sp>
      <p:sp>
        <p:nvSpPr>
          <p:cNvPr id="58" name="Isosceles Triangle 57">
            <a:extLst>
              <a:ext uri="{FF2B5EF4-FFF2-40B4-BE49-F238E27FC236}">
                <a16:creationId xmlns:a16="http://schemas.microsoft.com/office/drawing/2014/main" id="{19C5D370-1C37-F965-517E-9D3C6D377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F00DA711-47DD-5FF3-5BA7-1D9481C7DE57}"/>
              </a:ext>
            </a:extLst>
          </p:cNvPr>
          <p:cNvSpPr>
            <a:spLocks noGrp="1"/>
          </p:cNvSpPr>
          <p:nvPr>
            <p:ph idx="1"/>
          </p:nvPr>
        </p:nvSpPr>
        <p:spPr>
          <a:xfrm>
            <a:off x="1333502" y="2160589"/>
            <a:ext cx="9173306" cy="3880773"/>
          </a:xfrm>
        </p:spPr>
        <p:txBody>
          <a:bodyPr>
            <a:normAutofit/>
          </a:bodyPr>
          <a:lstStyle/>
          <a:p>
            <a:pPr>
              <a:lnSpc>
                <a:spcPct val="100000"/>
              </a:lnSpc>
            </a:pPr>
            <a:r>
              <a:rPr lang="fr-FR" sz="1700" dirty="0"/>
              <a:t>Tester systématiquement un grand nombre de combinaisons de mots de passe jusqu’à trouver la bonne</a:t>
            </a:r>
          </a:p>
          <a:p>
            <a:pPr lvl="1"/>
            <a:r>
              <a:rPr lang="fr-FR" sz="1500" dirty="0"/>
              <a:t>Test de mot de passe au hasard ou via un dictionnaire contre un seul compte ciblé</a:t>
            </a:r>
          </a:p>
          <a:p>
            <a:pPr>
              <a:lnSpc>
                <a:spcPct val="100000"/>
              </a:lnSpc>
            </a:pPr>
            <a:endParaRPr lang="fr-FR" sz="1700" dirty="0"/>
          </a:p>
          <a:p>
            <a:pPr>
              <a:lnSpc>
                <a:spcPct val="100000"/>
              </a:lnSpc>
            </a:pPr>
            <a:r>
              <a:rPr lang="fr-FR" sz="1700" dirty="0"/>
              <a:t>Variante « </a:t>
            </a:r>
            <a:r>
              <a:rPr lang="fr-FR" sz="1700" b="1" dirty="0" err="1"/>
              <a:t>credential</a:t>
            </a:r>
            <a:r>
              <a:rPr lang="fr-FR" sz="1700" b="1" dirty="0"/>
              <a:t> </a:t>
            </a:r>
            <a:r>
              <a:rPr lang="fr-FR" sz="1700" b="1" dirty="0" err="1"/>
              <a:t>stuffing</a:t>
            </a:r>
            <a:r>
              <a:rPr lang="fr-FR" sz="1700" b="1" dirty="0"/>
              <a:t> </a:t>
            </a:r>
            <a:r>
              <a:rPr lang="fr-FR" sz="1700" dirty="0"/>
              <a:t>» : réutiliser des identifiants volés sur d’autres sites</a:t>
            </a:r>
          </a:p>
          <a:p>
            <a:pPr lvl="1"/>
            <a:r>
              <a:rPr lang="fr-FR" sz="1500" dirty="0"/>
              <a:t>Réutiliser une combinaison d’email/mot de passe volée lors d’une précédente fuite de données, en pariant que l’utilisateur réutilise le même mot de passe partout</a:t>
            </a:r>
          </a:p>
          <a:p>
            <a:pPr>
              <a:lnSpc>
                <a:spcPct val="100000"/>
              </a:lnSpc>
            </a:pPr>
            <a:endParaRPr lang="fr-FR" sz="1700" dirty="0"/>
          </a:p>
          <a:p>
            <a:pPr>
              <a:lnSpc>
                <a:spcPct val="100000"/>
              </a:lnSpc>
            </a:pPr>
            <a:r>
              <a:rPr lang="fr-FR" sz="1700" dirty="0"/>
              <a:t>Signal à surveiller : de nombreux échecs de connexion sur un même compte, ou depuis de nombreuses IP différentes vers un même compte</a:t>
            </a:r>
          </a:p>
          <a:p>
            <a:pPr>
              <a:lnSpc>
                <a:spcPct val="100000"/>
              </a:lnSpc>
            </a:pPr>
            <a:endParaRPr lang="fr-FR" sz="1700" dirty="0"/>
          </a:p>
          <a:p>
            <a:pPr>
              <a:lnSpc>
                <a:spcPct val="100000"/>
              </a:lnSpc>
            </a:pPr>
            <a:endParaRPr lang="fr-FR" sz="1500" dirty="0"/>
          </a:p>
        </p:txBody>
      </p:sp>
      <p:sp>
        <p:nvSpPr>
          <p:cNvPr id="60" name="Isosceles Triangle 59">
            <a:extLst>
              <a:ext uri="{FF2B5EF4-FFF2-40B4-BE49-F238E27FC236}">
                <a16:creationId xmlns:a16="http://schemas.microsoft.com/office/drawing/2014/main" id="{B795797C-81B9-A252-A50F-68C9904D0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15678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C94BD2-A872-C823-4477-60B1222B67BD}"/>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E84707AD-39AC-0DBB-DFE6-D91E2D490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A376439-1B07-ED24-B8C2-414145FA089A}"/>
              </a:ext>
            </a:extLst>
          </p:cNvPr>
          <p:cNvSpPr>
            <a:spLocks noGrp="1"/>
          </p:cNvSpPr>
          <p:nvPr>
            <p:ph type="title"/>
          </p:nvPr>
        </p:nvSpPr>
        <p:spPr>
          <a:xfrm>
            <a:off x="1333501" y="609600"/>
            <a:ext cx="8596668" cy="1320800"/>
          </a:xfrm>
        </p:spPr>
        <p:txBody>
          <a:bodyPr>
            <a:normAutofit/>
          </a:bodyPr>
          <a:lstStyle/>
          <a:p>
            <a:r>
              <a:rPr lang="fr-FR" dirty="0"/>
              <a:t>BRUTE-FORCE : CONTRE-MESURES</a:t>
            </a:r>
          </a:p>
        </p:txBody>
      </p:sp>
      <p:sp>
        <p:nvSpPr>
          <p:cNvPr id="58" name="Isosceles Triangle 57">
            <a:extLst>
              <a:ext uri="{FF2B5EF4-FFF2-40B4-BE49-F238E27FC236}">
                <a16:creationId xmlns:a16="http://schemas.microsoft.com/office/drawing/2014/main" id="{DB34CABF-168E-C8E8-6276-F28723826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37068A89-845F-541E-F6D5-A7066C462D51}"/>
              </a:ext>
            </a:extLst>
          </p:cNvPr>
          <p:cNvSpPr>
            <a:spLocks noGrp="1"/>
          </p:cNvSpPr>
          <p:nvPr>
            <p:ph idx="1"/>
          </p:nvPr>
        </p:nvSpPr>
        <p:spPr>
          <a:xfrm>
            <a:off x="1333502" y="2160589"/>
            <a:ext cx="9173306" cy="3880773"/>
          </a:xfrm>
        </p:spPr>
        <p:txBody>
          <a:bodyPr>
            <a:normAutofit/>
          </a:bodyPr>
          <a:lstStyle/>
          <a:p>
            <a:pPr>
              <a:lnSpc>
                <a:spcPct val="100000"/>
              </a:lnSpc>
            </a:pPr>
            <a:r>
              <a:rPr lang="fr-FR" sz="1700" b="1" dirty="0"/>
              <a:t>login_throttling</a:t>
            </a:r>
            <a:r>
              <a:rPr lang="fr-FR" sz="1700" dirty="0"/>
              <a:t> de Symfony, dédié aux routes d’authentification</a:t>
            </a:r>
          </a:p>
          <a:p>
            <a:pPr lvl="1"/>
            <a:r>
              <a:rPr lang="fr-FR" sz="1500" dirty="0"/>
              <a:t>Mécanisme prêt à l’emploi bâti sur le composant </a:t>
            </a:r>
            <a:r>
              <a:rPr lang="fr-FR" sz="1500" b="1" dirty="0"/>
              <a:t>RateLimiter</a:t>
            </a:r>
            <a:r>
              <a:rPr lang="fr-FR" sz="1500" dirty="0"/>
              <a:t>, à activer sur le firewall concerné</a:t>
            </a:r>
          </a:p>
          <a:p>
            <a:pPr>
              <a:lnSpc>
                <a:spcPct val="100000"/>
              </a:lnSpc>
            </a:pPr>
            <a:endParaRPr lang="fr-FR" sz="1700" dirty="0"/>
          </a:p>
          <a:p>
            <a:pPr>
              <a:lnSpc>
                <a:spcPct val="100000"/>
              </a:lnSpc>
            </a:pPr>
            <a:r>
              <a:rPr lang="fr-FR" sz="1700" b="1" dirty="0"/>
              <a:t>CAPTCHA </a:t>
            </a:r>
            <a:r>
              <a:rPr lang="fr-FR" sz="1700" dirty="0"/>
              <a:t>ou vérification supplémentaire après plusieurs échecs</a:t>
            </a:r>
          </a:p>
          <a:p>
            <a:pPr>
              <a:lnSpc>
                <a:spcPct val="100000"/>
              </a:lnSpc>
            </a:pPr>
            <a:endParaRPr lang="fr-FR" sz="1700" b="1" dirty="0"/>
          </a:p>
          <a:p>
            <a:pPr>
              <a:lnSpc>
                <a:spcPct val="100000"/>
              </a:lnSpc>
            </a:pPr>
            <a:r>
              <a:rPr lang="fr-FR" sz="1700" dirty="0"/>
              <a:t>Authentification à deux facteurs (</a:t>
            </a:r>
            <a:r>
              <a:rPr lang="fr-FR" sz="1700" b="1" dirty="0"/>
              <a:t>2FA</a:t>
            </a:r>
            <a:r>
              <a:rPr lang="fr-FR" sz="1700" dirty="0"/>
              <a:t>) : rend le brute-force inutile même en cas de mot de passe trouvé</a:t>
            </a:r>
          </a:p>
          <a:p>
            <a:pPr>
              <a:lnSpc>
                <a:spcPct val="100000"/>
              </a:lnSpc>
            </a:pPr>
            <a:endParaRPr lang="fr-FR" sz="1700" dirty="0"/>
          </a:p>
          <a:p>
            <a:pPr>
              <a:lnSpc>
                <a:spcPct val="100000"/>
              </a:lnSpc>
            </a:pPr>
            <a:r>
              <a:rPr lang="fr-FR" sz="1700" dirty="0"/>
              <a:t>Verrouillage temporaire de compte après plusieurs échecs répétés, avec notification à l’utilisateur</a:t>
            </a:r>
          </a:p>
          <a:p>
            <a:pPr>
              <a:lnSpc>
                <a:spcPct val="100000"/>
              </a:lnSpc>
            </a:pPr>
            <a:endParaRPr lang="fr-FR" sz="1500" dirty="0"/>
          </a:p>
        </p:txBody>
      </p:sp>
      <p:sp>
        <p:nvSpPr>
          <p:cNvPr id="60" name="Isosceles Triangle 59">
            <a:extLst>
              <a:ext uri="{FF2B5EF4-FFF2-40B4-BE49-F238E27FC236}">
                <a16:creationId xmlns:a16="http://schemas.microsoft.com/office/drawing/2014/main" id="{F34733F3-183F-26F0-9508-BCC93096D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077895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7F18F3-B112-1A28-8C80-CAD34B72F778}"/>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9CF06AB8-BA7A-FD60-DB1E-20FD204AC2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CD099AC-1537-DE3F-CE82-E44529C2002E}"/>
              </a:ext>
            </a:extLst>
          </p:cNvPr>
          <p:cNvSpPr>
            <a:spLocks noGrp="1"/>
          </p:cNvSpPr>
          <p:nvPr>
            <p:ph type="title"/>
          </p:nvPr>
        </p:nvSpPr>
        <p:spPr>
          <a:xfrm>
            <a:off x="1333501" y="609600"/>
            <a:ext cx="8596668" cy="1320800"/>
          </a:xfrm>
        </p:spPr>
        <p:txBody>
          <a:bodyPr>
            <a:normAutofit/>
          </a:bodyPr>
          <a:lstStyle/>
          <a:p>
            <a:r>
              <a:rPr lang="fr-FR" dirty="0"/>
              <a:t>PHISHING</a:t>
            </a:r>
          </a:p>
        </p:txBody>
      </p:sp>
      <p:sp>
        <p:nvSpPr>
          <p:cNvPr id="58" name="Isosceles Triangle 57">
            <a:extLst>
              <a:ext uri="{FF2B5EF4-FFF2-40B4-BE49-F238E27FC236}">
                <a16:creationId xmlns:a16="http://schemas.microsoft.com/office/drawing/2014/main" id="{5075F59E-7B47-A5C3-D087-06D4DE3E0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882DF08D-6A0B-A144-F3AB-8366F214CC7A}"/>
              </a:ext>
            </a:extLst>
          </p:cNvPr>
          <p:cNvSpPr>
            <a:spLocks noGrp="1"/>
          </p:cNvSpPr>
          <p:nvPr>
            <p:ph idx="1"/>
          </p:nvPr>
        </p:nvSpPr>
        <p:spPr>
          <a:xfrm>
            <a:off x="1333502" y="2168273"/>
            <a:ext cx="9173306" cy="4217159"/>
          </a:xfrm>
        </p:spPr>
        <p:txBody>
          <a:bodyPr>
            <a:normAutofit lnSpcReduction="10000"/>
          </a:bodyPr>
          <a:lstStyle/>
          <a:p>
            <a:pPr>
              <a:lnSpc>
                <a:spcPct val="100000"/>
              </a:lnSpc>
            </a:pPr>
            <a:r>
              <a:rPr lang="fr-FR" sz="1700" dirty="0"/>
              <a:t>Ne cible pas une faille technique de l’application, </a:t>
            </a:r>
            <a:r>
              <a:rPr lang="fr-FR" sz="1700" b="1" dirty="0"/>
              <a:t>mais la confiance de l’utilisateur</a:t>
            </a:r>
          </a:p>
          <a:p>
            <a:pPr lvl="1"/>
            <a:r>
              <a:rPr lang="fr-FR" sz="1500" dirty="0"/>
              <a:t>Ce n’est pas la faute du développeur, mais on peut malgré tout mettre en place des choses pour limiter cela</a:t>
            </a:r>
          </a:p>
          <a:p>
            <a:pPr>
              <a:lnSpc>
                <a:spcPct val="100000"/>
              </a:lnSpc>
            </a:pPr>
            <a:endParaRPr lang="fr-FR" sz="1700" dirty="0"/>
          </a:p>
          <a:p>
            <a:pPr>
              <a:lnSpc>
                <a:spcPct val="100000"/>
              </a:lnSpc>
            </a:pPr>
            <a:r>
              <a:rPr lang="fr-FR" sz="1700" dirty="0"/>
              <a:t>Exemple : email ou page frauduleuse imitant l’application réelle pour voler des identifiants</a:t>
            </a:r>
          </a:p>
          <a:p>
            <a:pPr>
              <a:lnSpc>
                <a:spcPct val="100000"/>
              </a:lnSpc>
            </a:pPr>
            <a:endParaRPr lang="fr-FR" sz="1700" dirty="0"/>
          </a:p>
          <a:p>
            <a:pPr>
              <a:lnSpc>
                <a:spcPct val="100000"/>
              </a:lnSpc>
            </a:pPr>
            <a:r>
              <a:rPr lang="fr-FR" sz="1700" dirty="0"/>
              <a:t>Ce que l’on peut faire malgré tout : cohérence des emails envoyés, 2FA, domaine et certificats clairs</a:t>
            </a:r>
          </a:p>
          <a:p>
            <a:pPr lvl="1"/>
            <a:r>
              <a:rPr lang="fr-FR" sz="1500" dirty="0"/>
              <a:t>Cohérence des mails, toujours depuis le même domaine et la même structure</a:t>
            </a:r>
          </a:p>
          <a:p>
            <a:pPr lvl="1"/>
            <a:r>
              <a:rPr lang="fr-FR" sz="1500" dirty="0"/>
              <a:t>2FA : empêchera toujours la finalisation de la connexion, même avec des identifiants usurpés</a:t>
            </a:r>
          </a:p>
          <a:p>
            <a:pPr lvl="1"/>
            <a:r>
              <a:rPr lang="fr-FR" sz="1500" dirty="0"/>
              <a:t>Domaine et certificats clairs : éviter les sous-domaines à rallonge ou peu lisibles pour les pages d’authentification</a:t>
            </a:r>
          </a:p>
          <a:p>
            <a:pPr>
              <a:lnSpc>
                <a:spcPct val="100000"/>
              </a:lnSpc>
            </a:pPr>
            <a:endParaRPr lang="fr-FR" sz="1500" dirty="0"/>
          </a:p>
        </p:txBody>
      </p:sp>
      <p:sp>
        <p:nvSpPr>
          <p:cNvPr id="60" name="Isosceles Triangle 59">
            <a:extLst>
              <a:ext uri="{FF2B5EF4-FFF2-40B4-BE49-F238E27FC236}">
                <a16:creationId xmlns:a16="http://schemas.microsoft.com/office/drawing/2014/main" id="{7DF9D94E-FB2C-71F2-FCEE-3EA24ED18D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139046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231E73-BFB9-2248-8FE7-96F23ED2D1D3}"/>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DBD5DA82-4B9B-5CF0-A2FD-FAD08BE53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A4B824D-916F-8884-3D18-BA05B640ED32}"/>
              </a:ext>
            </a:extLst>
          </p:cNvPr>
          <p:cNvSpPr>
            <a:spLocks noGrp="1"/>
          </p:cNvSpPr>
          <p:nvPr>
            <p:ph type="title"/>
          </p:nvPr>
        </p:nvSpPr>
        <p:spPr>
          <a:xfrm>
            <a:off x="1333501" y="609600"/>
            <a:ext cx="8596668" cy="1320800"/>
          </a:xfrm>
        </p:spPr>
        <p:txBody>
          <a:bodyPr>
            <a:normAutofit/>
          </a:bodyPr>
          <a:lstStyle/>
          <a:p>
            <a:r>
              <a:rPr lang="fr-FR" dirty="0" err="1"/>
              <a:t>DoS</a:t>
            </a:r>
            <a:r>
              <a:rPr lang="fr-FR" dirty="0"/>
              <a:t> : QUOTAS</a:t>
            </a:r>
          </a:p>
        </p:txBody>
      </p:sp>
      <p:sp>
        <p:nvSpPr>
          <p:cNvPr id="58" name="Isosceles Triangle 57">
            <a:extLst>
              <a:ext uri="{FF2B5EF4-FFF2-40B4-BE49-F238E27FC236}">
                <a16:creationId xmlns:a16="http://schemas.microsoft.com/office/drawing/2014/main" id="{210BADEE-7BDC-0713-CC2C-0ADF3E7A7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64118037-57FA-4684-033F-AF792B67B2F6}"/>
              </a:ext>
            </a:extLst>
          </p:cNvPr>
          <p:cNvSpPr>
            <a:spLocks noGrp="1"/>
          </p:cNvSpPr>
          <p:nvPr>
            <p:ph idx="1"/>
          </p:nvPr>
        </p:nvSpPr>
        <p:spPr>
          <a:xfrm>
            <a:off x="1333502" y="2168273"/>
            <a:ext cx="9173306" cy="4217159"/>
          </a:xfrm>
        </p:spPr>
        <p:txBody>
          <a:bodyPr>
            <a:normAutofit/>
          </a:bodyPr>
          <a:lstStyle/>
          <a:p>
            <a:pPr>
              <a:lnSpc>
                <a:spcPct val="100000"/>
              </a:lnSpc>
            </a:pPr>
            <a:r>
              <a:rPr lang="fr-FR" sz="1700" dirty="0"/>
              <a:t>Objectif de l’attaquant : saturer les ressources serveur pour rendre le service indisponible</a:t>
            </a:r>
          </a:p>
          <a:p>
            <a:pPr>
              <a:lnSpc>
                <a:spcPct val="100000"/>
              </a:lnSpc>
            </a:pPr>
            <a:endParaRPr lang="fr-FR" sz="1700" dirty="0"/>
          </a:p>
          <a:p>
            <a:pPr>
              <a:lnSpc>
                <a:spcPct val="100000"/>
              </a:lnSpc>
            </a:pPr>
            <a:r>
              <a:rPr lang="fr-FR" sz="1700" b="1" dirty="0" err="1"/>
              <a:t>RateLimiter</a:t>
            </a:r>
            <a:r>
              <a:rPr lang="fr-FR" sz="1700" b="1" dirty="0"/>
              <a:t> </a:t>
            </a:r>
            <a:r>
              <a:rPr lang="fr-FR" sz="1700" dirty="0"/>
              <a:t>appliqué à l’échelle globale de l’API</a:t>
            </a:r>
          </a:p>
          <a:p>
            <a:pPr>
              <a:lnSpc>
                <a:spcPct val="100000"/>
              </a:lnSpc>
            </a:pPr>
            <a:endParaRPr lang="fr-FR" sz="1700" b="1" dirty="0"/>
          </a:p>
          <a:p>
            <a:pPr>
              <a:lnSpc>
                <a:spcPct val="100000"/>
              </a:lnSpc>
            </a:pPr>
            <a:r>
              <a:rPr lang="fr-FR" sz="1700" b="1" dirty="0"/>
              <a:t>API Platform</a:t>
            </a:r>
            <a:r>
              <a:rPr lang="fr-FR" sz="1700" dirty="0"/>
              <a:t> : pas de quota natif, à protéger par ressource ou par utilisateur</a:t>
            </a:r>
          </a:p>
          <a:p>
            <a:pPr lvl="1"/>
            <a:r>
              <a:rPr lang="fr-FR" sz="1500" dirty="0"/>
              <a:t>Ce n’est pas « clé en main », c’est quelque chose à implémenter via </a:t>
            </a:r>
            <a:r>
              <a:rPr lang="fr-FR" sz="1500" b="1" dirty="0" err="1"/>
              <a:t>RateLimiter</a:t>
            </a:r>
            <a:r>
              <a:rPr lang="fr-FR" sz="1500" b="1" dirty="0"/>
              <a:t> </a:t>
            </a:r>
            <a:r>
              <a:rPr lang="fr-FR" sz="1500" dirty="0"/>
              <a:t>!</a:t>
            </a:r>
          </a:p>
          <a:p>
            <a:pPr lvl="1"/>
            <a:r>
              <a:rPr lang="fr-FR" sz="1500" dirty="0"/>
              <a:t>Utiliser un </a:t>
            </a:r>
            <a:r>
              <a:rPr lang="fr-FR" sz="1500" b="1" dirty="0" err="1"/>
              <a:t>EventListener</a:t>
            </a:r>
            <a:r>
              <a:rPr lang="fr-FR" sz="1500" b="1" dirty="0"/>
              <a:t> Symfony global</a:t>
            </a:r>
          </a:p>
          <a:p>
            <a:pPr lvl="1"/>
            <a:r>
              <a:rPr lang="fr-FR" sz="1500" dirty="0"/>
              <a:t>Un state Provider personnalisé (une classe héritant de </a:t>
            </a:r>
            <a:r>
              <a:rPr lang="fr-FR" sz="1500" b="1" dirty="0" err="1"/>
              <a:t>ProviderInterface</a:t>
            </a:r>
            <a:r>
              <a:rPr lang="fr-FR" sz="1500" dirty="0"/>
              <a:t>)</a:t>
            </a:r>
          </a:p>
          <a:p>
            <a:pPr lvl="1"/>
            <a:endParaRPr lang="fr-FR" sz="1500" dirty="0"/>
          </a:p>
        </p:txBody>
      </p:sp>
      <p:sp>
        <p:nvSpPr>
          <p:cNvPr id="60" name="Isosceles Triangle 59">
            <a:extLst>
              <a:ext uri="{FF2B5EF4-FFF2-40B4-BE49-F238E27FC236}">
                <a16:creationId xmlns:a16="http://schemas.microsoft.com/office/drawing/2014/main" id="{8B059FEF-59FB-DF5E-2000-0FA91126C6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18388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018E94-8337-6C33-77EE-16A5C25FE779}"/>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C1880626-CCD7-2959-1512-028127EDC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8CAB1DE-4AF2-DDF4-38E5-CF07239B618C}"/>
              </a:ext>
            </a:extLst>
          </p:cNvPr>
          <p:cNvSpPr>
            <a:spLocks noGrp="1"/>
          </p:cNvSpPr>
          <p:nvPr>
            <p:ph type="title"/>
          </p:nvPr>
        </p:nvSpPr>
        <p:spPr>
          <a:xfrm>
            <a:off x="1333501" y="609600"/>
            <a:ext cx="8596668" cy="1320800"/>
          </a:xfrm>
        </p:spPr>
        <p:txBody>
          <a:bodyPr>
            <a:normAutofit/>
          </a:bodyPr>
          <a:lstStyle/>
          <a:p>
            <a:r>
              <a:rPr lang="fr-FR" dirty="0"/>
              <a:t>SUPPLY CHAIN</a:t>
            </a:r>
          </a:p>
        </p:txBody>
      </p:sp>
      <p:sp>
        <p:nvSpPr>
          <p:cNvPr id="58" name="Isosceles Triangle 57">
            <a:extLst>
              <a:ext uri="{FF2B5EF4-FFF2-40B4-BE49-F238E27FC236}">
                <a16:creationId xmlns:a16="http://schemas.microsoft.com/office/drawing/2014/main" id="{751D5F07-4950-DF8F-E6B3-EF4BF55FA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5EBD6364-B27B-33DA-01D5-D0FAFF72A7E6}"/>
              </a:ext>
            </a:extLst>
          </p:cNvPr>
          <p:cNvSpPr>
            <a:spLocks noGrp="1"/>
          </p:cNvSpPr>
          <p:nvPr>
            <p:ph idx="1"/>
          </p:nvPr>
        </p:nvSpPr>
        <p:spPr>
          <a:xfrm>
            <a:off x="1333502" y="2168273"/>
            <a:ext cx="9173306" cy="4217159"/>
          </a:xfrm>
        </p:spPr>
        <p:txBody>
          <a:bodyPr>
            <a:normAutofit lnSpcReduction="10000"/>
          </a:bodyPr>
          <a:lstStyle/>
          <a:p>
            <a:pPr>
              <a:lnSpc>
                <a:spcPct val="100000"/>
              </a:lnSpc>
            </a:pPr>
            <a:r>
              <a:rPr lang="fr-FR" sz="1700" dirty="0"/>
              <a:t>« </a:t>
            </a:r>
            <a:r>
              <a:rPr lang="fr-FR" sz="1700" b="1" dirty="0"/>
              <a:t>La chaîne d’approvisionnement</a:t>
            </a:r>
            <a:r>
              <a:rPr lang="fr-FR" sz="1700" dirty="0"/>
              <a:t> » c’est l’ensemble du code que l’on n'a pas écrit, mais que l’application exécute quand même, comme des dépendances installées via </a:t>
            </a:r>
            <a:r>
              <a:rPr lang="fr-FR" sz="1700" b="1" dirty="0"/>
              <a:t>composer</a:t>
            </a:r>
          </a:p>
          <a:p>
            <a:pPr>
              <a:lnSpc>
                <a:spcPct val="100000"/>
              </a:lnSpc>
            </a:pPr>
            <a:endParaRPr lang="fr-FR" sz="1700" b="1" dirty="0"/>
          </a:p>
          <a:p>
            <a:pPr>
              <a:lnSpc>
                <a:spcPct val="100000"/>
              </a:lnSpc>
            </a:pPr>
            <a:r>
              <a:rPr lang="fr-FR" sz="1700" dirty="0"/>
              <a:t>On fait confiance à ce code, que l’on va exécuter en production avec les mêmes droits que notre propre code</a:t>
            </a:r>
          </a:p>
          <a:p>
            <a:pPr>
              <a:lnSpc>
                <a:spcPct val="100000"/>
              </a:lnSpc>
            </a:pPr>
            <a:endParaRPr lang="fr-FR" sz="1700" dirty="0"/>
          </a:p>
          <a:p>
            <a:pPr>
              <a:lnSpc>
                <a:spcPct val="100000"/>
              </a:lnSpc>
            </a:pPr>
            <a:r>
              <a:rPr lang="fr-FR" sz="1700" dirty="0"/>
              <a:t>Auparavant, la sécurité se concentrait sur le code qu’on écrit soi-même, maintenant la majorité du code qui tourne dans une application vient de dépendances tierces. Un seul paquet compromis peut affecter des milliers d’applications qui l’utilisent, en une seule mise à jour</a:t>
            </a:r>
          </a:p>
          <a:p>
            <a:pPr>
              <a:lnSpc>
                <a:spcPct val="100000"/>
              </a:lnSpc>
            </a:pPr>
            <a:endParaRPr lang="fr-FR" sz="1700" dirty="0"/>
          </a:p>
          <a:p>
            <a:pPr>
              <a:lnSpc>
                <a:spcPct val="100000"/>
              </a:lnSpc>
            </a:pPr>
            <a:r>
              <a:rPr lang="fr-FR" sz="1700" b="1" dirty="0"/>
              <a:t>S’en protéger </a:t>
            </a:r>
            <a:r>
              <a:rPr lang="fr-FR" sz="1700" dirty="0"/>
              <a:t>: limiter le nombre de dépendances, verrouiller les versions avec composer.lock, et n’installer que des paquets maintenus et de source fiable</a:t>
            </a:r>
          </a:p>
        </p:txBody>
      </p:sp>
      <p:sp>
        <p:nvSpPr>
          <p:cNvPr id="60" name="Isosceles Triangle 59">
            <a:extLst>
              <a:ext uri="{FF2B5EF4-FFF2-40B4-BE49-F238E27FC236}">
                <a16:creationId xmlns:a16="http://schemas.microsoft.com/office/drawing/2014/main" id="{7C5FEF25-AEEF-1077-DCE5-9E5A0EC06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4730704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65023E-C19D-C176-9221-24EC46B723AD}"/>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4B10BBFE-5067-E1DB-6456-0844A4767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D026FAA-FAA5-0D5E-0790-867DB0ED2829}"/>
              </a:ext>
            </a:extLst>
          </p:cNvPr>
          <p:cNvSpPr>
            <a:spLocks noGrp="1"/>
          </p:cNvSpPr>
          <p:nvPr>
            <p:ph type="title"/>
          </p:nvPr>
        </p:nvSpPr>
        <p:spPr>
          <a:xfrm>
            <a:off x="1333501" y="609600"/>
            <a:ext cx="8596668" cy="1320800"/>
          </a:xfrm>
        </p:spPr>
        <p:txBody>
          <a:bodyPr>
            <a:normAutofit/>
          </a:bodyPr>
          <a:lstStyle/>
          <a:p>
            <a:r>
              <a:rPr lang="fr-FR" dirty="0"/>
              <a:t>AUDIT</a:t>
            </a:r>
          </a:p>
        </p:txBody>
      </p:sp>
      <p:sp>
        <p:nvSpPr>
          <p:cNvPr id="58" name="Isosceles Triangle 57">
            <a:extLst>
              <a:ext uri="{FF2B5EF4-FFF2-40B4-BE49-F238E27FC236}">
                <a16:creationId xmlns:a16="http://schemas.microsoft.com/office/drawing/2014/main" id="{41BA1204-7600-F99F-4D5C-7F9823901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Espace réservé du contenu 2">
            <a:extLst>
              <a:ext uri="{FF2B5EF4-FFF2-40B4-BE49-F238E27FC236}">
                <a16:creationId xmlns:a16="http://schemas.microsoft.com/office/drawing/2014/main" id="{6B0B9C88-440F-592A-6277-CE9CB62C7CB2}"/>
              </a:ext>
            </a:extLst>
          </p:cNvPr>
          <p:cNvSpPr>
            <a:spLocks noGrp="1"/>
          </p:cNvSpPr>
          <p:nvPr>
            <p:ph idx="1"/>
          </p:nvPr>
        </p:nvSpPr>
        <p:spPr>
          <a:xfrm>
            <a:off x="1333502" y="2168273"/>
            <a:ext cx="9173306" cy="4217159"/>
          </a:xfrm>
        </p:spPr>
        <p:txBody>
          <a:bodyPr>
            <a:normAutofit/>
          </a:bodyPr>
          <a:lstStyle/>
          <a:p>
            <a:pPr>
              <a:lnSpc>
                <a:spcPct val="100000"/>
              </a:lnSpc>
            </a:pPr>
            <a:r>
              <a:rPr lang="fr-FR" sz="1700" b="1" dirty="0"/>
              <a:t>Auditer</a:t>
            </a:r>
            <a:r>
              <a:rPr lang="fr-FR" sz="1700" dirty="0"/>
              <a:t>, c’est vérifier régulièrement l’état de sécurité de l’application et de ses dépendances : la sécurité n’est pas un état figé</a:t>
            </a:r>
          </a:p>
          <a:p>
            <a:pPr>
              <a:lnSpc>
                <a:spcPct val="100000"/>
              </a:lnSpc>
            </a:pPr>
            <a:endParaRPr lang="fr-FR" sz="1700" dirty="0"/>
          </a:p>
          <a:p>
            <a:pPr>
              <a:lnSpc>
                <a:spcPct val="100000"/>
              </a:lnSpc>
            </a:pPr>
            <a:r>
              <a:rPr lang="fr-FR" sz="1700" b="1" dirty="0"/>
              <a:t>composer audit </a:t>
            </a:r>
            <a:r>
              <a:rPr lang="fr-FR" sz="1700" dirty="0"/>
              <a:t>: signale les dépendances installées touchées par une faille de sécurité connue</a:t>
            </a:r>
          </a:p>
          <a:p>
            <a:pPr lvl="1">
              <a:lnSpc>
                <a:spcPct val="100000"/>
              </a:lnSpc>
            </a:pPr>
            <a:r>
              <a:rPr lang="fr-FR" sz="1500" b="1" dirty="0"/>
              <a:t>symfony check:security</a:t>
            </a:r>
            <a:r>
              <a:rPr lang="fr-FR" sz="1500" dirty="0"/>
              <a:t> fait la même chose via la base d’avis FriendsOfPHP/security-advisories</a:t>
            </a:r>
          </a:p>
          <a:p>
            <a:pPr>
              <a:lnSpc>
                <a:spcPct val="100000"/>
              </a:lnSpc>
            </a:pPr>
            <a:endParaRPr lang="fr-FR" sz="1700" dirty="0"/>
          </a:p>
          <a:p>
            <a:pPr>
              <a:lnSpc>
                <a:spcPct val="100000"/>
              </a:lnSpc>
            </a:pPr>
            <a:r>
              <a:rPr lang="fr-FR" sz="1700" b="1" dirty="0"/>
              <a:t>Automatiser dans la CI </a:t>
            </a:r>
            <a:r>
              <a:rPr lang="fr-FR" sz="1700" dirty="0"/>
              <a:t>: bloquer un build si une dépendance est vulnérable, et suivre les mises à jour (</a:t>
            </a:r>
            <a:r>
              <a:rPr lang="fr-FR" sz="1700" b="1" dirty="0"/>
              <a:t>Dependabot</a:t>
            </a:r>
            <a:r>
              <a:rPr lang="fr-FR" sz="1700" dirty="0"/>
              <a:t>, </a:t>
            </a:r>
            <a:r>
              <a:rPr lang="fr-FR" sz="1700" b="1" dirty="0"/>
              <a:t>Renovate</a:t>
            </a:r>
            <a:r>
              <a:rPr lang="fr-FR" sz="1700" dirty="0"/>
              <a:t>)</a:t>
            </a:r>
          </a:p>
          <a:p>
            <a:pPr>
              <a:lnSpc>
                <a:spcPct val="100000"/>
              </a:lnSpc>
            </a:pPr>
            <a:endParaRPr lang="fr-FR" sz="1700" dirty="0"/>
          </a:p>
          <a:p>
            <a:pPr>
              <a:lnSpc>
                <a:spcPct val="100000"/>
              </a:lnSpc>
            </a:pPr>
            <a:r>
              <a:rPr lang="fr-FR" sz="1700" dirty="0"/>
              <a:t>Ne pas auditer que les dépendances : configuration serveur, permissions, secrets exposés, journaux</a:t>
            </a:r>
          </a:p>
        </p:txBody>
      </p:sp>
      <p:sp>
        <p:nvSpPr>
          <p:cNvPr id="60" name="Isosceles Triangle 59">
            <a:extLst>
              <a:ext uri="{FF2B5EF4-FFF2-40B4-BE49-F238E27FC236}">
                <a16:creationId xmlns:a16="http://schemas.microsoft.com/office/drawing/2014/main" id="{8F637246-EEA5-3706-C9F9-3551E2E04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902351892"/>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4102</TotalTime>
  <Words>5529</Words>
  <Application>Microsoft Office PowerPoint</Application>
  <PresentationFormat>Grand écran</PresentationFormat>
  <Paragraphs>601</Paragraphs>
  <Slides>57</Slides>
  <Notes>56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57</vt:i4>
      </vt:variant>
    </vt:vector>
  </HeadingPairs>
  <TitlesOfParts>
    <vt:vector size="63" baseType="lpstr">
      <vt:lpstr>Aptos</vt:lpstr>
      <vt:lpstr>Arial</vt:lpstr>
      <vt:lpstr>JetBrains Mono</vt:lpstr>
      <vt:lpstr>Trebuchet MS</vt:lpstr>
      <vt:lpstr>Wingdings 3</vt:lpstr>
      <vt:lpstr>Facette</vt:lpstr>
      <vt:lpstr>SÉCURITÉ WEB</vt:lpstr>
      <vt:lpstr>INTRODUCTION</vt:lpstr>
      <vt:lpstr>CE QUI PEUT ARRIVER</vt:lpstr>
      <vt:lpstr>LA SÉCURITÉ, UN CYCLE</vt:lpstr>
      <vt:lpstr>LES GRANDES FAMILLES DE RISQUES ACTUELS</vt:lpstr>
      <vt:lpstr>LES PAGES WEB ET XSS</vt:lpstr>
      <vt:lpstr>XSS, C'EST QUOI</vt:lpstr>
      <vt:lpstr>SYMFONY PROTÈGE DÉJÀ, EN PARTIE !</vt:lpstr>
      <vt:lpstr>LES ZONES À RISQUE MALGRÉ TWIG</vt:lpstr>
      <vt:lpstr>LE XSS STOCKÉ</vt:lpstr>
      <vt:lpstr>CONTENT SECURITY POLICY (CSP)</vt:lpstr>
      <vt:lpstr>CSRF, C'EST QUOI</vt:lpstr>
      <vt:lpstr>ERREURS SUR LE GET</vt:lpstr>
      <vt:lpstr>LE TOKEN CSRF, SON RÔLE</vt:lpstr>
      <vt:lpstr>SOMMAIRE : COOKIES ET SESSIONS</vt:lpstr>
      <vt:lpstr>PROTÉGER LES COOKIES</vt:lpstr>
      <vt:lpstr>HEADER HTTP : « Set-Cookie »</vt:lpstr>
      <vt:lpstr>LA SESSION</vt:lpstr>
      <vt:lpstr>TRANSPORTER UN TOKEN D’AUTHENTIFICATION</vt:lpstr>
      <vt:lpstr>VOLER UN TOKEN DE SESSION</vt:lpstr>
      <vt:lpstr>SYMFONY : FRAMEWORK.YAML</vt:lpstr>
      <vt:lpstr>SYMFONY : FRAMEWORK.YAML</vt:lpstr>
      <vt:lpstr>SYMFONY : REMEMBER ME</vt:lpstr>
      <vt:lpstr>BROKEN ACCESS CONTROL</vt:lpstr>
      <vt:lpstr>VOTERS SYMFONY</vt:lpstr>
      <vt:lpstr>CRÉATION D’UN VOTER</vt:lpstr>
      <vt:lpstr>UTILISATION D’UN VOTER</vt:lpstr>
      <vt:lpstr>SÉCURITÉ DES API</vt:lpstr>
      <vt:lpstr>SÉCURITÉ DES API : JWT</vt:lpstr>
      <vt:lpstr>CHIFFREMENT ET SIGNATURE</vt:lpstr>
      <vt:lpstr>QUOTA ET RATE LIMIT</vt:lpstr>
      <vt:lpstr>QUOTA ET RATE LIMIT : IMPLÉMENTATION</vt:lpstr>
      <vt:lpstr>QUOTA ET RATE LIMIT : IMPLÉMENTATION</vt:lpstr>
      <vt:lpstr>PHP.INI</vt:lpstr>
      <vt:lpstr>PHP.INI</vt:lpstr>
      <vt:lpstr>PHP.INI &amp; SESSIONS</vt:lpstr>
      <vt:lpstr>PROTECTIONS DES SCRIPTS </vt:lpstr>
      <vt:lpstr>SYMFONY : CONFIGURATION PAR ENV</vt:lpstr>
      <vt:lpstr>ENTÊTES HTTP DE SÉCURITÉ</vt:lpstr>
      <vt:lpstr>BASE DE DONNÉES</vt:lpstr>
      <vt:lpstr>BASE DE DONNÉES : FAILLES POTENTIELLES</vt:lpstr>
      <vt:lpstr>INJECTION SQL</vt:lpstr>
      <vt:lpstr>REQUÊTES PARAMÉTRÉES ET PROCÉDURES STOCKÉES</vt:lpstr>
      <vt:lpstr>DOCTRINE ORM &amp; QUERYBUILDER</vt:lpstr>
      <vt:lpstr>RISQUES MALGRÉ L’ORM</vt:lpstr>
      <vt:lpstr>SÉCURISER LES COMMUNICATIONS SORTANTES</vt:lpstr>
      <vt:lpstr>INJECTION D’EN-TÊTES EMAIL VIA FORMULAIRE DE CONTACT</vt:lpstr>
      <vt:lpstr>FILTRAGE ET SYMFONY MAILER</vt:lpstr>
      <vt:lpstr>PRINCIPE DU SSRF</vt:lpstr>
      <vt:lpstr>CONTRE-MESURES CONTRE LE SSRF</vt:lpstr>
      <vt:lpstr>SÉCURITÉ TRANSVERSE : ATTAQUES, SUPPLY CHAIN ET AUDIT</vt:lpstr>
      <vt:lpstr>BRUTE-FORCE</vt:lpstr>
      <vt:lpstr>BRUTE-FORCE : CONTRE-MESURES</vt:lpstr>
      <vt:lpstr>PHISHING</vt:lpstr>
      <vt:lpstr>DoS : QUOTAS</vt:lpstr>
      <vt:lpstr>SUPPLY CHAIN</vt:lpstr>
      <vt:lpstr>AUDIT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Kévin TOURRET</dc:creator>
  <cp:lastModifiedBy>Kévin TOURRET</cp:lastModifiedBy>
  <cp:revision>455</cp:revision>
  <dcterms:created xsi:type="dcterms:W3CDTF">2026-07-22T07:04:59Z</dcterms:created>
  <dcterms:modified xsi:type="dcterms:W3CDTF">2026-09-18T11:37:07Z</dcterms:modified>
</cp:coreProperties>
</file>